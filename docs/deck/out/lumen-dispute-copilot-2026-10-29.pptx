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the time. This is the Lumen Bank dispute copilot, presented as a working system, not a concept. The claim on this slide is narrow on purpose: a complaint becomes a cited draft, and a person makes the decision. Everything later traces to one commit, 8c3ac7f, on main at 8553bb3. The data is fictional and the system of record is a mock.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work as it is done today. One complaint carries an intake statement, an attachment, two systems of transaction data, and a policy set chosen by date. Analysts rebuild that map by hand, per case. The words on the right are the whole input for case D01: a card purchase at Morrow Supplies for 117 crowns. That sentence is untrusted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object the pipeline produces. Ten keys, fixed before any prose exists: classification, route, facts from the transaction record, the deadline counted from the reported date, and six citations. The hash is what a human approves. If a field changes after approval, the runner refuses the draft before it sends anything, so no write is ever attempted. That refusal is the gate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cases, five outcomes, all on main. D01 walks the gate: draft, approval bound to the hash, a changed draft stopped before any write, and 409 on a second record. D05 and D06 decide a contradiction by routing to manual review and citing both sources. D10 exercises the retry ladder on an injected 503: three attempts, one retry, a draft in 1.3 seconds. D09 is a redelivery of D02 and is deduplicated. D08 stores the instruction-shaped note as evidence and never obeys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numbers at 8553bb3. 1014 tests pass and coverage is 100 percent of 3404 statements, and the gate fails the build below that. All twelve dev cases build a contract with zero format errors and zero exceptions. Draft assembly takes 3670 milliseconds at p95, driven by the two retried cases, and 31 milliseconds at p50. The run makes zero model calls, and D07 and D10 exercise the retry ladder instead of stopping.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figure left to right. Untrusted documents become typed bodies, the core turns them into one contract with six exact citations, and the last door is a person holding a hash. The model is not in this lane, and not in the fail path either: two typed exceptions stop an unbuildable case and print a reason. Nothing dashed on this page is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paths, drawn apart on purpose. The path on main is a template: every sentence is a function of frozen facts, which is why the meter shows zero model calls. The second path in ADR-003 is merged and off by default: a model may answer two closed questions after the facts freeze. No live run has been approved, so nothing here shows cost or latency at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boundary slide. The merchant note for D08 is written as an instruction: ignore policy, promise a refund, copy the tokens. The system stores it as evidence and quotes nothing from it as an order. The note is not among D08's citations. src/untrusted.py holds the instruction filter and the restricted-value redaction, and every read path imports it. contract.py:182 defines the pattern and line 881 applies it while deciding whether a duplicate was reported. Merchant text still has no route into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delivered band and one gap list. On main: all twelve cases, the record, the changed-draft refusal and the 409, and a wired retry ladder. The gaps are named: reviewer identity is not started, the model route is merged but off with no approved live run, update and close are blocked by Gate U, and the wrapped statement has no line limit. Not attempted: a user interface, OCR, production identity, adjudication, and the deployment shape, which is one node, SQLite, and no reviewer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is designed to be visible. A bank read that fails raises a typed error; a 5xx is retried by the ladder, and a case that cannot be built stops with the case and the source named. Every run writes one meter line per case, and five audit rows for the hand-walked D01. D07 needs four attempts and D10 needs three in the scored run, so the ladder has real callers.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moves, in dependency order. Reviewer identity comes first because the gate binds a hash, not a person. The model route needs a measured volume run before anyone quotes a number. Then the pilot with two analysts, then the next complaint types, which the contract can only absorb as far as the policy set goes. Rulesets stay unenforced until the GitHub plan allows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people built one path. The gate is mine: idempotency, the approval bound to the draft hash, and the evidence pack behind every number here. Mani owns escalation, merged in 52, which is the D05 and D06 cases. Zach owns resilience: the ladder is merged and wired, and D07 and D10 exercise it. The three questions at the bottom are the ones to expect, and each of us answers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three things. Approve the model route for the two closed questions, so prose can move without touching a classification. Name the next two complaint types, because the contract generalises only as far as the policy set does. Give two analysts thirty days of real intake. Nothing here claims a saved minute: analyst minutes are not measured, so none are claimed, and the pilot's first output is that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contract, field by field, the shape of the object for D01. Facts come from the transaction record, not from the intake text. The deadline is counted from the reported date under policy version two. Citations are six claims, each tied to a source id and an exact slice. The panel is pseudo-JSON: citations, missing_information and follow_up_questions are abbreviated, and the narrative on main is a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twelve dev cases at a glance. All twelve build a contract. Five are not a plain happy path: D05 and D06 are manual-review decisions that cite the contradiction, D07 and D10 retry through injected failures, and D09 is deduplicated against D02. Nothing here is a silent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and commands, so anyone can reproduce this. Every number in the deck comes from these files at 8553bb3. The mock serves on 8899, the scored run points at it, and the venv runs the suite. One command, python -m src.run_loop, starts the mock, scores the twelve cases and stops the mock. The deck rebuilds from the repo root. If a number looks wrong, rerun the scored run or the one-command loop and check the meter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C24"/>
        </a:solidFill>
      </p:bgPr>
    </p:bg>
    <p:spTree>
      <p:nvGrpSpPr>
        <p:cNvPr id="1" name=""/>
        <p:cNvGrpSpPr/>
        <p:nvPr/>
      </p:nvGrpSpPr>
      <p:grpSpPr>
        <a:xfrm>
          <a:off x="0" y="0"/>
          <a:ext cx="0" cy="0"/>
          <a:chOff x="0" y="0"/>
          <a:chExt cx="0" cy="0"/>
        </a:xfrm>
      </p:grpSpPr>
      <p:sp>
        <p:nvSpPr>
          <p:cNvPr id="2" name="Text 0"/>
          <p:cNvSpPr/>
          <p:nvPr/>
        </p:nvSpPr>
        <p:spPr>
          <a:xfrm>
            <a:off x="822960" y="777240"/>
            <a:ext cx="6949440" cy="201168"/>
          </a:xfrm>
          <a:prstGeom prst="rect">
            <a:avLst/>
          </a:prstGeom>
          <a:noFill/>
          <a:ln/>
        </p:spPr>
        <p:txBody>
          <a:bodyPr wrap="square" lIns="0" tIns="0" rIns="0" bIns="0" rtlCol="0" anchor="t"/>
          <a:lstStyle/>
          <a:p>
            <a:pPr indent="0" marL="0">
              <a:lnSpc>
                <a:spcPct val="118000"/>
              </a:lnSpc>
              <a:buNone/>
            </a:pPr>
            <a:r>
              <a:rPr lang="en-US" sz="1050" spc="140" kern="0" dirty="0">
                <a:solidFill>
                  <a:srgbClr val="7FBDB4"/>
                </a:solidFill>
                <a:latin typeface="Consolas" pitchFamily="34" charset="0"/>
                <a:ea typeface="Consolas" pitchFamily="34" charset="-122"/>
                <a:cs typeface="Consolas" pitchFamily="34" charset="-120"/>
              </a:rPr>
              <a:t>LUMEN BANK  ·  DISPUTE OPERATIONS</a:t>
            </a:r>
            <a:endParaRPr lang="en-US" sz="1050" dirty="0"/>
          </a:p>
        </p:txBody>
      </p:sp>
      <p:sp>
        <p:nvSpPr>
          <p:cNvPr id="3" name="Text 1"/>
          <p:cNvSpPr/>
          <p:nvPr/>
        </p:nvSpPr>
        <p:spPr>
          <a:xfrm>
            <a:off x="822960" y="1325880"/>
            <a:ext cx="6949440" cy="914400"/>
          </a:xfrm>
          <a:prstGeom prst="rect">
            <a:avLst/>
          </a:prstGeom>
          <a:noFill/>
          <a:ln/>
        </p:spPr>
        <p:txBody>
          <a:bodyPr wrap="square" lIns="0" tIns="0" rIns="0" bIns="0" rtlCol="0" anchor="t"/>
          <a:lstStyle/>
          <a:p>
            <a:pPr indent="0" marL="0">
              <a:lnSpc>
                <a:spcPct val="98000"/>
              </a:lnSpc>
              <a:buNone/>
            </a:pPr>
            <a:r>
              <a:rPr lang="en-US" sz="5400" dirty="0">
                <a:solidFill>
                  <a:srgbClr val="F4EFE3"/>
                </a:solidFill>
                <a:latin typeface="Georgia" pitchFamily="34" charset="0"/>
                <a:ea typeface="Georgia" pitchFamily="34" charset="-122"/>
                <a:cs typeface="Georgia" pitchFamily="34" charset="-120"/>
              </a:rPr>
              <a:t>From complaint to</a:t>
            </a:r>
            <a:endParaRPr lang="en-US" sz="5400" dirty="0"/>
          </a:p>
        </p:txBody>
      </p:sp>
      <p:sp>
        <p:nvSpPr>
          <p:cNvPr id="4" name="Text 2"/>
          <p:cNvSpPr/>
          <p:nvPr/>
        </p:nvSpPr>
        <p:spPr>
          <a:xfrm>
            <a:off x="822960" y="2304288"/>
            <a:ext cx="6949440" cy="914400"/>
          </a:xfrm>
          <a:prstGeom prst="rect">
            <a:avLst/>
          </a:prstGeom>
          <a:noFill/>
          <a:ln/>
        </p:spPr>
        <p:txBody>
          <a:bodyPr wrap="square" lIns="0" tIns="0" rIns="0" bIns="0" rtlCol="0" anchor="t"/>
          <a:lstStyle/>
          <a:p>
            <a:pPr indent="0" marL="0">
              <a:lnSpc>
                <a:spcPct val="98000"/>
              </a:lnSpc>
              <a:buNone/>
            </a:pPr>
            <a:r>
              <a:rPr lang="en-US" sz="5400" dirty="0">
                <a:solidFill>
                  <a:srgbClr val="7FBDB4"/>
                </a:solidFill>
                <a:latin typeface="Georgia" pitchFamily="34" charset="0"/>
                <a:ea typeface="Georgia" pitchFamily="34" charset="-122"/>
                <a:cs typeface="Georgia" pitchFamily="34" charset="-120"/>
              </a:rPr>
              <a:t>cited draft.</a:t>
            </a:r>
            <a:endParaRPr lang="en-US" sz="5400" dirty="0"/>
          </a:p>
        </p:txBody>
      </p:sp>
      <p:sp>
        <p:nvSpPr>
          <p:cNvPr id="5" name="Text 3"/>
          <p:cNvSpPr/>
          <p:nvPr/>
        </p:nvSpPr>
        <p:spPr>
          <a:xfrm>
            <a:off x="822960" y="3474720"/>
            <a:ext cx="5852160" cy="705104"/>
          </a:xfrm>
          <a:prstGeom prst="rect">
            <a:avLst/>
          </a:prstGeom>
          <a:noFill/>
          <a:ln/>
        </p:spPr>
        <p:txBody>
          <a:bodyPr wrap="square" lIns="0" tIns="0" rIns="0" bIns="0" rtlCol="0" anchor="t"/>
          <a:lstStyle/>
          <a:p>
            <a:pPr algn="l" indent="0" marL="0">
              <a:lnSpc>
                <a:spcPct val="125000"/>
              </a:lnSpc>
              <a:buNone/>
            </a:pPr>
            <a:r>
              <a:rPr lang="en-US" sz="2000" dirty="0">
                <a:solidFill>
                  <a:srgbClr val="A9BEC2"/>
                </a:solidFill>
                <a:latin typeface="Segoe UI" pitchFamily="34" charset="0"/>
                <a:ea typeface="Segoe UI" pitchFamily="34" charset="-122"/>
                <a:cs typeface="Segoe UI" pitchFamily="34" charset="-120"/>
              </a:rPr>
              <a:t>A copilot that does the investigation, cites every fact, and stops at the human.</a:t>
            </a:r>
            <a:endParaRPr lang="en-US" sz="2000" dirty="0"/>
          </a:p>
        </p:txBody>
      </p:sp>
      <p:sp>
        <p:nvSpPr>
          <p:cNvPr id="6" name="Shape 4"/>
          <p:cNvSpPr/>
          <p:nvPr/>
        </p:nvSpPr>
        <p:spPr>
          <a:xfrm>
            <a:off x="822960" y="4572000"/>
            <a:ext cx="2926080" cy="0"/>
          </a:xfrm>
          <a:prstGeom prst="line">
            <a:avLst/>
          </a:prstGeom>
          <a:noFill/>
          <a:ln w="12700">
            <a:solidFill>
              <a:srgbClr val="1E3A44"/>
            </a:solidFill>
            <a:prstDash val="solid"/>
          </a:ln>
        </p:spPr>
      </p:sp>
      <p:sp>
        <p:nvSpPr>
          <p:cNvPr id="7" name="Text 5"/>
          <p:cNvSpPr/>
          <p:nvPr/>
        </p:nvSpPr>
        <p:spPr>
          <a:xfrm>
            <a:off x="822960" y="4736592"/>
            <a:ext cx="6812280" cy="225552"/>
          </a:xfrm>
          <a:prstGeom prst="rect">
            <a:avLst/>
          </a:prstGeom>
          <a:noFill/>
          <a:ln/>
        </p:spPr>
        <p:txBody>
          <a:bodyPr wrap="square" lIns="0" tIns="0" rIns="0" bIns="0" rtlCol="0" anchor="t"/>
          <a:lstStyle/>
          <a:p>
            <a:pPr algn="l" indent="0" marL="0">
              <a:lnSpc>
                <a:spcPct val="125000"/>
              </a:lnSpc>
              <a:buNone/>
            </a:pPr>
            <a:r>
              <a:rPr lang="en-US" sz="1050" spc="60" kern="0" dirty="0">
                <a:solidFill>
                  <a:srgbClr val="9DB0B4"/>
                </a:solidFill>
                <a:latin typeface="Consolas" pitchFamily="34" charset="0"/>
                <a:ea typeface="Consolas" pitchFamily="34" charset="-122"/>
                <a:cs typeface="Consolas" pitchFamily="34" charset="-120"/>
              </a:rPr>
              <a:t>FINAL DEMO AND TECHNICAL DEFENSE  ·  29 OCTOBER 2026  ·  KANIT, MANI, ZACH</a:t>
            </a:r>
            <a:endParaRPr lang="en-US" sz="1050" dirty="0"/>
          </a:p>
        </p:txBody>
      </p:sp>
      <p:sp>
        <p:nvSpPr>
          <p:cNvPr id="8" name="Text 6"/>
          <p:cNvSpPr/>
          <p:nvPr/>
        </p:nvSpPr>
        <p:spPr>
          <a:xfrm>
            <a:off x="822960" y="5943600"/>
            <a:ext cx="6949440" cy="217424"/>
          </a:xfrm>
          <a:prstGeom prst="rect">
            <a:avLst/>
          </a:prstGeom>
          <a:noFill/>
          <a:ln/>
        </p:spPr>
        <p:txBody>
          <a:bodyPr wrap="square" lIns="0" tIns="0" rIns="0" bIns="0" rtlCol="0" anchor="t"/>
          <a:lstStyle/>
          <a:p>
            <a:pPr algn="l" indent="0" marL="0">
              <a:lnSpc>
                <a:spcPct val="125000"/>
              </a:lnSpc>
              <a:buNone/>
            </a:pPr>
            <a:r>
              <a:rPr lang="en-US" sz="1000" dirty="0">
                <a:solidFill>
                  <a:srgbClr val="6E8388"/>
                </a:solidFill>
                <a:latin typeface="Consolas" pitchFamily="34" charset="0"/>
                <a:ea typeface="Consolas" pitchFamily="34" charset="-122"/>
                <a:cs typeface="Consolas" pitchFamily="34" charset="-120"/>
              </a:rPr>
              <a:t>Fictional training data. Mock system of record. No customer data.</a:t>
            </a:r>
            <a:endParaRPr lang="en-US" sz="1000" dirty="0"/>
          </a:p>
        </p:txBody>
      </p:sp>
      <p:pic>
        <p:nvPicPr>
          <p:cNvPr id="9" name="Image 0" descr="D:\20-projects\credit-card-dispute\.worktrees\review-91\docs\deck\assets\motif_alpha.png">    </p:cNvPr>
          <p:cNvPicPr>
            <a:picLocks noChangeAspect="1"/>
          </p:cNvPicPr>
          <p:nvPr/>
        </p:nvPicPr>
        <p:blipFill>
          <a:blip r:embed="rId1"/>
          <a:stretch>
            <a:fillRect/>
          </a:stretch>
        </p:blipFill>
        <p:spPr>
          <a:xfrm>
            <a:off x="7726680" y="1417320"/>
            <a:ext cx="3840480" cy="3840480"/>
          </a:xfrm>
          <a:prstGeom prst="rect">
            <a:avLst/>
          </a:prstGeom>
        </p:spPr>
      </p:pic>
      <p:sp>
        <p:nvSpPr>
          <p:cNvPr id="10" name="Text 7"/>
          <p:cNvSpPr/>
          <p:nvPr/>
        </p:nvSpPr>
        <p:spPr>
          <a:xfrm>
            <a:off x="10058400" y="5943600"/>
            <a:ext cx="1563624" cy="217424"/>
          </a:xfrm>
          <a:prstGeom prst="rect">
            <a:avLst/>
          </a:prstGeom>
          <a:noFill/>
          <a:ln/>
        </p:spPr>
        <p:txBody>
          <a:bodyPr wrap="square" lIns="0" tIns="0" rIns="0" bIns="0" rtlCol="0" anchor="t"/>
          <a:lstStyle/>
          <a:p>
            <a:pPr algn="r" indent="0" marL="0">
              <a:lnSpc>
                <a:spcPct val="125000"/>
              </a:lnSpc>
              <a:buNone/>
            </a:pPr>
            <a:r>
              <a:rPr lang="en-US" sz="1000" dirty="0">
                <a:solidFill>
                  <a:srgbClr val="6E8388"/>
                </a:solidFill>
                <a:latin typeface="Consolas" pitchFamily="34" charset="0"/>
                <a:ea typeface="Consolas" pitchFamily="34" charset="-122"/>
                <a:cs typeface="Consolas" pitchFamily="34" charset="-120"/>
              </a:rPr>
              <a:t>[ 01 / 16 ]</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566928" y="566928"/>
            <a:ext cx="11057839" cy="0"/>
          </a:xfrm>
          <a:prstGeom prst="line">
            <a:avLst/>
          </a:prstGeom>
          <a:noFill/>
          <a:ln w="12700">
            <a:solidFill>
              <a:srgbClr val="D3CDC0"/>
            </a:solidFill>
            <a:prstDash val="solid"/>
          </a:ln>
        </p:spPr>
      </p:sp>
      <p:sp>
        <p:nvSpPr>
          <p:cNvPr id="3" name="Text 1"/>
          <p:cNvSpPr/>
          <p:nvPr/>
        </p:nvSpPr>
        <p:spPr>
          <a:xfrm>
            <a:off x="566928" y="347472"/>
            <a:ext cx="5486400" cy="201168"/>
          </a:xfrm>
          <a:prstGeom prst="rect">
            <a:avLst/>
          </a:prstGeom>
          <a:noFill/>
          <a:ln/>
        </p:spPr>
        <p:txBody>
          <a:bodyPr wrap="square" lIns="0" tIns="0" rIns="0" bIns="0" rtlCol="0" anchor="ctr"/>
          <a:lstStyle/>
          <a:p>
            <a:pPr indent="0" marL="0">
              <a:lnSpc>
                <a:spcPct val="118000"/>
              </a:lnSpc>
              <a:buNone/>
            </a:pPr>
            <a:r>
              <a:rPr lang="en-US" sz="1000" spc="120" kern="0" dirty="0">
                <a:solidFill>
                  <a:srgbClr val="0D6F6A"/>
                </a:solidFill>
                <a:latin typeface="Consolas" pitchFamily="34" charset="0"/>
                <a:ea typeface="Consolas" pitchFamily="34" charset="-122"/>
                <a:cs typeface="Consolas" pitchFamily="34" charset="-120"/>
              </a:rPr>
              <a:t>01 · THE PROBLEM</a:t>
            </a:r>
            <a:endParaRPr lang="en-US" sz="1000" dirty="0"/>
          </a:p>
        </p:txBody>
      </p:sp>
      <p:sp>
        <p:nvSpPr>
          <p:cNvPr id="4" name="Text 2"/>
          <p:cNvSpPr/>
          <p:nvPr/>
        </p:nvSpPr>
        <p:spPr>
          <a:xfrm>
            <a:off x="7052767" y="347472"/>
            <a:ext cx="4572000" cy="201168"/>
          </a:xfrm>
          <a:prstGeom prst="rect">
            <a:avLst/>
          </a:prstGeom>
          <a:noFill/>
          <a:ln/>
        </p:spPr>
        <p:txBody>
          <a:bodyPr wrap="square" lIns="0" tIns="0" rIns="0" bIns="0" rtlCol="0" anchor="ctr"/>
          <a:lstStyle/>
          <a:p>
            <a:pPr algn="r" indent="0" marL="0">
              <a:lnSpc>
                <a:spcPct val="118000"/>
              </a:lnSpc>
              <a:buNone/>
            </a:pPr>
            <a:r>
              <a:rPr lang="en-US" sz="1000" spc="120" kern="0" dirty="0">
                <a:solidFill>
                  <a:srgbClr val="68777D"/>
                </a:solidFill>
                <a:latin typeface="Consolas" pitchFamily="34" charset="0"/>
                <a:ea typeface="Consolas" pitchFamily="34" charset="-122"/>
                <a:cs typeface="Consolas" pitchFamily="34" charset="-120"/>
              </a:rPr>
              <a:t>LUMEN BANK · DISPUTE COPILOT</a:t>
            </a:r>
            <a:endParaRPr lang="en-US" sz="1000" dirty="0"/>
          </a:p>
        </p:txBody>
      </p:sp>
      <p:sp>
        <p:nvSpPr>
          <p:cNvPr id="5" name="Shape 3"/>
          <p:cNvSpPr/>
          <p:nvPr/>
        </p:nvSpPr>
        <p:spPr>
          <a:xfrm>
            <a:off x="566928" y="6382512"/>
            <a:ext cx="11057839" cy="0"/>
          </a:xfrm>
          <a:prstGeom prst="line">
            <a:avLst/>
          </a:prstGeom>
          <a:noFill/>
          <a:ln w="9525">
            <a:solidFill>
              <a:srgbClr val="E2DDD2"/>
            </a:solidFill>
            <a:prstDash val="solid"/>
          </a:ln>
        </p:spPr>
      </p:sp>
      <p:sp>
        <p:nvSpPr>
          <p:cNvPr id="6" name="Text 4"/>
          <p:cNvSpPr/>
          <p:nvPr/>
        </p:nvSpPr>
        <p:spPr>
          <a:xfrm>
            <a:off x="566928" y="6473952"/>
            <a:ext cx="5486400" cy="219456"/>
          </a:xfrm>
          <a:prstGeom prst="rect">
            <a:avLst/>
          </a:prstGeom>
          <a:noFill/>
          <a:ln/>
        </p:spPr>
        <p:txBody>
          <a:bodyPr wrap="square" lIns="0" tIns="0" rIns="0" bIns="0" rtlCol="0" anchor="t"/>
          <a:lstStyle/>
          <a:p>
            <a:pPr indent="0" marL="0">
              <a:lnSpc>
                <a:spcPct val="118000"/>
              </a:lnSpc>
              <a:buNone/>
            </a:pPr>
            <a:r>
              <a:rPr lang="en-US" sz="1000" dirty="0">
                <a:solidFill>
                  <a:srgbClr val="68777D"/>
                </a:solidFill>
                <a:latin typeface="Consolas" pitchFamily="34" charset="0"/>
                <a:ea typeface="Consolas" pitchFamily="34" charset="-122"/>
                <a:cs typeface="Consolas" pitchFamily="34" charset="-120"/>
              </a:rPr>
              <a:t>Final demo and technical defense · 29 October 2026</a:t>
            </a:r>
            <a:endParaRPr lang="en-US" sz="1000" dirty="0"/>
          </a:p>
        </p:txBody>
      </p:sp>
      <p:sp>
        <p:nvSpPr>
          <p:cNvPr id="7" name="Text 5"/>
          <p:cNvSpPr/>
          <p:nvPr/>
        </p:nvSpPr>
        <p:spPr>
          <a:xfrm>
            <a:off x="9338767" y="6473952"/>
            <a:ext cx="2286000" cy="219456"/>
          </a:xfrm>
          <a:prstGeom prst="rect">
            <a:avLst/>
          </a:prstGeom>
          <a:noFill/>
          <a:ln/>
        </p:spPr>
        <p:txBody>
          <a:bodyPr wrap="square" lIns="0" tIns="0" rIns="0" bIns="0" rtlCol="0" anchor="t"/>
          <a:lstStyle/>
          <a:p>
            <a:pPr algn="r" indent="0" marL="0">
              <a:lnSpc>
                <a:spcPct val="118000"/>
              </a:lnSpc>
              <a:buNone/>
            </a:pPr>
            <a:r>
              <a:rPr lang="en-US" sz="1000" dirty="0">
                <a:solidFill>
                  <a:srgbClr val="68777D"/>
                </a:solidFill>
                <a:latin typeface="Consolas" pitchFamily="34" charset="0"/>
                <a:ea typeface="Consolas" pitchFamily="34" charset="-122"/>
                <a:cs typeface="Consolas" pitchFamily="34" charset="-120"/>
              </a:rPr>
              <a:t>[ 02 / 16 ]</a:t>
            </a:r>
            <a:endParaRPr lang="en-US" sz="1000" dirty="0"/>
          </a:p>
        </p:txBody>
      </p:sp>
      <p:sp>
        <p:nvSpPr>
          <p:cNvPr id="8" name="Text 6"/>
          <p:cNvSpPr/>
          <p:nvPr/>
        </p:nvSpPr>
        <p:spPr>
          <a:xfrm>
            <a:off x="566928" y="960120"/>
            <a:ext cx="7498080" cy="1225296"/>
          </a:xfrm>
          <a:prstGeom prst="rect">
            <a:avLst/>
          </a:prstGeom>
          <a:noFill/>
          <a:ln/>
        </p:spPr>
        <p:txBody>
          <a:bodyPr wrap="square" lIns="0" tIns="0" rIns="0" bIns="0" rtlCol="0" anchor="t"/>
          <a:lstStyle/>
          <a:p>
            <a:pPr indent="0" marL="0">
              <a:lnSpc>
                <a:spcPct val="98000"/>
              </a:lnSpc>
              <a:buNone/>
            </a:pPr>
            <a:r>
              <a:rPr lang="en-US" sz="3400" dirty="0">
                <a:solidFill>
                  <a:srgbClr val="12262E"/>
                </a:solidFill>
                <a:latin typeface="Georgia" pitchFamily="34" charset="0"/>
                <a:ea typeface="Georgia" pitchFamily="34" charset="-122"/>
                <a:cs typeface="Georgia" pitchFamily="34" charset="-120"/>
              </a:rPr>
              <a:t>Every complaint restarts the same investigation.</a:t>
            </a:r>
            <a:endParaRPr lang="en-US" sz="3400" dirty="0"/>
          </a:p>
        </p:txBody>
      </p:sp>
      <p:sp>
        <p:nvSpPr>
          <p:cNvPr id="9" name="Text 7"/>
          <p:cNvSpPr/>
          <p:nvPr/>
        </p:nvSpPr>
        <p:spPr>
          <a:xfrm>
            <a:off x="566928" y="2249424"/>
            <a:ext cx="6355080" cy="542544"/>
          </a:xfrm>
          <a:prstGeom prst="rect">
            <a:avLst/>
          </a:prstGeom>
          <a:noFill/>
          <a:ln/>
        </p:spPr>
        <p:txBody>
          <a:bodyPr wrap="square" lIns="0" tIns="0" rIns="0" bIns="0" rtlCol="0" anchor="t"/>
          <a:lstStyle/>
          <a:p>
            <a:pPr algn="l" indent="0" marL="0">
              <a:lnSpc>
                <a:spcPct val="122000"/>
              </a:lnSpc>
              <a:buNone/>
            </a:pPr>
            <a:r>
              <a:rPr lang="en-US" sz="1500" dirty="0">
                <a:solidFill>
                  <a:srgbClr val="12262E"/>
                </a:solidFill>
                <a:latin typeface="Segoe UI" pitchFamily="34" charset="0"/>
                <a:ea typeface="Segoe UI" pitchFamily="34" charset="-122"/>
                <a:cs typeface="Segoe UI" pitchFamily="34" charset="-120"/>
              </a:rPr>
              <a:t>Every case sits in the queue while someone rebuilds the same five sources by hand.</a:t>
            </a:r>
            <a:endParaRPr lang="en-US" sz="1500" dirty="0"/>
          </a:p>
        </p:txBody>
      </p:sp>
      <p:sp>
        <p:nvSpPr>
          <p:cNvPr id="10" name="Shape 8"/>
          <p:cNvSpPr/>
          <p:nvPr/>
        </p:nvSpPr>
        <p:spPr>
          <a:xfrm>
            <a:off x="566928" y="3145536"/>
            <a:ext cx="5943600" cy="0"/>
          </a:xfrm>
          <a:prstGeom prst="line">
            <a:avLst/>
          </a:prstGeom>
          <a:noFill/>
          <a:ln w="9525">
            <a:solidFill>
              <a:srgbClr val="E2DDD2"/>
            </a:solidFill>
            <a:prstDash val="solid"/>
          </a:ln>
        </p:spPr>
      </p:sp>
      <p:sp>
        <p:nvSpPr>
          <p:cNvPr id="11" name="Text 9"/>
          <p:cNvSpPr/>
          <p:nvPr/>
        </p:nvSpPr>
        <p:spPr>
          <a:xfrm>
            <a:off x="566928" y="3236976"/>
            <a:ext cx="5669280" cy="182880"/>
          </a:xfrm>
          <a:prstGeom prst="rect">
            <a:avLst/>
          </a:prstGeom>
          <a:noFill/>
          <a:ln/>
        </p:spPr>
        <p:txBody>
          <a:bodyPr wrap="square" lIns="0" tIns="0" rIns="0" bIns="0" rtlCol="0" anchor="t"/>
          <a:lstStyle/>
          <a:p>
            <a:pPr indent="0" marL="0">
              <a:lnSpc>
                <a:spcPct val="118000"/>
              </a:lnSpc>
              <a:buNone/>
            </a:pPr>
            <a:r>
              <a:rPr lang="en-US" sz="1050" spc="140" kern="0" dirty="0">
                <a:solidFill>
                  <a:srgbClr val="0D6F6A"/>
                </a:solidFill>
                <a:latin typeface="Consolas" pitchFamily="34" charset="0"/>
                <a:ea typeface="Consolas" pitchFamily="34" charset="-122"/>
                <a:cs typeface="Consolas" pitchFamily="34" charset="-120"/>
              </a:rPr>
              <a:t>POLICY BY DATE</a:t>
            </a:r>
            <a:endParaRPr lang="en-US" sz="1050" dirty="0"/>
          </a:p>
        </p:txBody>
      </p:sp>
      <p:sp>
        <p:nvSpPr>
          <p:cNvPr id="12" name="Text 10"/>
          <p:cNvSpPr/>
          <p:nvPr/>
        </p:nvSpPr>
        <p:spPr>
          <a:xfrm>
            <a:off x="566928" y="3438144"/>
            <a:ext cx="5852160" cy="493776"/>
          </a:xfrm>
          <a:prstGeom prst="rect">
            <a:avLst/>
          </a:prstGeom>
          <a:noFill/>
          <a:ln/>
        </p:spPr>
        <p:txBody>
          <a:bodyPr wrap="square" lIns="0" tIns="0" rIns="0" bIns="0" rtlCol="0" anchor="t"/>
          <a:lstStyle/>
          <a:p>
            <a:pPr algn="l" indent="0" marL="0">
              <a:lnSpc>
                <a:spcPct val="122000"/>
              </a:lnSpc>
              <a:buNone/>
            </a:pPr>
            <a:r>
              <a:rPr lang="en-US" sz="1350" dirty="0">
                <a:solidFill>
                  <a:srgbClr val="2B454F"/>
                </a:solidFill>
                <a:latin typeface="Segoe UI" pitchFamily="34" charset="0"/>
                <a:ea typeface="Segoe UI" pitchFamily="34" charset="-122"/>
                <a:cs typeface="Segoe UI" pitchFamily="34" charset="-120"/>
              </a:rPr>
              <a:t>Version 1 or version 2, chosen from the reported date, not the date of the call.</a:t>
            </a:r>
            <a:endParaRPr lang="en-US" sz="1350" dirty="0"/>
          </a:p>
        </p:txBody>
      </p:sp>
      <p:sp>
        <p:nvSpPr>
          <p:cNvPr id="13" name="Shape 11"/>
          <p:cNvSpPr/>
          <p:nvPr/>
        </p:nvSpPr>
        <p:spPr>
          <a:xfrm>
            <a:off x="566928" y="4059936"/>
            <a:ext cx="5943600" cy="0"/>
          </a:xfrm>
          <a:prstGeom prst="line">
            <a:avLst/>
          </a:prstGeom>
          <a:noFill/>
          <a:ln w="9525">
            <a:solidFill>
              <a:srgbClr val="E2DDD2"/>
            </a:solidFill>
            <a:prstDash val="solid"/>
          </a:ln>
        </p:spPr>
      </p:sp>
      <p:sp>
        <p:nvSpPr>
          <p:cNvPr id="14" name="Text 12"/>
          <p:cNvSpPr/>
          <p:nvPr/>
        </p:nvSpPr>
        <p:spPr>
          <a:xfrm>
            <a:off x="566928" y="4151376"/>
            <a:ext cx="5669280" cy="182880"/>
          </a:xfrm>
          <a:prstGeom prst="rect">
            <a:avLst/>
          </a:prstGeom>
          <a:noFill/>
          <a:ln/>
        </p:spPr>
        <p:txBody>
          <a:bodyPr wrap="square" lIns="0" tIns="0" rIns="0" bIns="0" rtlCol="0" anchor="t"/>
          <a:lstStyle/>
          <a:p>
            <a:pPr indent="0" marL="0">
              <a:lnSpc>
                <a:spcPct val="118000"/>
              </a:lnSpc>
              <a:buNone/>
            </a:pPr>
            <a:r>
              <a:rPr lang="en-US" sz="1050" spc="140" kern="0" dirty="0">
                <a:solidFill>
                  <a:srgbClr val="0D6F6A"/>
                </a:solidFill>
                <a:latin typeface="Consolas" pitchFamily="34" charset="0"/>
                <a:ea typeface="Consolas" pitchFamily="34" charset="-122"/>
                <a:cs typeface="Consolas" pitchFamily="34" charset="-120"/>
              </a:rPr>
              <a:t>FACTS FROM TWO SYSTEMS</a:t>
            </a:r>
            <a:endParaRPr lang="en-US" sz="1050" dirty="0"/>
          </a:p>
        </p:txBody>
      </p:sp>
      <p:sp>
        <p:nvSpPr>
          <p:cNvPr id="15" name="Text 13"/>
          <p:cNvSpPr/>
          <p:nvPr/>
        </p:nvSpPr>
        <p:spPr>
          <a:xfrm>
            <a:off x="566928" y="4352544"/>
            <a:ext cx="5852160" cy="493776"/>
          </a:xfrm>
          <a:prstGeom prst="rect">
            <a:avLst/>
          </a:prstGeom>
          <a:noFill/>
          <a:ln/>
        </p:spPr>
        <p:txBody>
          <a:bodyPr wrap="square" lIns="0" tIns="0" rIns="0" bIns="0" rtlCol="0" anchor="t"/>
          <a:lstStyle/>
          <a:p>
            <a:pPr algn="l" indent="0" marL="0">
              <a:lnSpc>
                <a:spcPct val="122000"/>
              </a:lnSpc>
              <a:buNone/>
            </a:pPr>
            <a:r>
              <a:rPr lang="en-US" sz="1350" dirty="0">
                <a:solidFill>
                  <a:srgbClr val="2B454F"/>
                </a:solidFill>
                <a:latin typeface="Segoe UI" pitchFamily="34" charset="0"/>
                <a:ea typeface="Segoe UI" pitchFamily="34" charset="-122"/>
                <a:cs typeface="Segoe UI" pitchFamily="34" charset="-120"/>
              </a:rPr>
              <a:t>The merchant record and the transaction record are two stores with two shapes.</a:t>
            </a:r>
            <a:endParaRPr lang="en-US" sz="1350" dirty="0"/>
          </a:p>
        </p:txBody>
      </p:sp>
      <p:sp>
        <p:nvSpPr>
          <p:cNvPr id="16" name="Shape 14"/>
          <p:cNvSpPr/>
          <p:nvPr/>
        </p:nvSpPr>
        <p:spPr>
          <a:xfrm>
            <a:off x="566928" y="4974336"/>
            <a:ext cx="5943600" cy="0"/>
          </a:xfrm>
          <a:prstGeom prst="line">
            <a:avLst/>
          </a:prstGeom>
          <a:noFill/>
          <a:ln w="9525">
            <a:solidFill>
              <a:srgbClr val="E2DDD2"/>
            </a:solidFill>
            <a:prstDash val="solid"/>
          </a:ln>
        </p:spPr>
      </p:sp>
      <p:sp>
        <p:nvSpPr>
          <p:cNvPr id="17" name="Text 15"/>
          <p:cNvSpPr/>
          <p:nvPr/>
        </p:nvSpPr>
        <p:spPr>
          <a:xfrm>
            <a:off x="566928" y="5065776"/>
            <a:ext cx="5669280" cy="182880"/>
          </a:xfrm>
          <a:prstGeom prst="rect">
            <a:avLst/>
          </a:prstGeom>
          <a:noFill/>
          <a:ln/>
        </p:spPr>
        <p:txBody>
          <a:bodyPr wrap="square" lIns="0" tIns="0" rIns="0" bIns="0" rtlCol="0" anchor="t"/>
          <a:lstStyle/>
          <a:p>
            <a:pPr indent="0" marL="0">
              <a:lnSpc>
                <a:spcPct val="118000"/>
              </a:lnSpc>
              <a:buNone/>
            </a:pPr>
            <a:r>
              <a:rPr lang="en-US" sz="1050" spc="140" kern="0" dirty="0">
                <a:solidFill>
                  <a:srgbClr val="0D6F6A"/>
                </a:solidFill>
                <a:latin typeface="Consolas" pitchFamily="34" charset="0"/>
                <a:ea typeface="Consolas" pitchFamily="34" charset="-122"/>
                <a:cs typeface="Consolas" pitchFamily="34" charset="-120"/>
              </a:rPr>
              <a:t>THE CLOCK</a:t>
            </a:r>
            <a:endParaRPr lang="en-US" sz="1050" dirty="0"/>
          </a:p>
        </p:txBody>
      </p:sp>
      <p:sp>
        <p:nvSpPr>
          <p:cNvPr id="18" name="Text 16"/>
          <p:cNvSpPr/>
          <p:nvPr/>
        </p:nvSpPr>
        <p:spPr>
          <a:xfrm>
            <a:off x="566928" y="5266944"/>
            <a:ext cx="5852160" cy="493776"/>
          </a:xfrm>
          <a:prstGeom prst="rect">
            <a:avLst/>
          </a:prstGeom>
          <a:noFill/>
          <a:ln/>
        </p:spPr>
        <p:txBody>
          <a:bodyPr wrap="square" lIns="0" tIns="0" rIns="0" bIns="0" rtlCol="0" anchor="t"/>
          <a:lstStyle/>
          <a:p>
            <a:pPr algn="l" indent="0" marL="0">
              <a:lnSpc>
                <a:spcPct val="122000"/>
              </a:lnSpc>
              <a:buNone/>
            </a:pPr>
            <a:r>
              <a:rPr lang="en-US" sz="1350" dirty="0">
                <a:solidFill>
                  <a:srgbClr val="2B454F"/>
                </a:solidFill>
                <a:latin typeface="Segoe UI" pitchFamily="34" charset="0"/>
                <a:ea typeface="Segoe UI" pitchFamily="34" charset="-122"/>
                <a:cs typeface="Segoe UI" pitchFamily="34" charset="-120"/>
              </a:rPr>
              <a:t>A deadline is counted from the reported date, and a day count can be wrong by one.</a:t>
            </a:r>
            <a:endParaRPr lang="en-US" sz="1350" dirty="0"/>
          </a:p>
        </p:txBody>
      </p:sp>
      <p:sp>
        <p:nvSpPr>
          <p:cNvPr id="19" name="Shape 17"/>
          <p:cNvSpPr/>
          <p:nvPr/>
        </p:nvSpPr>
        <p:spPr>
          <a:xfrm>
            <a:off x="566928" y="5870448"/>
            <a:ext cx="5943600" cy="0"/>
          </a:xfrm>
          <a:prstGeom prst="line">
            <a:avLst/>
          </a:prstGeom>
          <a:noFill/>
          <a:ln w="9525">
            <a:solidFill>
              <a:srgbClr val="E2DDD2"/>
            </a:solidFill>
            <a:prstDash val="solid"/>
          </a:ln>
        </p:spPr>
      </p:sp>
      <p:sp>
        <p:nvSpPr>
          <p:cNvPr id="20" name="Shape 18"/>
          <p:cNvSpPr/>
          <p:nvPr/>
        </p:nvSpPr>
        <p:spPr>
          <a:xfrm>
            <a:off x="6967728" y="3145536"/>
            <a:ext cx="4654296" cy="2724912"/>
          </a:xfrm>
          <a:prstGeom prst="rect">
            <a:avLst/>
          </a:prstGeom>
          <a:solidFill>
            <a:srgbClr val="F3EFE6"/>
          </a:solidFill>
          <a:ln w="9525">
            <a:solidFill>
              <a:srgbClr val="E2DDD2"/>
            </a:solidFill>
            <a:prstDash val="solid"/>
          </a:ln>
        </p:spPr>
      </p:sp>
      <p:sp>
        <p:nvSpPr>
          <p:cNvPr id="21" name="Text 19"/>
          <p:cNvSpPr/>
          <p:nvPr/>
        </p:nvSpPr>
        <p:spPr>
          <a:xfrm>
            <a:off x="7242048" y="3346704"/>
            <a:ext cx="4114800" cy="1160272"/>
          </a:xfrm>
          <a:prstGeom prst="rect">
            <a:avLst/>
          </a:prstGeom>
          <a:noFill/>
          <a:ln/>
        </p:spPr>
        <p:txBody>
          <a:bodyPr wrap="square" lIns="0" tIns="0" rIns="0" bIns="0" rtlCol="0" anchor="t"/>
          <a:lstStyle/>
          <a:p>
            <a:pPr algn="l" indent="0" marL="0">
              <a:lnSpc>
                <a:spcPct val="120000"/>
              </a:lnSpc>
              <a:buNone/>
            </a:pPr>
            <a:r>
              <a:rPr lang="en-US" sz="1700" i="1" dirty="0">
                <a:solidFill>
                  <a:srgbClr val="12262E"/>
                </a:solidFill>
                <a:latin typeface="Georgia" pitchFamily="34" charset="0"/>
                <a:ea typeface="Georgia" pitchFamily="34" charset="-122"/>
                <a:cs typeface="Georgia" pitchFamily="34" charset="-120"/>
              </a:rPr>
              <a:t>“I found a card purchase at Morrow Supplies for 117 crowns. I do not recognize it and need help checking it.”</a:t>
            </a:r>
            <a:endParaRPr lang="en-US" sz="1700" dirty="0"/>
          </a:p>
        </p:txBody>
      </p:sp>
      <p:sp>
        <p:nvSpPr>
          <p:cNvPr id="22" name="Text 20"/>
          <p:cNvSpPr/>
          <p:nvPr/>
        </p:nvSpPr>
        <p:spPr>
          <a:xfrm>
            <a:off x="7242048" y="5486400"/>
            <a:ext cx="4114800" cy="217424"/>
          </a:xfrm>
          <a:prstGeom prst="rect">
            <a:avLst/>
          </a:prstGeom>
          <a:noFill/>
          <a:ln/>
        </p:spPr>
        <p:txBody>
          <a:bodyPr wrap="square" lIns="0" tIns="0" rIns="0" bIns="0" rtlCol="0" anchor="t"/>
          <a:lstStyle/>
          <a:p>
            <a:pPr algn="l" indent="0" marL="0">
              <a:lnSpc>
                <a:spcPct val="125000"/>
              </a:lnSpc>
              <a:buNone/>
            </a:pPr>
            <a:r>
              <a:rPr lang="en-US" sz="1000" spc="110" kern="0" dirty="0">
                <a:solidFill>
                  <a:srgbClr val="68777D"/>
                </a:solidFill>
                <a:latin typeface="Consolas" pitchFamily="34" charset="0"/>
                <a:ea typeface="Consolas" pitchFamily="34" charset="-122"/>
                <a:cs typeface="Consolas" pitchFamily="34" charset="-120"/>
              </a:rPr>
              <a:t>CARD-D01-INTAKE  ·  UNTRUSTED TEXT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566928" y="566928"/>
            <a:ext cx="11057839" cy="0"/>
          </a:xfrm>
          <a:prstGeom prst="line">
            <a:avLst/>
          </a:prstGeom>
          <a:noFill/>
          <a:ln w="12700">
            <a:solidFill>
              <a:srgbClr val="D3CDC0"/>
            </a:solidFill>
            <a:prstDash val="solid"/>
          </a:ln>
        </p:spPr>
      </p:sp>
      <p:sp>
        <p:nvSpPr>
          <p:cNvPr id="3" name="Text 1"/>
          <p:cNvSpPr/>
          <p:nvPr/>
        </p:nvSpPr>
        <p:spPr>
          <a:xfrm>
            <a:off x="566928" y="347472"/>
            <a:ext cx="5486400" cy="201168"/>
          </a:xfrm>
          <a:prstGeom prst="rect">
            <a:avLst/>
          </a:prstGeom>
          <a:noFill/>
          <a:ln/>
        </p:spPr>
        <p:txBody>
          <a:bodyPr wrap="square" lIns="0" tIns="0" rIns="0" bIns="0" rtlCol="0" anchor="ctr"/>
          <a:lstStyle/>
          <a:p>
            <a:pPr indent="0" marL="0">
              <a:lnSpc>
                <a:spcPct val="118000"/>
              </a:lnSpc>
              <a:buNone/>
            </a:pPr>
            <a:r>
              <a:rPr lang="en-US" sz="1000" spc="120" kern="0" dirty="0">
                <a:solidFill>
                  <a:srgbClr val="0D6F6A"/>
                </a:solidFill>
                <a:latin typeface="Consolas" pitchFamily="34" charset="0"/>
                <a:ea typeface="Consolas" pitchFamily="34" charset="-122"/>
                <a:cs typeface="Consolas" pitchFamily="34" charset="-120"/>
              </a:rPr>
              <a:t>02 · THE PRODUCT</a:t>
            </a:r>
            <a:endParaRPr lang="en-US" sz="1000" dirty="0"/>
          </a:p>
        </p:txBody>
      </p:sp>
      <p:sp>
        <p:nvSpPr>
          <p:cNvPr id="4" name="Text 2"/>
          <p:cNvSpPr/>
          <p:nvPr/>
        </p:nvSpPr>
        <p:spPr>
          <a:xfrm>
            <a:off x="7052767" y="347472"/>
            <a:ext cx="4572000" cy="201168"/>
          </a:xfrm>
          <a:prstGeom prst="rect">
            <a:avLst/>
          </a:prstGeom>
          <a:noFill/>
          <a:ln/>
        </p:spPr>
        <p:txBody>
          <a:bodyPr wrap="square" lIns="0" tIns="0" rIns="0" bIns="0" rtlCol="0" anchor="ctr"/>
          <a:lstStyle/>
          <a:p>
            <a:pPr algn="r" indent="0" marL="0">
              <a:lnSpc>
                <a:spcPct val="118000"/>
              </a:lnSpc>
              <a:buNone/>
            </a:pPr>
            <a:r>
              <a:rPr lang="en-US" sz="1000" spc="120" kern="0" dirty="0">
                <a:solidFill>
                  <a:srgbClr val="68777D"/>
                </a:solidFill>
                <a:latin typeface="Consolas" pitchFamily="34" charset="0"/>
                <a:ea typeface="Consolas" pitchFamily="34" charset="-122"/>
                <a:cs typeface="Consolas" pitchFamily="34" charset="-120"/>
              </a:rPr>
              <a:t>LUMEN BANK · DISPUTE COPILOT</a:t>
            </a:r>
            <a:endParaRPr lang="en-US" sz="1000" dirty="0"/>
          </a:p>
        </p:txBody>
      </p:sp>
      <p:sp>
        <p:nvSpPr>
          <p:cNvPr id="5" name="Shape 3"/>
          <p:cNvSpPr/>
          <p:nvPr/>
        </p:nvSpPr>
        <p:spPr>
          <a:xfrm>
            <a:off x="566928" y="6382512"/>
            <a:ext cx="11057839" cy="0"/>
          </a:xfrm>
          <a:prstGeom prst="line">
            <a:avLst/>
          </a:prstGeom>
          <a:noFill/>
          <a:ln w="9525">
            <a:solidFill>
              <a:srgbClr val="E2DDD2"/>
            </a:solidFill>
            <a:prstDash val="solid"/>
          </a:ln>
        </p:spPr>
      </p:sp>
      <p:sp>
        <p:nvSpPr>
          <p:cNvPr id="6" name="Text 4"/>
          <p:cNvSpPr/>
          <p:nvPr/>
        </p:nvSpPr>
        <p:spPr>
          <a:xfrm>
            <a:off x="566928" y="6473952"/>
            <a:ext cx="5486400" cy="219456"/>
          </a:xfrm>
          <a:prstGeom prst="rect">
            <a:avLst/>
          </a:prstGeom>
          <a:noFill/>
          <a:ln/>
        </p:spPr>
        <p:txBody>
          <a:bodyPr wrap="square" lIns="0" tIns="0" rIns="0" bIns="0" rtlCol="0" anchor="t"/>
          <a:lstStyle/>
          <a:p>
            <a:pPr indent="0" marL="0">
              <a:lnSpc>
                <a:spcPct val="118000"/>
              </a:lnSpc>
              <a:buNone/>
            </a:pPr>
            <a:r>
              <a:rPr lang="en-US" sz="1000" dirty="0">
                <a:solidFill>
                  <a:srgbClr val="68777D"/>
                </a:solidFill>
                <a:latin typeface="Consolas" pitchFamily="34" charset="0"/>
                <a:ea typeface="Consolas" pitchFamily="34" charset="-122"/>
                <a:cs typeface="Consolas" pitchFamily="34" charset="-120"/>
              </a:rPr>
              <a:t>Final demo and technical defense · 29 October 2026</a:t>
            </a:r>
            <a:endParaRPr lang="en-US" sz="1000" dirty="0"/>
          </a:p>
        </p:txBody>
      </p:sp>
      <p:sp>
        <p:nvSpPr>
          <p:cNvPr id="7" name="Text 5"/>
          <p:cNvSpPr/>
          <p:nvPr/>
        </p:nvSpPr>
        <p:spPr>
          <a:xfrm>
            <a:off x="9338767" y="6473952"/>
            <a:ext cx="2286000" cy="219456"/>
          </a:xfrm>
          <a:prstGeom prst="rect">
            <a:avLst/>
          </a:prstGeom>
          <a:noFill/>
          <a:ln/>
        </p:spPr>
        <p:txBody>
          <a:bodyPr wrap="square" lIns="0" tIns="0" rIns="0" bIns="0" rtlCol="0" anchor="t"/>
          <a:lstStyle/>
          <a:p>
            <a:pPr algn="r" indent="0" marL="0">
              <a:lnSpc>
                <a:spcPct val="118000"/>
              </a:lnSpc>
              <a:buNone/>
            </a:pPr>
            <a:r>
              <a:rPr lang="en-US" sz="1000" dirty="0">
                <a:solidFill>
                  <a:srgbClr val="68777D"/>
                </a:solidFill>
                <a:latin typeface="Consolas" pitchFamily="34" charset="0"/>
                <a:ea typeface="Consolas" pitchFamily="34" charset="-122"/>
                <a:cs typeface="Consolas" pitchFamily="34" charset="-120"/>
              </a:rPr>
              <a:t>[ 03 / 16 ]</a:t>
            </a:r>
            <a:endParaRPr lang="en-US" sz="1000" dirty="0"/>
          </a:p>
        </p:txBody>
      </p:sp>
      <p:sp>
        <p:nvSpPr>
          <p:cNvPr id="8" name="Text 6"/>
          <p:cNvSpPr/>
          <p:nvPr/>
        </p:nvSpPr>
        <p:spPr>
          <a:xfrm>
            <a:off x="566928" y="1005840"/>
            <a:ext cx="10972800" cy="640080"/>
          </a:xfrm>
          <a:prstGeom prst="rect">
            <a:avLst/>
          </a:prstGeom>
          <a:noFill/>
          <a:ln/>
        </p:spPr>
        <p:txBody>
          <a:bodyPr wrap="square" lIns="0" tIns="0" rIns="0" bIns="0" rtlCol="0" anchor="t"/>
          <a:lstStyle/>
          <a:p>
            <a:pPr indent="0" marL="0">
              <a:lnSpc>
                <a:spcPct val="98000"/>
              </a:lnSpc>
              <a:buNone/>
            </a:pPr>
            <a:r>
              <a:rPr lang="en-US" sz="3400" dirty="0">
                <a:solidFill>
                  <a:srgbClr val="12262E"/>
                </a:solidFill>
                <a:latin typeface="Georgia" pitchFamily="34" charset="0"/>
                <a:ea typeface="Georgia" pitchFamily="34" charset="-122"/>
                <a:cs typeface="Georgia" pitchFamily="34" charset="-120"/>
              </a:rPr>
              <a:t>One contract, six citations, one gate.</a:t>
            </a:r>
            <a:endParaRPr lang="en-US" sz="3400" dirty="0"/>
          </a:p>
        </p:txBody>
      </p:sp>
      <p:sp>
        <p:nvSpPr>
          <p:cNvPr id="9" name="Text 7"/>
          <p:cNvSpPr/>
          <p:nvPr/>
        </p:nvSpPr>
        <p:spPr>
          <a:xfrm>
            <a:off x="566928" y="1719072"/>
            <a:ext cx="9601200" cy="298704"/>
          </a:xfrm>
          <a:prstGeom prst="rect">
            <a:avLst/>
          </a:prstGeom>
          <a:noFill/>
          <a:ln/>
        </p:spPr>
        <p:txBody>
          <a:bodyPr wrap="square" lIns="0" tIns="0" rIns="0" bIns="0" rtlCol="0" anchor="t"/>
          <a:lstStyle/>
          <a:p>
            <a:pPr algn="l" indent="0" marL="0">
              <a:lnSpc>
                <a:spcPct val="122000"/>
              </a:lnSpc>
              <a:buNone/>
            </a:pPr>
            <a:r>
              <a:rPr lang="en-US" sz="1500" dirty="0">
                <a:solidFill>
                  <a:srgbClr val="12262E"/>
                </a:solidFill>
                <a:latin typeface="Segoe UI" pitchFamily="34" charset="0"/>
                <a:ea typeface="Segoe UI" pitchFamily="34" charset="-122"/>
                <a:cs typeface="Segoe UI" pitchFamily="34" charset="-120"/>
              </a:rPr>
              <a:t>The object's shape is fixed before any prose exists.</a:t>
            </a:r>
            <a:endParaRPr lang="en-US" sz="1500" dirty="0"/>
          </a:p>
        </p:txBody>
      </p:sp>
      <p:sp>
        <p:nvSpPr>
          <p:cNvPr id="10" name="Shape 8"/>
          <p:cNvSpPr/>
          <p:nvPr/>
        </p:nvSpPr>
        <p:spPr>
          <a:xfrm>
            <a:off x="566928" y="2194560"/>
            <a:ext cx="6903720" cy="3611880"/>
          </a:xfrm>
          <a:prstGeom prst="rect">
            <a:avLst/>
          </a:prstGeom>
          <a:solidFill>
            <a:srgbClr val="FFFFFF"/>
          </a:solidFill>
          <a:ln w="9525">
            <a:solidFill>
              <a:srgbClr val="E2DDD2"/>
            </a:solidFill>
            <a:prstDash val="solid"/>
          </a:ln>
        </p:spPr>
      </p:sp>
      <p:sp>
        <p:nvSpPr>
          <p:cNvPr id="11" name="Text 9"/>
          <p:cNvSpPr/>
          <p:nvPr/>
        </p:nvSpPr>
        <p:spPr>
          <a:xfrm>
            <a:off x="868680" y="2359152"/>
            <a:ext cx="630936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0D6F6A"/>
                </a:solidFill>
                <a:latin typeface="Consolas" pitchFamily="34" charset="0"/>
                <a:ea typeface="Consolas" pitchFamily="34" charset="-122"/>
                <a:cs typeface="Consolas" pitchFamily="34" charset="-120"/>
              </a:rPr>
              <a:t>CONTRACT  ·  CARD-D01  ·  10 KEYS  ·  7 SHOWN</a:t>
            </a:r>
            <a:endParaRPr lang="en-US" sz="1000" dirty="0"/>
          </a:p>
        </p:txBody>
      </p:sp>
      <p:sp>
        <p:nvSpPr>
          <p:cNvPr id="12" name="Shape 10"/>
          <p:cNvSpPr/>
          <p:nvPr/>
        </p:nvSpPr>
        <p:spPr>
          <a:xfrm>
            <a:off x="868680" y="2578608"/>
            <a:ext cx="6309360" cy="0"/>
          </a:xfrm>
          <a:prstGeom prst="line">
            <a:avLst/>
          </a:prstGeom>
          <a:noFill/>
          <a:ln w="9525">
            <a:solidFill>
              <a:srgbClr val="E2DDD2"/>
            </a:solidFill>
            <a:prstDash val="solid"/>
          </a:ln>
        </p:spPr>
      </p:sp>
      <p:sp>
        <p:nvSpPr>
          <p:cNvPr id="13" name="Text 11"/>
          <p:cNvSpPr/>
          <p:nvPr/>
        </p:nvSpPr>
        <p:spPr>
          <a:xfrm>
            <a:off x="868680" y="2706624"/>
            <a:ext cx="1600200" cy="217424"/>
          </a:xfrm>
          <a:prstGeom prst="rect">
            <a:avLst/>
          </a:prstGeom>
          <a:noFill/>
          <a:ln/>
        </p:spPr>
        <p:txBody>
          <a:bodyPr wrap="square" lIns="0" tIns="0" rIns="0" bIns="0" rtlCol="0" anchor="t"/>
          <a:lstStyle/>
          <a:p>
            <a:pPr algn="l" indent="0" marL="0">
              <a:lnSpc>
                <a:spcPct val="125000"/>
              </a:lnSpc>
              <a:buNone/>
            </a:pPr>
            <a:r>
              <a:rPr lang="en-US" sz="1000" dirty="0">
                <a:solidFill>
                  <a:srgbClr val="68777D"/>
                </a:solidFill>
                <a:latin typeface="Consolas" pitchFamily="34" charset="0"/>
                <a:ea typeface="Consolas" pitchFamily="34" charset="-122"/>
                <a:cs typeface="Consolas" pitchFamily="34" charset="-120"/>
              </a:rPr>
              <a:t>case_id</a:t>
            </a:r>
            <a:endParaRPr lang="en-US" sz="1000" dirty="0"/>
          </a:p>
        </p:txBody>
      </p:sp>
      <p:sp>
        <p:nvSpPr>
          <p:cNvPr id="14" name="Text 12"/>
          <p:cNvSpPr/>
          <p:nvPr/>
        </p:nvSpPr>
        <p:spPr>
          <a:xfrm>
            <a:off x="2487168" y="2706624"/>
            <a:ext cx="4663440" cy="233680"/>
          </a:xfrm>
          <a:prstGeom prst="rect">
            <a:avLst/>
          </a:prstGeom>
          <a:noFill/>
          <a:ln/>
        </p:spPr>
        <p:txBody>
          <a:bodyPr wrap="square" lIns="0" tIns="0" rIns="0" bIns="0" rtlCol="0" anchor="t"/>
          <a:lstStyle/>
          <a:p>
            <a:pPr algn="l" indent="0" marL="0">
              <a:lnSpc>
                <a:spcPct val="125000"/>
              </a:lnSpc>
              <a:buNone/>
            </a:pPr>
            <a:r>
              <a:rPr lang="en-US" sz="1100" dirty="0">
                <a:solidFill>
                  <a:srgbClr val="12262E"/>
                </a:solidFill>
                <a:latin typeface="Consolas" pitchFamily="34" charset="0"/>
                <a:ea typeface="Consolas" pitchFamily="34" charset="-122"/>
                <a:cs typeface="Consolas" pitchFamily="34" charset="-120"/>
              </a:rPr>
              <a:t>CARD-D01</a:t>
            </a:r>
            <a:endParaRPr lang="en-US" sz="1100" dirty="0"/>
          </a:p>
        </p:txBody>
      </p:sp>
      <p:sp>
        <p:nvSpPr>
          <p:cNvPr id="15" name="Text 13"/>
          <p:cNvSpPr/>
          <p:nvPr/>
        </p:nvSpPr>
        <p:spPr>
          <a:xfrm>
            <a:off x="868680" y="3035808"/>
            <a:ext cx="1600200" cy="217424"/>
          </a:xfrm>
          <a:prstGeom prst="rect">
            <a:avLst/>
          </a:prstGeom>
          <a:noFill/>
          <a:ln/>
        </p:spPr>
        <p:txBody>
          <a:bodyPr wrap="square" lIns="0" tIns="0" rIns="0" bIns="0" rtlCol="0" anchor="t"/>
          <a:lstStyle/>
          <a:p>
            <a:pPr algn="l" indent="0" marL="0">
              <a:lnSpc>
                <a:spcPct val="125000"/>
              </a:lnSpc>
              <a:buNone/>
            </a:pPr>
            <a:r>
              <a:rPr lang="en-US" sz="1000" dirty="0">
                <a:solidFill>
                  <a:srgbClr val="68777D"/>
                </a:solidFill>
                <a:latin typeface="Consolas" pitchFamily="34" charset="0"/>
                <a:ea typeface="Consolas" pitchFamily="34" charset="-122"/>
                <a:cs typeface="Consolas" pitchFamily="34" charset="-120"/>
              </a:rPr>
              <a:t>classification</a:t>
            </a:r>
            <a:endParaRPr lang="en-US" sz="1000" dirty="0"/>
          </a:p>
        </p:txBody>
      </p:sp>
      <p:sp>
        <p:nvSpPr>
          <p:cNvPr id="16" name="Text 14"/>
          <p:cNvSpPr/>
          <p:nvPr/>
        </p:nvSpPr>
        <p:spPr>
          <a:xfrm>
            <a:off x="2487168" y="3035808"/>
            <a:ext cx="4663440" cy="233680"/>
          </a:xfrm>
          <a:prstGeom prst="rect">
            <a:avLst/>
          </a:prstGeom>
          <a:noFill/>
          <a:ln/>
        </p:spPr>
        <p:txBody>
          <a:bodyPr wrap="square" lIns="0" tIns="0" rIns="0" bIns="0" rtlCol="0" anchor="t"/>
          <a:lstStyle/>
          <a:p>
            <a:pPr algn="l" indent="0" marL="0">
              <a:lnSpc>
                <a:spcPct val="125000"/>
              </a:lnSpc>
              <a:buNone/>
            </a:pPr>
            <a:r>
              <a:rPr lang="en-US" sz="1100" dirty="0">
                <a:solidFill>
                  <a:srgbClr val="12262E"/>
                </a:solidFill>
                <a:latin typeface="Consolas" pitchFamily="34" charset="0"/>
                <a:ea typeface="Consolas" pitchFamily="34" charset="-122"/>
                <a:cs typeface="Consolas" pitchFamily="34" charset="-120"/>
              </a:rPr>
              <a:t>unauthorized</a:t>
            </a:r>
            <a:endParaRPr lang="en-US" sz="1100" dirty="0"/>
          </a:p>
        </p:txBody>
      </p:sp>
      <p:sp>
        <p:nvSpPr>
          <p:cNvPr id="17" name="Text 15"/>
          <p:cNvSpPr/>
          <p:nvPr/>
        </p:nvSpPr>
        <p:spPr>
          <a:xfrm>
            <a:off x="868680" y="3364992"/>
            <a:ext cx="1600200" cy="217424"/>
          </a:xfrm>
          <a:prstGeom prst="rect">
            <a:avLst/>
          </a:prstGeom>
          <a:noFill/>
          <a:ln/>
        </p:spPr>
        <p:txBody>
          <a:bodyPr wrap="square" lIns="0" tIns="0" rIns="0" bIns="0" rtlCol="0" anchor="t"/>
          <a:lstStyle/>
          <a:p>
            <a:pPr algn="l" indent="0" marL="0">
              <a:lnSpc>
                <a:spcPct val="125000"/>
              </a:lnSpc>
              <a:buNone/>
            </a:pPr>
            <a:r>
              <a:rPr lang="en-US" sz="1000" dirty="0">
                <a:solidFill>
                  <a:srgbClr val="68777D"/>
                </a:solidFill>
                <a:latin typeface="Consolas" pitchFamily="34" charset="0"/>
                <a:ea typeface="Consolas" pitchFamily="34" charset="-122"/>
                <a:cs typeface="Consolas" pitchFamily="34" charset="-120"/>
              </a:rPr>
              <a:t>routing</a:t>
            </a:r>
            <a:endParaRPr lang="en-US" sz="1000" dirty="0"/>
          </a:p>
        </p:txBody>
      </p:sp>
      <p:sp>
        <p:nvSpPr>
          <p:cNvPr id="18" name="Text 16"/>
          <p:cNvSpPr/>
          <p:nvPr/>
        </p:nvSpPr>
        <p:spPr>
          <a:xfrm>
            <a:off x="2487168" y="3364992"/>
            <a:ext cx="4663440" cy="233680"/>
          </a:xfrm>
          <a:prstGeom prst="rect">
            <a:avLst/>
          </a:prstGeom>
          <a:noFill/>
          <a:ln/>
        </p:spPr>
        <p:txBody>
          <a:bodyPr wrap="square" lIns="0" tIns="0" rIns="0" bIns="0" rtlCol="0" anchor="t"/>
          <a:lstStyle/>
          <a:p>
            <a:pPr algn="l" indent="0" marL="0">
              <a:lnSpc>
                <a:spcPct val="125000"/>
              </a:lnSpc>
              <a:buNone/>
            </a:pPr>
            <a:r>
              <a:rPr lang="en-US" sz="1100" dirty="0">
                <a:solidFill>
                  <a:srgbClr val="12262E"/>
                </a:solidFill>
                <a:latin typeface="Consolas" pitchFamily="34" charset="0"/>
                <a:ea typeface="Consolas" pitchFamily="34" charset="-122"/>
                <a:cs typeface="Consolas" pitchFamily="34" charset="-120"/>
              </a:rPr>
              <a:t>ready_for_review</a:t>
            </a:r>
            <a:endParaRPr lang="en-US" sz="1100" dirty="0"/>
          </a:p>
        </p:txBody>
      </p:sp>
      <p:sp>
        <p:nvSpPr>
          <p:cNvPr id="19" name="Text 17"/>
          <p:cNvSpPr/>
          <p:nvPr/>
        </p:nvSpPr>
        <p:spPr>
          <a:xfrm>
            <a:off x="868680" y="3694176"/>
            <a:ext cx="1600200" cy="217424"/>
          </a:xfrm>
          <a:prstGeom prst="rect">
            <a:avLst/>
          </a:prstGeom>
          <a:noFill/>
          <a:ln/>
        </p:spPr>
        <p:txBody>
          <a:bodyPr wrap="square" lIns="0" tIns="0" rIns="0" bIns="0" rtlCol="0" anchor="t"/>
          <a:lstStyle/>
          <a:p>
            <a:pPr algn="l" indent="0" marL="0">
              <a:lnSpc>
                <a:spcPct val="125000"/>
              </a:lnSpc>
              <a:buNone/>
            </a:pPr>
            <a:r>
              <a:rPr lang="en-US" sz="1000" dirty="0">
                <a:solidFill>
                  <a:srgbClr val="68777D"/>
                </a:solidFill>
                <a:latin typeface="Consolas" pitchFamily="34" charset="0"/>
                <a:ea typeface="Consolas" pitchFamily="34" charset="-122"/>
                <a:cs typeface="Consolas" pitchFamily="34" charset="-120"/>
              </a:rPr>
              <a:t>facts</a:t>
            </a:r>
            <a:endParaRPr lang="en-US" sz="1000" dirty="0"/>
          </a:p>
        </p:txBody>
      </p:sp>
      <p:sp>
        <p:nvSpPr>
          <p:cNvPr id="20" name="Text 18"/>
          <p:cNvSpPr/>
          <p:nvPr/>
        </p:nvSpPr>
        <p:spPr>
          <a:xfrm>
            <a:off x="2487168" y="3694176"/>
            <a:ext cx="4663440" cy="233680"/>
          </a:xfrm>
          <a:prstGeom prst="rect">
            <a:avLst/>
          </a:prstGeom>
          <a:noFill/>
          <a:ln/>
        </p:spPr>
        <p:txBody>
          <a:bodyPr wrap="square" lIns="0" tIns="0" rIns="0" bIns="0" rtlCol="0" anchor="t"/>
          <a:lstStyle/>
          <a:p>
            <a:pPr algn="l" indent="0" marL="0">
              <a:lnSpc>
                <a:spcPct val="125000"/>
              </a:lnSpc>
              <a:buNone/>
            </a:pPr>
            <a:r>
              <a:rPr lang="en-US" sz="1100" dirty="0">
                <a:solidFill>
                  <a:srgbClr val="12262E"/>
                </a:solidFill>
                <a:latin typeface="Consolas" pitchFamily="34" charset="0"/>
                <a:ea typeface="Consolas" pitchFamily="34" charset="-122"/>
                <a:cs typeface="Consolas" pitchFamily="34" charset="-120"/>
              </a:rPr>
              <a:t>TX-D01  ·  117 XCR  ·  2026-10-01</a:t>
            </a:r>
            <a:endParaRPr lang="en-US" sz="1100" dirty="0"/>
          </a:p>
        </p:txBody>
      </p:sp>
      <p:sp>
        <p:nvSpPr>
          <p:cNvPr id="21" name="Text 19"/>
          <p:cNvSpPr/>
          <p:nvPr/>
        </p:nvSpPr>
        <p:spPr>
          <a:xfrm>
            <a:off x="868680" y="4023360"/>
            <a:ext cx="1600200" cy="217424"/>
          </a:xfrm>
          <a:prstGeom prst="rect">
            <a:avLst/>
          </a:prstGeom>
          <a:noFill/>
          <a:ln/>
        </p:spPr>
        <p:txBody>
          <a:bodyPr wrap="square" lIns="0" tIns="0" rIns="0" bIns="0" rtlCol="0" anchor="t"/>
          <a:lstStyle/>
          <a:p>
            <a:pPr algn="l" indent="0" marL="0">
              <a:lnSpc>
                <a:spcPct val="125000"/>
              </a:lnSpc>
              <a:buNone/>
            </a:pPr>
            <a:r>
              <a:rPr lang="en-US" sz="1000" dirty="0">
                <a:solidFill>
                  <a:srgbClr val="68777D"/>
                </a:solidFill>
                <a:latin typeface="Consolas" pitchFamily="34" charset="0"/>
                <a:ea typeface="Consolas" pitchFamily="34" charset="-122"/>
                <a:cs typeface="Consolas" pitchFamily="34" charset="-120"/>
              </a:rPr>
              <a:t>policy_ids</a:t>
            </a:r>
            <a:endParaRPr lang="en-US" sz="1000" dirty="0"/>
          </a:p>
        </p:txBody>
      </p:sp>
      <p:sp>
        <p:nvSpPr>
          <p:cNvPr id="22" name="Text 20"/>
          <p:cNvSpPr/>
          <p:nvPr/>
        </p:nvSpPr>
        <p:spPr>
          <a:xfrm>
            <a:off x="2487168" y="4023360"/>
            <a:ext cx="4663440" cy="233680"/>
          </a:xfrm>
          <a:prstGeom prst="rect">
            <a:avLst/>
          </a:prstGeom>
          <a:noFill/>
          <a:ln/>
        </p:spPr>
        <p:txBody>
          <a:bodyPr wrap="square" lIns="0" tIns="0" rIns="0" bIns="0" rtlCol="0" anchor="t"/>
          <a:lstStyle/>
          <a:p>
            <a:pPr algn="l" indent="0" marL="0">
              <a:lnSpc>
                <a:spcPct val="125000"/>
              </a:lnSpc>
              <a:buNone/>
            </a:pPr>
            <a:r>
              <a:rPr lang="en-US" sz="1100" dirty="0">
                <a:solidFill>
                  <a:srgbClr val="12262E"/>
                </a:solidFill>
                <a:latin typeface="Consolas" pitchFamily="34" charset="0"/>
                <a:ea typeface="Consolas" pitchFamily="34" charset="-122"/>
                <a:cs typeface="Consolas" pitchFamily="34" charset="-120"/>
              </a:rPr>
              <a:t>CARD-POLICY-V2  ·  CARD-PROCEDURE-01</a:t>
            </a:r>
            <a:endParaRPr lang="en-US" sz="1100" dirty="0"/>
          </a:p>
        </p:txBody>
      </p:sp>
      <p:sp>
        <p:nvSpPr>
          <p:cNvPr id="23" name="Text 21"/>
          <p:cNvSpPr/>
          <p:nvPr/>
        </p:nvSpPr>
        <p:spPr>
          <a:xfrm>
            <a:off x="868680" y="4352544"/>
            <a:ext cx="1600200" cy="217424"/>
          </a:xfrm>
          <a:prstGeom prst="rect">
            <a:avLst/>
          </a:prstGeom>
          <a:noFill/>
          <a:ln/>
        </p:spPr>
        <p:txBody>
          <a:bodyPr wrap="square" lIns="0" tIns="0" rIns="0" bIns="0" rtlCol="0" anchor="t"/>
          <a:lstStyle/>
          <a:p>
            <a:pPr algn="l" indent="0" marL="0">
              <a:lnSpc>
                <a:spcPct val="125000"/>
              </a:lnSpc>
              <a:buNone/>
            </a:pPr>
            <a:r>
              <a:rPr lang="en-US" sz="1000" dirty="0">
                <a:solidFill>
                  <a:srgbClr val="68777D"/>
                </a:solidFill>
                <a:latin typeface="Consolas" pitchFamily="34" charset="0"/>
                <a:ea typeface="Consolas" pitchFamily="34" charset="-122"/>
                <a:cs typeface="Consolas" pitchFamily="34" charset="-120"/>
              </a:rPr>
              <a:t>deadline</a:t>
            </a:r>
            <a:endParaRPr lang="en-US" sz="1000" dirty="0"/>
          </a:p>
        </p:txBody>
      </p:sp>
      <p:sp>
        <p:nvSpPr>
          <p:cNvPr id="24" name="Text 22"/>
          <p:cNvSpPr/>
          <p:nvPr/>
        </p:nvSpPr>
        <p:spPr>
          <a:xfrm>
            <a:off x="2487168" y="4352544"/>
            <a:ext cx="4663440" cy="233680"/>
          </a:xfrm>
          <a:prstGeom prst="rect">
            <a:avLst/>
          </a:prstGeom>
          <a:noFill/>
          <a:ln/>
        </p:spPr>
        <p:txBody>
          <a:bodyPr wrap="square" lIns="0" tIns="0" rIns="0" bIns="0" rtlCol="0" anchor="t"/>
          <a:lstStyle/>
          <a:p>
            <a:pPr algn="l" indent="0" marL="0">
              <a:lnSpc>
                <a:spcPct val="125000"/>
              </a:lnSpc>
              <a:buNone/>
            </a:pPr>
            <a:r>
              <a:rPr lang="en-US" sz="1100" dirty="0">
                <a:solidFill>
                  <a:srgbClr val="12262E"/>
                </a:solidFill>
                <a:latin typeface="Consolas" pitchFamily="34" charset="0"/>
                <a:ea typeface="Consolas" pitchFamily="34" charset="-122"/>
                <a:cs typeface="Consolas" pitchFamily="34" charset="-120"/>
              </a:rPr>
              <a:t>2026-10-31</a:t>
            </a:r>
            <a:endParaRPr lang="en-US" sz="1100" dirty="0"/>
          </a:p>
        </p:txBody>
      </p:sp>
      <p:sp>
        <p:nvSpPr>
          <p:cNvPr id="25" name="Text 23"/>
          <p:cNvSpPr/>
          <p:nvPr/>
        </p:nvSpPr>
        <p:spPr>
          <a:xfrm>
            <a:off x="868680" y="4681728"/>
            <a:ext cx="1600200" cy="217424"/>
          </a:xfrm>
          <a:prstGeom prst="rect">
            <a:avLst/>
          </a:prstGeom>
          <a:noFill/>
          <a:ln/>
        </p:spPr>
        <p:txBody>
          <a:bodyPr wrap="square" lIns="0" tIns="0" rIns="0" bIns="0" rtlCol="0" anchor="t"/>
          <a:lstStyle/>
          <a:p>
            <a:pPr algn="l" indent="0" marL="0">
              <a:lnSpc>
                <a:spcPct val="125000"/>
              </a:lnSpc>
              <a:buNone/>
            </a:pPr>
            <a:r>
              <a:rPr lang="en-US" sz="1000" dirty="0">
                <a:solidFill>
                  <a:srgbClr val="68777D"/>
                </a:solidFill>
                <a:latin typeface="Consolas" pitchFamily="34" charset="0"/>
                <a:ea typeface="Consolas" pitchFamily="34" charset="-122"/>
                <a:cs typeface="Consolas" pitchFamily="34" charset="-120"/>
              </a:rPr>
              <a:t>citations</a:t>
            </a:r>
            <a:endParaRPr lang="en-US" sz="1000" dirty="0"/>
          </a:p>
        </p:txBody>
      </p:sp>
      <p:sp>
        <p:nvSpPr>
          <p:cNvPr id="26" name="Text 24"/>
          <p:cNvSpPr/>
          <p:nvPr/>
        </p:nvSpPr>
        <p:spPr>
          <a:xfrm>
            <a:off x="2487168" y="4681728"/>
            <a:ext cx="4663440" cy="233680"/>
          </a:xfrm>
          <a:prstGeom prst="rect">
            <a:avLst/>
          </a:prstGeom>
          <a:noFill/>
          <a:ln/>
        </p:spPr>
        <p:txBody>
          <a:bodyPr wrap="square" lIns="0" tIns="0" rIns="0" bIns="0" rtlCol="0" anchor="t"/>
          <a:lstStyle/>
          <a:p>
            <a:pPr algn="l" indent="0" marL="0">
              <a:lnSpc>
                <a:spcPct val="125000"/>
              </a:lnSpc>
              <a:buNone/>
            </a:pPr>
            <a:r>
              <a:rPr lang="en-US" sz="1100" dirty="0">
                <a:solidFill>
                  <a:srgbClr val="12262E"/>
                </a:solidFill>
                <a:latin typeface="Consolas" pitchFamily="34" charset="0"/>
                <a:ea typeface="Consolas" pitchFamily="34" charset="-122"/>
                <a:cs typeface="Consolas" pitchFamily="34" charset="-120"/>
              </a:rPr>
              <a:t>6 claims from 5 sources</a:t>
            </a:r>
            <a:endParaRPr lang="en-US" sz="1100" dirty="0"/>
          </a:p>
        </p:txBody>
      </p:sp>
      <p:sp>
        <p:nvSpPr>
          <p:cNvPr id="27" name="Shape 25"/>
          <p:cNvSpPr/>
          <p:nvPr/>
        </p:nvSpPr>
        <p:spPr>
          <a:xfrm>
            <a:off x="868680" y="5138928"/>
            <a:ext cx="6309360" cy="0"/>
          </a:xfrm>
          <a:prstGeom prst="line">
            <a:avLst/>
          </a:prstGeom>
          <a:noFill/>
          <a:ln w="9525">
            <a:solidFill>
              <a:srgbClr val="E2DDD2"/>
            </a:solidFill>
            <a:prstDash val="solid"/>
          </a:ln>
        </p:spPr>
      </p:sp>
      <p:sp>
        <p:nvSpPr>
          <p:cNvPr id="28" name="Text 26"/>
          <p:cNvSpPr/>
          <p:nvPr/>
        </p:nvSpPr>
        <p:spPr>
          <a:xfrm>
            <a:off x="868680" y="5230368"/>
            <a:ext cx="6309360" cy="217424"/>
          </a:xfrm>
          <a:prstGeom prst="rect">
            <a:avLst/>
          </a:prstGeom>
          <a:noFill/>
          <a:ln/>
        </p:spPr>
        <p:txBody>
          <a:bodyPr wrap="square" lIns="0" tIns="0" rIns="0" bIns="0" rtlCol="0" anchor="t"/>
          <a:lstStyle/>
          <a:p>
            <a:pPr algn="l" indent="0" marL="0">
              <a:lnSpc>
                <a:spcPct val="125000"/>
              </a:lnSpc>
              <a:buNone/>
            </a:pPr>
            <a:r>
              <a:rPr lang="en-US" sz="1000" dirty="0">
                <a:solidFill>
                  <a:srgbClr val="2B454F"/>
                </a:solidFill>
                <a:latin typeface="Consolas" pitchFamily="34" charset="0"/>
                <a:ea typeface="Consolas" pitchFamily="34" charset="-122"/>
                <a:cs typeface="Consolas" pitchFamily="34" charset="-120"/>
              </a:rPr>
              <a:t>citation[0]  claim customer_evidence  source intake</a:t>
            </a:r>
            <a:endParaRPr lang="en-US" sz="1000" dirty="0"/>
          </a:p>
        </p:txBody>
      </p:sp>
      <p:sp>
        <p:nvSpPr>
          <p:cNvPr id="29" name="Text 27"/>
          <p:cNvSpPr/>
          <p:nvPr/>
        </p:nvSpPr>
        <p:spPr>
          <a:xfrm>
            <a:off x="868680" y="5449824"/>
            <a:ext cx="6309360" cy="217424"/>
          </a:xfrm>
          <a:prstGeom prst="rect">
            <a:avLst/>
          </a:prstGeom>
          <a:noFill/>
          <a:ln/>
        </p:spPr>
        <p:txBody>
          <a:bodyPr wrap="square" lIns="0" tIns="0" rIns="0" bIns="0" rtlCol="0" anchor="t"/>
          <a:lstStyle/>
          <a:p>
            <a:pPr algn="l" indent="0" marL="0">
              <a:lnSpc>
                <a:spcPct val="125000"/>
              </a:lnSpc>
              <a:buNone/>
            </a:pPr>
            <a:r>
              <a:rPr lang="en-US" sz="1000" dirty="0">
                <a:solidFill>
                  <a:srgbClr val="2B454F"/>
                </a:solidFill>
                <a:latin typeface="Consolas" pitchFamily="34" charset="0"/>
                <a:ea typeface="Consolas" pitchFamily="34" charset="-122"/>
                <a:cs typeface="Consolas" pitchFamily="34" charset="-120"/>
              </a:rPr>
              <a:t>citation[3]  claim transaction_record  source transactions</a:t>
            </a:r>
            <a:endParaRPr lang="en-US" sz="1000" dirty="0"/>
          </a:p>
        </p:txBody>
      </p:sp>
      <p:sp>
        <p:nvSpPr>
          <p:cNvPr id="30" name="Text 28"/>
          <p:cNvSpPr/>
          <p:nvPr/>
        </p:nvSpPr>
        <p:spPr>
          <a:xfrm>
            <a:off x="7818120" y="2286000"/>
            <a:ext cx="365760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0D6F6A"/>
                </a:solidFill>
                <a:latin typeface="Consolas" pitchFamily="34" charset="0"/>
                <a:ea typeface="Consolas" pitchFamily="34" charset="-122"/>
                <a:cs typeface="Consolas" pitchFamily="34" charset="-120"/>
              </a:rPr>
              <a:t>ONE GATE</a:t>
            </a:r>
            <a:endParaRPr lang="en-US" sz="1000" dirty="0"/>
          </a:p>
        </p:txBody>
      </p:sp>
      <p:sp>
        <p:nvSpPr>
          <p:cNvPr id="31" name="Text 29"/>
          <p:cNvSpPr/>
          <p:nvPr/>
        </p:nvSpPr>
        <p:spPr>
          <a:xfrm>
            <a:off x="7818120" y="2468880"/>
            <a:ext cx="3749040" cy="310896"/>
          </a:xfrm>
          <a:prstGeom prst="rect">
            <a:avLst/>
          </a:prstGeom>
          <a:noFill/>
          <a:ln/>
        </p:spPr>
        <p:txBody>
          <a:bodyPr wrap="square" lIns="0" tIns="0" rIns="0" bIns="0" rtlCol="0" anchor="t"/>
          <a:lstStyle/>
          <a:p>
            <a:pPr algn="l" indent="0" marL="0">
              <a:lnSpc>
                <a:spcPct val="122000"/>
              </a:lnSpc>
              <a:buNone/>
            </a:pPr>
            <a:r>
              <a:rPr lang="en-US" sz="1800" dirty="0">
                <a:solidFill>
                  <a:srgbClr val="12262E"/>
                </a:solidFill>
                <a:latin typeface="Georgia" pitchFamily="34" charset="0"/>
                <a:ea typeface="Georgia" pitchFamily="34" charset="-122"/>
                <a:cs typeface="Georgia" pitchFamily="34" charset="-120"/>
              </a:rPr>
              <a:t>sha256 of the draft</a:t>
            </a:r>
            <a:endParaRPr lang="en-US" sz="1800" dirty="0"/>
          </a:p>
        </p:txBody>
      </p:sp>
      <p:sp>
        <p:nvSpPr>
          <p:cNvPr id="32" name="Text 30"/>
          <p:cNvSpPr/>
          <p:nvPr/>
        </p:nvSpPr>
        <p:spPr>
          <a:xfrm>
            <a:off x="7818120" y="2798064"/>
            <a:ext cx="3749040" cy="217424"/>
          </a:xfrm>
          <a:prstGeom prst="rect">
            <a:avLst/>
          </a:prstGeom>
          <a:noFill/>
          <a:ln/>
        </p:spPr>
        <p:txBody>
          <a:bodyPr wrap="square" lIns="0" tIns="0" rIns="0" bIns="0" rtlCol="0" anchor="t"/>
          <a:lstStyle/>
          <a:p>
            <a:pPr algn="l" indent="0" marL="0">
              <a:lnSpc>
                <a:spcPct val="125000"/>
              </a:lnSpc>
              <a:buNone/>
            </a:pPr>
            <a:r>
              <a:rPr lang="en-US" sz="1000" dirty="0">
                <a:solidFill>
                  <a:srgbClr val="2B454F"/>
                </a:solidFill>
                <a:latin typeface="Consolas" pitchFamily="34" charset="0"/>
                <a:ea typeface="Consolas" pitchFamily="34" charset="-122"/>
                <a:cs typeface="Consolas" pitchFamily="34" charset="-120"/>
              </a:rPr>
              <a:t>af65f686...ebd4</a:t>
            </a:r>
            <a:endParaRPr lang="en-US" sz="1000" dirty="0"/>
          </a:p>
        </p:txBody>
      </p:sp>
      <p:sp>
        <p:nvSpPr>
          <p:cNvPr id="33" name="Text 31"/>
          <p:cNvSpPr/>
          <p:nvPr/>
        </p:nvSpPr>
        <p:spPr>
          <a:xfrm>
            <a:off x="7818120" y="3182112"/>
            <a:ext cx="3749040" cy="310896"/>
          </a:xfrm>
          <a:prstGeom prst="rect">
            <a:avLst/>
          </a:prstGeom>
          <a:noFill/>
          <a:ln/>
        </p:spPr>
        <p:txBody>
          <a:bodyPr wrap="square" lIns="0" tIns="0" rIns="0" bIns="0" rtlCol="0" anchor="t"/>
          <a:lstStyle/>
          <a:p>
            <a:pPr algn="l" indent="0" marL="0">
              <a:lnSpc>
                <a:spcPct val="122000"/>
              </a:lnSpc>
              <a:buNone/>
            </a:pPr>
            <a:r>
              <a:rPr lang="en-US" sz="1800" dirty="0">
                <a:solidFill>
                  <a:srgbClr val="12262E"/>
                </a:solidFill>
                <a:latin typeface="Georgia" pitchFamily="34" charset="0"/>
                <a:ea typeface="Georgia" pitchFamily="34" charset="-122"/>
                <a:cs typeface="Georgia" pitchFamily="34" charset="-120"/>
              </a:rPr>
              <a:t>A human approves</a:t>
            </a:r>
            <a:endParaRPr lang="en-US" sz="1800" dirty="0"/>
          </a:p>
        </p:txBody>
      </p:sp>
      <p:sp>
        <p:nvSpPr>
          <p:cNvPr id="34" name="Text 32"/>
          <p:cNvSpPr/>
          <p:nvPr/>
        </p:nvSpPr>
        <p:spPr>
          <a:xfrm>
            <a:off x="7818120" y="3511296"/>
            <a:ext cx="3749040" cy="217424"/>
          </a:xfrm>
          <a:prstGeom prst="rect">
            <a:avLst/>
          </a:prstGeom>
          <a:noFill/>
          <a:ln/>
        </p:spPr>
        <p:txBody>
          <a:bodyPr wrap="square" lIns="0" tIns="0" rIns="0" bIns="0" rtlCol="0" anchor="t"/>
          <a:lstStyle/>
          <a:p>
            <a:pPr algn="l" indent="0" marL="0">
              <a:lnSpc>
                <a:spcPct val="125000"/>
              </a:lnSpc>
              <a:buNone/>
            </a:pPr>
            <a:r>
              <a:rPr lang="en-US" sz="1000" dirty="0">
                <a:solidFill>
                  <a:srgbClr val="2B454F"/>
                </a:solidFill>
                <a:latin typeface="Consolas" pitchFamily="34" charset="0"/>
                <a:ea typeface="Consolas" pitchFamily="34" charset="-122"/>
                <a:cs typeface="Consolas" pitchFamily="34" charset="-120"/>
              </a:rPr>
              <a:t>201 pending review</a:t>
            </a:r>
            <a:endParaRPr lang="en-US" sz="1000" dirty="0"/>
          </a:p>
        </p:txBody>
      </p:sp>
      <p:sp>
        <p:nvSpPr>
          <p:cNvPr id="35" name="Text 33"/>
          <p:cNvSpPr/>
          <p:nvPr/>
        </p:nvSpPr>
        <p:spPr>
          <a:xfrm>
            <a:off x="7818120" y="3895344"/>
            <a:ext cx="3749040" cy="310896"/>
          </a:xfrm>
          <a:prstGeom prst="rect">
            <a:avLst/>
          </a:prstGeom>
          <a:noFill/>
          <a:ln/>
        </p:spPr>
        <p:txBody>
          <a:bodyPr wrap="square" lIns="0" tIns="0" rIns="0" bIns="0" rtlCol="0" anchor="t"/>
          <a:lstStyle/>
          <a:p>
            <a:pPr algn="l" indent="0" marL="0">
              <a:lnSpc>
                <a:spcPct val="122000"/>
              </a:lnSpc>
              <a:buNone/>
            </a:pPr>
            <a:r>
              <a:rPr lang="en-US" sz="1800" dirty="0">
                <a:solidFill>
                  <a:srgbClr val="12262E"/>
                </a:solidFill>
                <a:latin typeface="Georgia" pitchFamily="34" charset="0"/>
                <a:ea typeface="Georgia" pitchFamily="34" charset="-122"/>
                <a:cs typeface="Georgia" pitchFamily="34" charset="-120"/>
              </a:rPr>
              <a:t>One record or none</a:t>
            </a:r>
            <a:endParaRPr lang="en-US" sz="1800" dirty="0"/>
          </a:p>
        </p:txBody>
      </p:sp>
      <p:sp>
        <p:nvSpPr>
          <p:cNvPr id="36" name="Text 34"/>
          <p:cNvSpPr/>
          <p:nvPr/>
        </p:nvSpPr>
        <p:spPr>
          <a:xfrm>
            <a:off x="7818120" y="4224528"/>
            <a:ext cx="3749040" cy="217424"/>
          </a:xfrm>
          <a:prstGeom prst="rect">
            <a:avLst/>
          </a:prstGeom>
          <a:noFill/>
          <a:ln/>
        </p:spPr>
        <p:txBody>
          <a:bodyPr wrap="square" lIns="0" tIns="0" rIns="0" bIns="0" rtlCol="0" anchor="t"/>
          <a:lstStyle/>
          <a:p>
            <a:pPr algn="l" indent="0" marL="0">
              <a:lnSpc>
                <a:spcPct val="125000"/>
              </a:lnSpc>
              <a:buNone/>
            </a:pPr>
            <a:r>
              <a:rPr lang="en-US" sz="1000" dirty="0">
                <a:solidFill>
                  <a:srgbClr val="2B454F"/>
                </a:solidFill>
                <a:latin typeface="Consolas" pitchFamily="34" charset="0"/>
                <a:ea typeface="Consolas" pitchFamily="34" charset="-122"/>
                <a:cs typeface="Consolas" pitchFamily="34" charset="-120"/>
              </a:rPr>
              <a:t>changed draft: refused, no write</a:t>
            </a:r>
            <a:endParaRPr lang="en-US" sz="1000" dirty="0"/>
          </a:p>
        </p:txBody>
      </p:sp>
      <p:sp>
        <p:nvSpPr>
          <p:cNvPr id="37" name="Text 35"/>
          <p:cNvSpPr/>
          <p:nvPr/>
        </p:nvSpPr>
        <p:spPr>
          <a:xfrm>
            <a:off x="7818120" y="4443984"/>
            <a:ext cx="3749040" cy="217424"/>
          </a:xfrm>
          <a:prstGeom prst="rect">
            <a:avLst/>
          </a:prstGeom>
          <a:noFill/>
          <a:ln/>
        </p:spPr>
        <p:txBody>
          <a:bodyPr wrap="square" lIns="0" tIns="0" rIns="0" bIns="0" rtlCol="0" anchor="t"/>
          <a:lstStyle/>
          <a:p>
            <a:pPr algn="l" indent="0" marL="0">
              <a:lnSpc>
                <a:spcPct val="125000"/>
              </a:lnSpc>
              <a:buNone/>
            </a:pPr>
            <a:r>
              <a:rPr lang="en-US" sz="1000" dirty="0">
                <a:solidFill>
                  <a:srgbClr val="2B454F"/>
                </a:solidFill>
                <a:latin typeface="Consolas" pitchFamily="34" charset="0"/>
                <a:ea typeface="Consolas" pitchFamily="34" charset="-122"/>
                <a:cs typeface="Consolas" pitchFamily="34" charset="-120"/>
              </a:rPr>
              <a:t>409 duplicate_case</a:t>
            </a:r>
            <a:endParaRPr lang="en-US" sz="1000" dirty="0"/>
          </a:p>
        </p:txBody>
      </p:sp>
      <p:sp>
        <p:nvSpPr>
          <p:cNvPr id="38" name="Text 36"/>
          <p:cNvSpPr/>
          <p:nvPr/>
        </p:nvSpPr>
        <p:spPr>
          <a:xfrm>
            <a:off x="566928" y="5989320"/>
            <a:ext cx="11055096" cy="274320"/>
          </a:xfrm>
          <a:prstGeom prst="rect">
            <a:avLst/>
          </a:prstGeom>
          <a:noFill/>
          <a:ln/>
        </p:spPr>
        <p:txBody>
          <a:bodyPr wrap="square" lIns="0" tIns="0" rIns="0" bIns="0" rtlCol="0" anchor="t"/>
          <a:lstStyle/>
          <a:p>
            <a:pPr algn="l" indent="0" marL="0">
              <a:lnSpc>
                <a:spcPct val="122000"/>
              </a:lnSpc>
              <a:buNone/>
            </a:pPr>
            <a:r>
              <a:rPr lang="en-US" sz="1350" dirty="0">
                <a:solidFill>
                  <a:srgbClr val="2B454F"/>
                </a:solidFill>
                <a:latin typeface="Segoe UI" pitchFamily="34" charset="0"/>
                <a:ea typeface="Segoe UI" pitchFamily="34" charset="-122"/>
                <a:cs typeface="Segoe UI" pitchFamily="34" charset="-120"/>
              </a:rPr>
              <a:t>A stop is an outcome, not an error: the contract prints the reason and no record is written.</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566928" y="566928"/>
            <a:ext cx="11057839" cy="0"/>
          </a:xfrm>
          <a:prstGeom prst="line">
            <a:avLst/>
          </a:prstGeom>
          <a:noFill/>
          <a:ln w="12700">
            <a:solidFill>
              <a:srgbClr val="D3CDC0"/>
            </a:solidFill>
            <a:prstDash val="solid"/>
          </a:ln>
        </p:spPr>
      </p:sp>
      <p:sp>
        <p:nvSpPr>
          <p:cNvPr id="3" name="Text 1"/>
          <p:cNvSpPr/>
          <p:nvPr/>
        </p:nvSpPr>
        <p:spPr>
          <a:xfrm>
            <a:off x="566928" y="347472"/>
            <a:ext cx="5486400" cy="201168"/>
          </a:xfrm>
          <a:prstGeom prst="rect">
            <a:avLst/>
          </a:prstGeom>
          <a:noFill/>
          <a:ln/>
        </p:spPr>
        <p:txBody>
          <a:bodyPr wrap="square" lIns="0" tIns="0" rIns="0" bIns="0" rtlCol="0" anchor="ctr"/>
          <a:lstStyle/>
          <a:p>
            <a:pPr indent="0" marL="0">
              <a:lnSpc>
                <a:spcPct val="118000"/>
              </a:lnSpc>
              <a:buNone/>
            </a:pPr>
            <a:r>
              <a:rPr lang="en-US" sz="1000" spc="120" kern="0" dirty="0">
                <a:solidFill>
                  <a:srgbClr val="0D6F6A"/>
                </a:solidFill>
                <a:latin typeface="Consolas" pitchFamily="34" charset="0"/>
                <a:ea typeface="Consolas" pitchFamily="34" charset="-122"/>
                <a:cs typeface="Consolas" pitchFamily="34" charset="-120"/>
              </a:rPr>
              <a:t>03 · DEMO</a:t>
            </a:r>
            <a:endParaRPr lang="en-US" sz="1000" dirty="0"/>
          </a:p>
        </p:txBody>
      </p:sp>
      <p:sp>
        <p:nvSpPr>
          <p:cNvPr id="4" name="Text 2"/>
          <p:cNvSpPr/>
          <p:nvPr/>
        </p:nvSpPr>
        <p:spPr>
          <a:xfrm>
            <a:off x="7052767" y="347472"/>
            <a:ext cx="4572000" cy="201168"/>
          </a:xfrm>
          <a:prstGeom prst="rect">
            <a:avLst/>
          </a:prstGeom>
          <a:noFill/>
          <a:ln/>
        </p:spPr>
        <p:txBody>
          <a:bodyPr wrap="square" lIns="0" tIns="0" rIns="0" bIns="0" rtlCol="0" anchor="ctr"/>
          <a:lstStyle/>
          <a:p>
            <a:pPr algn="r" indent="0" marL="0">
              <a:lnSpc>
                <a:spcPct val="118000"/>
              </a:lnSpc>
              <a:buNone/>
            </a:pPr>
            <a:r>
              <a:rPr lang="en-US" sz="1000" spc="120" kern="0" dirty="0">
                <a:solidFill>
                  <a:srgbClr val="68777D"/>
                </a:solidFill>
                <a:latin typeface="Consolas" pitchFamily="34" charset="0"/>
                <a:ea typeface="Consolas" pitchFamily="34" charset="-122"/>
                <a:cs typeface="Consolas" pitchFamily="34" charset="-120"/>
              </a:rPr>
              <a:t>LUMEN BANK · DISPUTE COPILOT</a:t>
            </a:r>
            <a:endParaRPr lang="en-US" sz="1000" dirty="0"/>
          </a:p>
        </p:txBody>
      </p:sp>
      <p:sp>
        <p:nvSpPr>
          <p:cNvPr id="5" name="Shape 3"/>
          <p:cNvSpPr/>
          <p:nvPr/>
        </p:nvSpPr>
        <p:spPr>
          <a:xfrm>
            <a:off x="566928" y="6382512"/>
            <a:ext cx="11057839" cy="0"/>
          </a:xfrm>
          <a:prstGeom prst="line">
            <a:avLst/>
          </a:prstGeom>
          <a:noFill/>
          <a:ln w="9525">
            <a:solidFill>
              <a:srgbClr val="E2DDD2"/>
            </a:solidFill>
            <a:prstDash val="solid"/>
          </a:ln>
        </p:spPr>
      </p:sp>
      <p:sp>
        <p:nvSpPr>
          <p:cNvPr id="6" name="Text 4"/>
          <p:cNvSpPr/>
          <p:nvPr/>
        </p:nvSpPr>
        <p:spPr>
          <a:xfrm>
            <a:off x="566928" y="6473952"/>
            <a:ext cx="5486400" cy="219456"/>
          </a:xfrm>
          <a:prstGeom prst="rect">
            <a:avLst/>
          </a:prstGeom>
          <a:noFill/>
          <a:ln/>
        </p:spPr>
        <p:txBody>
          <a:bodyPr wrap="square" lIns="0" tIns="0" rIns="0" bIns="0" rtlCol="0" anchor="t"/>
          <a:lstStyle/>
          <a:p>
            <a:pPr indent="0" marL="0">
              <a:lnSpc>
                <a:spcPct val="118000"/>
              </a:lnSpc>
              <a:buNone/>
            </a:pPr>
            <a:r>
              <a:rPr lang="en-US" sz="1000" dirty="0">
                <a:solidFill>
                  <a:srgbClr val="68777D"/>
                </a:solidFill>
                <a:latin typeface="Consolas" pitchFamily="34" charset="0"/>
                <a:ea typeface="Consolas" pitchFamily="34" charset="-122"/>
                <a:cs typeface="Consolas" pitchFamily="34" charset="-120"/>
              </a:rPr>
              <a:t>Final demo and technical defense · 29 October 2026</a:t>
            </a:r>
            <a:endParaRPr lang="en-US" sz="1000" dirty="0"/>
          </a:p>
        </p:txBody>
      </p:sp>
      <p:sp>
        <p:nvSpPr>
          <p:cNvPr id="7" name="Text 5"/>
          <p:cNvSpPr/>
          <p:nvPr/>
        </p:nvSpPr>
        <p:spPr>
          <a:xfrm>
            <a:off x="9338767" y="6473952"/>
            <a:ext cx="2286000" cy="219456"/>
          </a:xfrm>
          <a:prstGeom prst="rect">
            <a:avLst/>
          </a:prstGeom>
          <a:noFill/>
          <a:ln/>
        </p:spPr>
        <p:txBody>
          <a:bodyPr wrap="square" lIns="0" tIns="0" rIns="0" bIns="0" rtlCol="0" anchor="t"/>
          <a:lstStyle/>
          <a:p>
            <a:pPr algn="r" indent="0" marL="0">
              <a:lnSpc>
                <a:spcPct val="118000"/>
              </a:lnSpc>
              <a:buNone/>
            </a:pPr>
            <a:r>
              <a:rPr lang="en-US" sz="1000" dirty="0">
                <a:solidFill>
                  <a:srgbClr val="68777D"/>
                </a:solidFill>
                <a:latin typeface="Consolas" pitchFamily="34" charset="0"/>
                <a:ea typeface="Consolas" pitchFamily="34" charset="-122"/>
                <a:cs typeface="Consolas" pitchFamily="34" charset="-120"/>
              </a:rPr>
              <a:t>[ 04 / 16 ]</a:t>
            </a:r>
            <a:endParaRPr lang="en-US" sz="1000" dirty="0"/>
          </a:p>
        </p:txBody>
      </p:sp>
      <p:sp>
        <p:nvSpPr>
          <p:cNvPr id="8" name="Text 6"/>
          <p:cNvSpPr/>
          <p:nvPr/>
        </p:nvSpPr>
        <p:spPr>
          <a:xfrm>
            <a:off x="566928" y="1005840"/>
            <a:ext cx="10972800" cy="640080"/>
          </a:xfrm>
          <a:prstGeom prst="rect">
            <a:avLst/>
          </a:prstGeom>
          <a:noFill/>
          <a:ln/>
        </p:spPr>
        <p:txBody>
          <a:bodyPr wrap="square" lIns="0" tIns="0" rIns="0" bIns="0" rtlCol="0" anchor="t"/>
          <a:lstStyle/>
          <a:p>
            <a:pPr indent="0" marL="0">
              <a:lnSpc>
                <a:spcPct val="98000"/>
              </a:lnSpc>
              <a:buNone/>
            </a:pPr>
            <a:r>
              <a:rPr lang="en-US" sz="3400" dirty="0">
                <a:solidFill>
                  <a:srgbClr val="12262E"/>
                </a:solidFill>
                <a:latin typeface="Georgia" pitchFamily="34" charset="0"/>
                <a:ea typeface="Georgia" pitchFamily="34" charset="-122"/>
                <a:cs typeface="Georgia" pitchFamily="34" charset="-120"/>
              </a:rPr>
              <a:t>Five complaints. Five ways it can go wrong.</a:t>
            </a:r>
            <a:endParaRPr lang="en-US" sz="3400" dirty="0"/>
          </a:p>
        </p:txBody>
      </p:sp>
      <p:sp>
        <p:nvSpPr>
          <p:cNvPr id="9" name="Text 7"/>
          <p:cNvSpPr/>
          <p:nvPr/>
        </p:nvSpPr>
        <p:spPr>
          <a:xfrm>
            <a:off x="566928" y="1719072"/>
            <a:ext cx="10972800" cy="298704"/>
          </a:xfrm>
          <a:prstGeom prst="rect">
            <a:avLst/>
          </a:prstGeom>
          <a:noFill/>
          <a:ln/>
        </p:spPr>
        <p:txBody>
          <a:bodyPr wrap="square" lIns="0" tIns="0" rIns="0" bIns="0" rtlCol="0" anchor="t"/>
          <a:lstStyle/>
          <a:p>
            <a:pPr algn="l" indent="0" marL="0">
              <a:lnSpc>
                <a:spcPct val="122000"/>
              </a:lnSpc>
              <a:buNone/>
            </a:pPr>
            <a:r>
              <a:rPr lang="en-US" sz="1500" dirty="0">
                <a:solidFill>
                  <a:srgbClr val="12262E"/>
                </a:solidFill>
                <a:latin typeface="Segoe UI" pitchFamily="34" charset="0"/>
                <a:ea typeface="Segoe UI" pitchFamily="34" charset="-122"/>
                <a:cs typeface="Segoe UI" pitchFamily="34" charset="-120"/>
              </a:rPr>
              <a:t>Each row is a case you can run in the terminal. Every row now passes on main.</a:t>
            </a:r>
            <a:endParaRPr lang="en-US" sz="1500" dirty="0"/>
          </a:p>
        </p:txBody>
      </p:sp>
      <p:sp>
        <p:nvSpPr>
          <p:cNvPr id="10" name="Text 8"/>
          <p:cNvSpPr/>
          <p:nvPr/>
        </p:nvSpPr>
        <p:spPr>
          <a:xfrm>
            <a:off x="566928" y="2103120"/>
            <a:ext cx="91440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68777D"/>
                </a:solidFill>
                <a:latin typeface="Consolas" pitchFamily="34" charset="0"/>
                <a:ea typeface="Consolas" pitchFamily="34" charset="-122"/>
                <a:cs typeface="Consolas" pitchFamily="34" charset="-120"/>
              </a:rPr>
              <a:t>CASE</a:t>
            </a:r>
            <a:endParaRPr lang="en-US" sz="1000" dirty="0"/>
          </a:p>
        </p:txBody>
      </p:sp>
      <p:sp>
        <p:nvSpPr>
          <p:cNvPr id="11" name="Text 9"/>
          <p:cNvSpPr/>
          <p:nvPr/>
        </p:nvSpPr>
        <p:spPr>
          <a:xfrm>
            <a:off x="1572768" y="2103120"/>
            <a:ext cx="265176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68777D"/>
                </a:solidFill>
                <a:latin typeface="Consolas" pitchFamily="34" charset="0"/>
                <a:ea typeface="Consolas" pitchFamily="34" charset="-122"/>
                <a:cs typeface="Consolas" pitchFamily="34" charset="-120"/>
              </a:rPr>
              <a:t>WHAT IT SHOULD DO</a:t>
            </a:r>
            <a:endParaRPr lang="en-US" sz="1000" dirty="0"/>
          </a:p>
        </p:txBody>
      </p:sp>
      <p:sp>
        <p:nvSpPr>
          <p:cNvPr id="12" name="Text 10"/>
          <p:cNvSpPr/>
          <p:nvPr/>
        </p:nvSpPr>
        <p:spPr>
          <a:xfrm>
            <a:off x="4343400" y="2103120"/>
            <a:ext cx="457200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68777D"/>
                </a:solidFill>
                <a:latin typeface="Consolas" pitchFamily="34" charset="0"/>
                <a:ea typeface="Consolas" pitchFamily="34" charset="-122"/>
                <a:cs typeface="Consolas" pitchFamily="34" charset="-120"/>
              </a:rPr>
              <a:t>WHAT YOU SEE</a:t>
            </a:r>
            <a:endParaRPr lang="en-US" sz="1000" dirty="0"/>
          </a:p>
        </p:txBody>
      </p:sp>
      <p:sp>
        <p:nvSpPr>
          <p:cNvPr id="13" name="Text 11"/>
          <p:cNvSpPr/>
          <p:nvPr/>
        </p:nvSpPr>
        <p:spPr>
          <a:xfrm>
            <a:off x="9692640" y="2103120"/>
            <a:ext cx="1929384" cy="217424"/>
          </a:xfrm>
          <a:prstGeom prst="rect">
            <a:avLst/>
          </a:prstGeom>
          <a:noFill/>
          <a:ln/>
        </p:spPr>
        <p:txBody>
          <a:bodyPr wrap="square" lIns="0" tIns="0" rIns="0" bIns="0" rtlCol="0" anchor="t"/>
          <a:lstStyle/>
          <a:p>
            <a:pPr algn="r" indent="0" marL="0">
              <a:lnSpc>
                <a:spcPct val="125000"/>
              </a:lnSpc>
              <a:buNone/>
            </a:pPr>
            <a:r>
              <a:rPr lang="en-US" sz="1000" spc="120" kern="0" dirty="0">
                <a:solidFill>
                  <a:srgbClr val="68777D"/>
                </a:solidFill>
                <a:latin typeface="Consolas" pitchFamily="34" charset="0"/>
                <a:ea typeface="Consolas" pitchFamily="34" charset="-122"/>
                <a:cs typeface="Consolas" pitchFamily="34" charset="-120"/>
              </a:rPr>
              <a:t>STATUS</a:t>
            </a:r>
            <a:endParaRPr lang="en-US" sz="1000" dirty="0"/>
          </a:p>
        </p:txBody>
      </p:sp>
      <p:sp>
        <p:nvSpPr>
          <p:cNvPr id="14" name="Shape 12"/>
          <p:cNvSpPr/>
          <p:nvPr/>
        </p:nvSpPr>
        <p:spPr>
          <a:xfrm>
            <a:off x="566928" y="2395728"/>
            <a:ext cx="11055096" cy="0"/>
          </a:xfrm>
          <a:prstGeom prst="line">
            <a:avLst/>
          </a:prstGeom>
          <a:noFill/>
          <a:ln w="9525">
            <a:solidFill>
              <a:srgbClr val="E2DDD2"/>
            </a:solidFill>
            <a:prstDash val="solid"/>
          </a:ln>
        </p:spPr>
      </p:sp>
      <p:sp>
        <p:nvSpPr>
          <p:cNvPr id="15" name="Shape 13"/>
          <p:cNvSpPr/>
          <p:nvPr/>
        </p:nvSpPr>
        <p:spPr>
          <a:xfrm>
            <a:off x="566928" y="2560320"/>
            <a:ext cx="841248" cy="246888"/>
          </a:xfrm>
          <a:prstGeom prst="roundRect">
            <a:avLst>
              <a:gd name="adj" fmla="val 11111"/>
            </a:avLst>
          </a:prstGeom>
          <a:solidFill>
            <a:srgbClr val="F3EFE6"/>
          </a:solidFill>
          <a:ln w="9525">
            <a:solidFill>
              <a:srgbClr val="D3CDC0"/>
            </a:solidFill>
            <a:prstDash val="solid"/>
          </a:ln>
        </p:spPr>
      </p:sp>
      <p:sp>
        <p:nvSpPr>
          <p:cNvPr id="16" name="Text 14"/>
          <p:cNvSpPr/>
          <p:nvPr/>
        </p:nvSpPr>
        <p:spPr>
          <a:xfrm>
            <a:off x="566928" y="2560320"/>
            <a:ext cx="841248" cy="246888"/>
          </a:xfrm>
          <a:prstGeom prst="rect">
            <a:avLst/>
          </a:prstGeom>
          <a:noFill/>
          <a:ln/>
        </p:spPr>
        <p:txBody>
          <a:bodyPr wrap="square" lIns="0" tIns="0" rIns="0" bIns="0" rtlCol="0" anchor="ctr"/>
          <a:lstStyle/>
          <a:p>
            <a:pPr algn="ctr" indent="0" marL="0">
              <a:lnSpc>
                <a:spcPct val="118000"/>
              </a:lnSpc>
              <a:buNone/>
            </a:pPr>
            <a:r>
              <a:rPr lang="en-US" sz="1000" spc="80" kern="0" dirty="0">
                <a:solidFill>
                  <a:srgbClr val="2B454F"/>
                </a:solidFill>
                <a:latin typeface="Consolas" pitchFamily="34" charset="0"/>
                <a:ea typeface="Consolas" pitchFamily="34" charset="-122"/>
                <a:cs typeface="Consolas" pitchFamily="34" charset="-120"/>
              </a:rPr>
              <a:t>D01</a:t>
            </a:r>
            <a:endParaRPr lang="en-US" sz="1000" dirty="0"/>
          </a:p>
        </p:txBody>
      </p:sp>
      <p:sp>
        <p:nvSpPr>
          <p:cNvPr id="17" name="Text 15"/>
          <p:cNvSpPr/>
          <p:nvPr/>
        </p:nvSpPr>
        <p:spPr>
          <a:xfrm>
            <a:off x="1572768" y="2523744"/>
            <a:ext cx="2651760" cy="298704"/>
          </a:xfrm>
          <a:prstGeom prst="rect">
            <a:avLst/>
          </a:prstGeom>
          <a:noFill/>
          <a:ln/>
        </p:spPr>
        <p:txBody>
          <a:bodyPr wrap="square" lIns="0" tIns="0" rIns="0" bIns="0" rtlCol="0" anchor="t"/>
          <a:lstStyle/>
          <a:p>
            <a:pPr algn="l" indent="0" marL="0">
              <a:lnSpc>
                <a:spcPct val="105000"/>
              </a:lnSpc>
              <a:buNone/>
            </a:pPr>
            <a:r>
              <a:rPr lang="en-US" sz="1500" dirty="0">
                <a:solidFill>
                  <a:srgbClr val="12262E"/>
                </a:solidFill>
                <a:latin typeface="Georgia" pitchFamily="34" charset="0"/>
                <a:ea typeface="Georgia" pitchFamily="34" charset="-122"/>
                <a:cs typeface="Georgia" pitchFamily="34" charset="-120"/>
              </a:rPr>
              <a:t>Record from the draft.</a:t>
            </a:r>
            <a:endParaRPr lang="en-US" sz="1500" dirty="0"/>
          </a:p>
        </p:txBody>
      </p:sp>
      <p:sp>
        <p:nvSpPr>
          <p:cNvPr id="18" name="Text 16"/>
          <p:cNvSpPr/>
          <p:nvPr/>
        </p:nvSpPr>
        <p:spPr>
          <a:xfrm>
            <a:off x="4343400" y="2551176"/>
            <a:ext cx="4937760" cy="664464"/>
          </a:xfrm>
          <a:prstGeom prst="rect">
            <a:avLst/>
          </a:prstGeom>
          <a:noFill/>
          <a:ln/>
        </p:spPr>
        <p:txBody>
          <a:bodyPr wrap="square" lIns="0" tIns="0" rIns="0" bIns="0" rtlCol="0" anchor="t"/>
          <a:lstStyle/>
          <a:p>
            <a:pPr algn="l" indent="0" marL="0">
              <a:lnSpc>
                <a:spcPct val="120000"/>
              </a:lnSpc>
              <a:buNone/>
            </a:pPr>
            <a:r>
              <a:rPr lang="en-US" sz="1250" dirty="0">
                <a:solidFill>
                  <a:srgbClr val="2B454F"/>
                </a:solidFill>
                <a:latin typeface="Segoe UI" pitchFamily="34" charset="0"/>
                <a:ea typeface="Segoe UI" pitchFamily="34" charset="-122"/>
                <a:cs typeface="Segoe UI" pitchFamily="34" charset="-120"/>
              </a:rPr>
              <a:t>Hash bound, approved, record written: 201, then a 200 replay. A changed draft stops before any write; 409 on a second record.</a:t>
            </a:r>
            <a:endParaRPr lang="en-US" sz="1250" dirty="0"/>
          </a:p>
        </p:txBody>
      </p:sp>
      <p:sp>
        <p:nvSpPr>
          <p:cNvPr id="19" name="Text 17"/>
          <p:cNvSpPr/>
          <p:nvPr/>
        </p:nvSpPr>
        <p:spPr>
          <a:xfrm>
            <a:off x="9692640" y="2578608"/>
            <a:ext cx="1929384" cy="217424"/>
          </a:xfrm>
          <a:prstGeom prst="rect">
            <a:avLst/>
          </a:prstGeom>
          <a:noFill/>
          <a:ln/>
        </p:spPr>
        <p:txBody>
          <a:bodyPr wrap="square" lIns="0" tIns="0" rIns="0" bIns="0" rtlCol="0" anchor="t"/>
          <a:lstStyle/>
          <a:p>
            <a:pPr algn="r" indent="0" marL="0">
              <a:lnSpc>
                <a:spcPct val="125000"/>
              </a:lnSpc>
              <a:buNone/>
            </a:pPr>
            <a:r>
              <a:rPr lang="en-US" sz="1000" spc="110" kern="0" dirty="0">
                <a:solidFill>
                  <a:srgbClr val="1C7A58"/>
                </a:solidFill>
                <a:latin typeface="Consolas" pitchFamily="34" charset="0"/>
                <a:ea typeface="Consolas" pitchFamily="34" charset="-122"/>
                <a:cs typeface="Consolas" pitchFamily="34" charset="-120"/>
              </a:rPr>
              <a:t>ON MAIN</a:t>
            </a:r>
            <a:endParaRPr lang="en-US" sz="1000" dirty="0"/>
          </a:p>
        </p:txBody>
      </p:sp>
      <p:sp>
        <p:nvSpPr>
          <p:cNvPr id="20" name="Shape 18"/>
          <p:cNvSpPr/>
          <p:nvPr/>
        </p:nvSpPr>
        <p:spPr>
          <a:xfrm>
            <a:off x="566928" y="3108960"/>
            <a:ext cx="11055096" cy="0"/>
          </a:xfrm>
          <a:prstGeom prst="line">
            <a:avLst/>
          </a:prstGeom>
          <a:noFill/>
          <a:ln w="9525">
            <a:solidFill>
              <a:srgbClr val="E2DDD2"/>
            </a:solidFill>
            <a:prstDash val="solid"/>
          </a:ln>
        </p:spPr>
      </p:sp>
      <p:sp>
        <p:nvSpPr>
          <p:cNvPr id="21" name="Shape 19"/>
          <p:cNvSpPr/>
          <p:nvPr/>
        </p:nvSpPr>
        <p:spPr>
          <a:xfrm>
            <a:off x="566928" y="3273552"/>
            <a:ext cx="841248" cy="246888"/>
          </a:xfrm>
          <a:prstGeom prst="roundRect">
            <a:avLst>
              <a:gd name="adj" fmla="val 11111"/>
            </a:avLst>
          </a:prstGeom>
          <a:solidFill>
            <a:srgbClr val="F3EFE6"/>
          </a:solidFill>
          <a:ln w="9525">
            <a:solidFill>
              <a:srgbClr val="D3CDC0"/>
            </a:solidFill>
            <a:prstDash val="solid"/>
          </a:ln>
        </p:spPr>
      </p:sp>
      <p:sp>
        <p:nvSpPr>
          <p:cNvPr id="22" name="Text 20"/>
          <p:cNvSpPr/>
          <p:nvPr/>
        </p:nvSpPr>
        <p:spPr>
          <a:xfrm>
            <a:off x="566928" y="3273552"/>
            <a:ext cx="841248" cy="246888"/>
          </a:xfrm>
          <a:prstGeom prst="rect">
            <a:avLst/>
          </a:prstGeom>
          <a:noFill/>
          <a:ln/>
        </p:spPr>
        <p:txBody>
          <a:bodyPr wrap="square" lIns="0" tIns="0" rIns="0" bIns="0" rtlCol="0" anchor="ctr"/>
          <a:lstStyle/>
          <a:p>
            <a:pPr algn="ctr" indent="0" marL="0">
              <a:lnSpc>
                <a:spcPct val="118000"/>
              </a:lnSpc>
              <a:buNone/>
            </a:pPr>
            <a:r>
              <a:rPr lang="en-US" sz="1000" spc="80" kern="0" dirty="0">
                <a:solidFill>
                  <a:srgbClr val="2B454F"/>
                </a:solidFill>
                <a:latin typeface="Consolas" pitchFamily="34" charset="0"/>
                <a:ea typeface="Consolas" pitchFamily="34" charset="-122"/>
                <a:cs typeface="Consolas" pitchFamily="34" charset="-120"/>
              </a:rPr>
              <a:t>D05</a:t>
            </a:r>
            <a:endParaRPr lang="en-US" sz="1000" dirty="0"/>
          </a:p>
        </p:txBody>
      </p:sp>
      <p:sp>
        <p:nvSpPr>
          <p:cNvPr id="23" name="Text 21"/>
          <p:cNvSpPr/>
          <p:nvPr/>
        </p:nvSpPr>
        <p:spPr>
          <a:xfrm>
            <a:off x="1572768" y="3236976"/>
            <a:ext cx="2651760" cy="298704"/>
          </a:xfrm>
          <a:prstGeom prst="rect">
            <a:avLst/>
          </a:prstGeom>
          <a:noFill/>
          <a:ln/>
        </p:spPr>
        <p:txBody>
          <a:bodyPr wrap="square" lIns="0" tIns="0" rIns="0" bIns="0" rtlCol="0" anchor="t"/>
          <a:lstStyle/>
          <a:p>
            <a:pPr algn="l" indent="0" marL="0">
              <a:lnSpc>
                <a:spcPct val="105000"/>
              </a:lnSpc>
              <a:buNone/>
            </a:pPr>
            <a:r>
              <a:rPr lang="en-US" sz="1500" dirty="0">
                <a:solidFill>
                  <a:srgbClr val="12262E"/>
                </a:solidFill>
                <a:latin typeface="Georgia" pitchFamily="34" charset="0"/>
                <a:ea typeface="Georgia" pitchFamily="34" charset="-122"/>
                <a:cs typeface="Georgia" pitchFamily="34" charset="-120"/>
              </a:rPr>
              <a:t>Decide a contradiction.</a:t>
            </a:r>
            <a:endParaRPr lang="en-US" sz="1500" dirty="0"/>
          </a:p>
        </p:txBody>
      </p:sp>
      <p:sp>
        <p:nvSpPr>
          <p:cNvPr id="24" name="Text 22"/>
          <p:cNvSpPr/>
          <p:nvPr/>
        </p:nvSpPr>
        <p:spPr>
          <a:xfrm>
            <a:off x="4343400" y="3264408"/>
            <a:ext cx="4937760" cy="461264"/>
          </a:xfrm>
          <a:prstGeom prst="rect">
            <a:avLst/>
          </a:prstGeom>
          <a:noFill/>
          <a:ln/>
        </p:spPr>
        <p:txBody>
          <a:bodyPr wrap="square" lIns="0" tIns="0" rIns="0" bIns="0" rtlCol="0" anchor="t"/>
          <a:lstStyle/>
          <a:p>
            <a:pPr algn="l" indent="0" marL="0">
              <a:lnSpc>
                <a:spcPct val="120000"/>
              </a:lnSpc>
              <a:buNone/>
            </a:pPr>
            <a:r>
              <a:rPr lang="en-US" sz="1250" dirty="0">
                <a:solidFill>
                  <a:srgbClr val="2B454F"/>
                </a:solidFill>
                <a:latin typeface="Segoe UI" pitchFamily="34" charset="0"/>
                <a:ea typeface="Segoe UI" pitchFamily="34" charset="-122"/>
                <a:cs typeface="Segoe UI" pitchFamily="34" charset="-120"/>
              </a:rPr>
              <a:t>Both contradictory sources cited; route manual_review, no deadline. A decided outcome, not a guess.</a:t>
            </a:r>
            <a:endParaRPr lang="en-US" sz="1250" dirty="0"/>
          </a:p>
        </p:txBody>
      </p:sp>
      <p:sp>
        <p:nvSpPr>
          <p:cNvPr id="25" name="Text 23"/>
          <p:cNvSpPr/>
          <p:nvPr/>
        </p:nvSpPr>
        <p:spPr>
          <a:xfrm>
            <a:off x="9692640" y="3291840"/>
            <a:ext cx="1929384" cy="217424"/>
          </a:xfrm>
          <a:prstGeom prst="rect">
            <a:avLst/>
          </a:prstGeom>
          <a:noFill/>
          <a:ln/>
        </p:spPr>
        <p:txBody>
          <a:bodyPr wrap="square" lIns="0" tIns="0" rIns="0" bIns="0" rtlCol="0" anchor="t"/>
          <a:lstStyle/>
          <a:p>
            <a:pPr algn="r" indent="0" marL="0">
              <a:lnSpc>
                <a:spcPct val="125000"/>
              </a:lnSpc>
              <a:buNone/>
            </a:pPr>
            <a:r>
              <a:rPr lang="en-US" sz="1000" spc="110" kern="0" dirty="0">
                <a:solidFill>
                  <a:srgbClr val="1C7A58"/>
                </a:solidFill>
                <a:latin typeface="Consolas" pitchFamily="34" charset="0"/>
                <a:ea typeface="Consolas" pitchFamily="34" charset="-122"/>
                <a:cs typeface="Consolas" pitchFamily="34" charset="-120"/>
              </a:rPr>
              <a:t>ON MAIN</a:t>
            </a:r>
            <a:endParaRPr lang="en-US" sz="1000" dirty="0"/>
          </a:p>
        </p:txBody>
      </p:sp>
      <p:sp>
        <p:nvSpPr>
          <p:cNvPr id="26" name="Shape 24"/>
          <p:cNvSpPr/>
          <p:nvPr/>
        </p:nvSpPr>
        <p:spPr>
          <a:xfrm>
            <a:off x="566928" y="3822192"/>
            <a:ext cx="11055096" cy="0"/>
          </a:xfrm>
          <a:prstGeom prst="line">
            <a:avLst/>
          </a:prstGeom>
          <a:noFill/>
          <a:ln w="9525">
            <a:solidFill>
              <a:srgbClr val="E2DDD2"/>
            </a:solidFill>
            <a:prstDash val="solid"/>
          </a:ln>
        </p:spPr>
      </p:sp>
      <p:sp>
        <p:nvSpPr>
          <p:cNvPr id="27" name="Shape 25"/>
          <p:cNvSpPr/>
          <p:nvPr/>
        </p:nvSpPr>
        <p:spPr>
          <a:xfrm>
            <a:off x="566928" y="3986784"/>
            <a:ext cx="841248" cy="246888"/>
          </a:xfrm>
          <a:prstGeom prst="roundRect">
            <a:avLst>
              <a:gd name="adj" fmla="val 11111"/>
            </a:avLst>
          </a:prstGeom>
          <a:solidFill>
            <a:srgbClr val="F3EFE6"/>
          </a:solidFill>
          <a:ln w="9525">
            <a:solidFill>
              <a:srgbClr val="D3CDC0"/>
            </a:solidFill>
            <a:prstDash val="solid"/>
          </a:ln>
        </p:spPr>
      </p:sp>
      <p:sp>
        <p:nvSpPr>
          <p:cNvPr id="28" name="Text 26"/>
          <p:cNvSpPr/>
          <p:nvPr/>
        </p:nvSpPr>
        <p:spPr>
          <a:xfrm>
            <a:off x="566928" y="3986784"/>
            <a:ext cx="841248" cy="246888"/>
          </a:xfrm>
          <a:prstGeom prst="rect">
            <a:avLst/>
          </a:prstGeom>
          <a:noFill/>
          <a:ln/>
        </p:spPr>
        <p:txBody>
          <a:bodyPr wrap="square" lIns="0" tIns="0" rIns="0" bIns="0" rtlCol="0" anchor="ctr"/>
          <a:lstStyle/>
          <a:p>
            <a:pPr algn="ctr" indent="0" marL="0">
              <a:lnSpc>
                <a:spcPct val="118000"/>
              </a:lnSpc>
              <a:buNone/>
            </a:pPr>
            <a:r>
              <a:rPr lang="en-US" sz="1000" spc="80" kern="0" dirty="0">
                <a:solidFill>
                  <a:srgbClr val="2B454F"/>
                </a:solidFill>
                <a:latin typeface="Consolas" pitchFamily="34" charset="0"/>
                <a:ea typeface="Consolas" pitchFamily="34" charset="-122"/>
                <a:cs typeface="Consolas" pitchFamily="34" charset="-120"/>
              </a:rPr>
              <a:t>D08</a:t>
            </a:r>
            <a:endParaRPr lang="en-US" sz="1000" dirty="0"/>
          </a:p>
        </p:txBody>
      </p:sp>
      <p:sp>
        <p:nvSpPr>
          <p:cNvPr id="29" name="Text 27"/>
          <p:cNvSpPr/>
          <p:nvPr/>
        </p:nvSpPr>
        <p:spPr>
          <a:xfrm>
            <a:off x="1572768" y="3950208"/>
            <a:ext cx="2651760" cy="298704"/>
          </a:xfrm>
          <a:prstGeom prst="rect">
            <a:avLst/>
          </a:prstGeom>
          <a:noFill/>
          <a:ln/>
        </p:spPr>
        <p:txBody>
          <a:bodyPr wrap="square" lIns="0" tIns="0" rIns="0" bIns="0" rtlCol="0" anchor="t"/>
          <a:lstStyle/>
          <a:p>
            <a:pPr algn="l" indent="0" marL="0">
              <a:lnSpc>
                <a:spcPct val="105000"/>
              </a:lnSpc>
              <a:buNone/>
            </a:pPr>
            <a:r>
              <a:rPr lang="en-US" sz="1500" dirty="0">
                <a:solidFill>
                  <a:srgbClr val="12262E"/>
                </a:solidFill>
                <a:latin typeface="Georgia" pitchFamily="34" charset="0"/>
                <a:ea typeface="Georgia" pitchFamily="34" charset="-122"/>
                <a:cs typeface="Georgia" pitchFamily="34" charset="-120"/>
              </a:rPr>
              <a:t>Refuse an instruction.</a:t>
            </a:r>
            <a:endParaRPr lang="en-US" sz="1500" dirty="0"/>
          </a:p>
        </p:txBody>
      </p:sp>
      <p:sp>
        <p:nvSpPr>
          <p:cNvPr id="30" name="Text 28"/>
          <p:cNvSpPr/>
          <p:nvPr/>
        </p:nvSpPr>
        <p:spPr>
          <a:xfrm>
            <a:off x="4343400" y="3977640"/>
            <a:ext cx="4937760" cy="461264"/>
          </a:xfrm>
          <a:prstGeom prst="rect">
            <a:avLst/>
          </a:prstGeom>
          <a:noFill/>
          <a:ln/>
        </p:spPr>
        <p:txBody>
          <a:bodyPr wrap="square" lIns="0" tIns="0" rIns="0" bIns="0" rtlCol="0" anchor="t"/>
          <a:lstStyle/>
          <a:p>
            <a:pPr algn="l" indent="0" marL="0">
              <a:lnSpc>
                <a:spcPct val="120000"/>
              </a:lnSpc>
              <a:buNone/>
            </a:pPr>
            <a:r>
              <a:rPr lang="en-US" sz="1250" dirty="0">
                <a:solidFill>
                  <a:srgbClr val="2B454F"/>
                </a:solidFill>
                <a:latin typeface="Segoe UI" pitchFamily="34" charset="0"/>
                <a:ea typeface="Segoe UI" pitchFamily="34" charset="-122"/>
                <a:cs typeface="Segoe UI" pitchFamily="34" charset="-120"/>
              </a:rPr>
              <a:t>The instruction sentence is filtered, never read as the customer's account.</a:t>
            </a:r>
            <a:endParaRPr lang="en-US" sz="1250" dirty="0"/>
          </a:p>
        </p:txBody>
      </p:sp>
      <p:sp>
        <p:nvSpPr>
          <p:cNvPr id="31" name="Text 29"/>
          <p:cNvSpPr/>
          <p:nvPr/>
        </p:nvSpPr>
        <p:spPr>
          <a:xfrm>
            <a:off x="9692640" y="4005072"/>
            <a:ext cx="1929384" cy="217424"/>
          </a:xfrm>
          <a:prstGeom prst="rect">
            <a:avLst/>
          </a:prstGeom>
          <a:noFill/>
          <a:ln/>
        </p:spPr>
        <p:txBody>
          <a:bodyPr wrap="square" lIns="0" tIns="0" rIns="0" bIns="0" rtlCol="0" anchor="t"/>
          <a:lstStyle/>
          <a:p>
            <a:pPr algn="r" indent="0" marL="0">
              <a:lnSpc>
                <a:spcPct val="125000"/>
              </a:lnSpc>
              <a:buNone/>
            </a:pPr>
            <a:r>
              <a:rPr lang="en-US" sz="1000" spc="110" kern="0" dirty="0">
                <a:solidFill>
                  <a:srgbClr val="1C7A58"/>
                </a:solidFill>
                <a:latin typeface="Consolas" pitchFamily="34" charset="0"/>
                <a:ea typeface="Consolas" pitchFamily="34" charset="-122"/>
                <a:cs typeface="Consolas" pitchFamily="34" charset="-120"/>
              </a:rPr>
              <a:t>ON MAIN</a:t>
            </a:r>
            <a:endParaRPr lang="en-US" sz="1000" dirty="0"/>
          </a:p>
        </p:txBody>
      </p:sp>
      <p:sp>
        <p:nvSpPr>
          <p:cNvPr id="32" name="Shape 30"/>
          <p:cNvSpPr/>
          <p:nvPr/>
        </p:nvSpPr>
        <p:spPr>
          <a:xfrm>
            <a:off x="566928" y="4535424"/>
            <a:ext cx="11055096" cy="0"/>
          </a:xfrm>
          <a:prstGeom prst="line">
            <a:avLst/>
          </a:prstGeom>
          <a:noFill/>
          <a:ln w="9525">
            <a:solidFill>
              <a:srgbClr val="E2DDD2"/>
            </a:solidFill>
            <a:prstDash val="solid"/>
          </a:ln>
        </p:spPr>
      </p:sp>
      <p:sp>
        <p:nvSpPr>
          <p:cNvPr id="33" name="Shape 31"/>
          <p:cNvSpPr/>
          <p:nvPr/>
        </p:nvSpPr>
        <p:spPr>
          <a:xfrm>
            <a:off x="566928" y="4700016"/>
            <a:ext cx="841248" cy="246888"/>
          </a:xfrm>
          <a:prstGeom prst="roundRect">
            <a:avLst>
              <a:gd name="adj" fmla="val 11111"/>
            </a:avLst>
          </a:prstGeom>
          <a:solidFill>
            <a:srgbClr val="F3EFE6"/>
          </a:solidFill>
          <a:ln w="9525">
            <a:solidFill>
              <a:srgbClr val="D3CDC0"/>
            </a:solidFill>
            <a:prstDash val="solid"/>
          </a:ln>
        </p:spPr>
      </p:sp>
      <p:sp>
        <p:nvSpPr>
          <p:cNvPr id="34" name="Text 32"/>
          <p:cNvSpPr/>
          <p:nvPr/>
        </p:nvSpPr>
        <p:spPr>
          <a:xfrm>
            <a:off x="566928" y="4700016"/>
            <a:ext cx="841248" cy="246888"/>
          </a:xfrm>
          <a:prstGeom prst="rect">
            <a:avLst/>
          </a:prstGeom>
          <a:noFill/>
          <a:ln/>
        </p:spPr>
        <p:txBody>
          <a:bodyPr wrap="square" lIns="0" tIns="0" rIns="0" bIns="0" rtlCol="0" anchor="ctr"/>
          <a:lstStyle/>
          <a:p>
            <a:pPr algn="ctr" indent="0" marL="0">
              <a:lnSpc>
                <a:spcPct val="118000"/>
              </a:lnSpc>
              <a:buNone/>
            </a:pPr>
            <a:r>
              <a:rPr lang="en-US" sz="1000" spc="80" kern="0" dirty="0">
                <a:solidFill>
                  <a:srgbClr val="2B454F"/>
                </a:solidFill>
                <a:latin typeface="Consolas" pitchFamily="34" charset="0"/>
                <a:ea typeface="Consolas" pitchFamily="34" charset="-122"/>
                <a:cs typeface="Consolas" pitchFamily="34" charset="-120"/>
              </a:rPr>
              <a:t>D10</a:t>
            </a:r>
            <a:endParaRPr lang="en-US" sz="1000" dirty="0"/>
          </a:p>
        </p:txBody>
      </p:sp>
      <p:sp>
        <p:nvSpPr>
          <p:cNvPr id="35" name="Text 33"/>
          <p:cNvSpPr/>
          <p:nvPr/>
        </p:nvSpPr>
        <p:spPr>
          <a:xfrm>
            <a:off x="1572768" y="4663440"/>
            <a:ext cx="2651760" cy="298704"/>
          </a:xfrm>
          <a:prstGeom prst="rect">
            <a:avLst/>
          </a:prstGeom>
          <a:noFill/>
          <a:ln/>
        </p:spPr>
        <p:txBody>
          <a:bodyPr wrap="square" lIns="0" tIns="0" rIns="0" bIns="0" rtlCol="0" anchor="t"/>
          <a:lstStyle/>
          <a:p>
            <a:pPr algn="l" indent="0" marL="0">
              <a:lnSpc>
                <a:spcPct val="105000"/>
              </a:lnSpc>
              <a:buNone/>
            </a:pPr>
            <a:r>
              <a:rPr lang="en-US" sz="1500" dirty="0">
                <a:solidFill>
                  <a:srgbClr val="12262E"/>
                </a:solidFill>
                <a:latin typeface="Georgia" pitchFamily="34" charset="0"/>
                <a:ea typeface="Georgia" pitchFamily="34" charset="-122"/>
                <a:cs typeface="Georgia" pitchFamily="34" charset="-120"/>
              </a:rPr>
              <a:t>Retry a fault.</a:t>
            </a:r>
            <a:endParaRPr lang="en-US" sz="1500" dirty="0"/>
          </a:p>
        </p:txBody>
      </p:sp>
      <p:sp>
        <p:nvSpPr>
          <p:cNvPr id="36" name="Text 34"/>
          <p:cNvSpPr/>
          <p:nvPr/>
        </p:nvSpPr>
        <p:spPr>
          <a:xfrm>
            <a:off x="4343400" y="4690872"/>
            <a:ext cx="4937760" cy="461264"/>
          </a:xfrm>
          <a:prstGeom prst="rect">
            <a:avLst/>
          </a:prstGeom>
          <a:noFill/>
          <a:ln/>
        </p:spPr>
        <p:txBody>
          <a:bodyPr wrap="square" lIns="0" tIns="0" rIns="0" bIns="0" rtlCol="0" anchor="t"/>
          <a:lstStyle/>
          <a:p>
            <a:pPr algn="l" indent="0" marL="0">
              <a:lnSpc>
                <a:spcPct val="120000"/>
              </a:lnSpc>
              <a:buNone/>
            </a:pPr>
            <a:r>
              <a:rPr lang="en-US" sz="1250" dirty="0">
                <a:solidFill>
                  <a:srgbClr val="2B454F"/>
                </a:solidFill>
                <a:latin typeface="Segoe UI" pitchFamily="34" charset="0"/>
                <a:ea typeface="Segoe UI" pitchFamily="34" charset="-122"/>
                <a:cs typeface="Segoe UI" pitchFamily="34" charset="-120"/>
              </a:rPr>
              <a:t>One injected transaction failure. The ladder retries once: 3 attempts, 1 retry, 1.3 s.</a:t>
            </a:r>
            <a:endParaRPr lang="en-US" sz="1250" dirty="0"/>
          </a:p>
        </p:txBody>
      </p:sp>
      <p:sp>
        <p:nvSpPr>
          <p:cNvPr id="37" name="Text 35"/>
          <p:cNvSpPr/>
          <p:nvPr/>
        </p:nvSpPr>
        <p:spPr>
          <a:xfrm>
            <a:off x="9692640" y="4718304"/>
            <a:ext cx="1929384" cy="217424"/>
          </a:xfrm>
          <a:prstGeom prst="rect">
            <a:avLst/>
          </a:prstGeom>
          <a:noFill/>
          <a:ln/>
        </p:spPr>
        <p:txBody>
          <a:bodyPr wrap="square" lIns="0" tIns="0" rIns="0" bIns="0" rtlCol="0" anchor="t"/>
          <a:lstStyle/>
          <a:p>
            <a:pPr algn="r" indent="0" marL="0">
              <a:lnSpc>
                <a:spcPct val="125000"/>
              </a:lnSpc>
              <a:buNone/>
            </a:pPr>
            <a:r>
              <a:rPr lang="en-US" sz="1000" spc="110" kern="0" dirty="0">
                <a:solidFill>
                  <a:srgbClr val="1C7A58"/>
                </a:solidFill>
                <a:latin typeface="Consolas" pitchFamily="34" charset="0"/>
                <a:ea typeface="Consolas" pitchFamily="34" charset="-122"/>
                <a:cs typeface="Consolas" pitchFamily="34" charset="-120"/>
              </a:rPr>
              <a:t>ON MAIN</a:t>
            </a:r>
            <a:endParaRPr lang="en-US" sz="1000" dirty="0"/>
          </a:p>
        </p:txBody>
      </p:sp>
      <p:sp>
        <p:nvSpPr>
          <p:cNvPr id="38" name="Shape 36"/>
          <p:cNvSpPr/>
          <p:nvPr/>
        </p:nvSpPr>
        <p:spPr>
          <a:xfrm>
            <a:off x="566928" y="5248656"/>
            <a:ext cx="11055096" cy="0"/>
          </a:xfrm>
          <a:prstGeom prst="line">
            <a:avLst/>
          </a:prstGeom>
          <a:noFill/>
          <a:ln w="9525">
            <a:solidFill>
              <a:srgbClr val="E2DDD2"/>
            </a:solidFill>
            <a:prstDash val="solid"/>
          </a:ln>
        </p:spPr>
      </p:sp>
      <p:sp>
        <p:nvSpPr>
          <p:cNvPr id="39" name="Shape 37"/>
          <p:cNvSpPr/>
          <p:nvPr/>
        </p:nvSpPr>
        <p:spPr>
          <a:xfrm>
            <a:off x="566928" y="5413248"/>
            <a:ext cx="841248" cy="246888"/>
          </a:xfrm>
          <a:prstGeom prst="roundRect">
            <a:avLst>
              <a:gd name="adj" fmla="val 11111"/>
            </a:avLst>
          </a:prstGeom>
          <a:solidFill>
            <a:srgbClr val="F3EFE6"/>
          </a:solidFill>
          <a:ln w="9525">
            <a:solidFill>
              <a:srgbClr val="D3CDC0"/>
            </a:solidFill>
            <a:prstDash val="solid"/>
          </a:ln>
        </p:spPr>
      </p:sp>
      <p:sp>
        <p:nvSpPr>
          <p:cNvPr id="40" name="Text 38"/>
          <p:cNvSpPr/>
          <p:nvPr/>
        </p:nvSpPr>
        <p:spPr>
          <a:xfrm>
            <a:off x="566928" y="5413248"/>
            <a:ext cx="841248" cy="246888"/>
          </a:xfrm>
          <a:prstGeom prst="rect">
            <a:avLst/>
          </a:prstGeom>
          <a:noFill/>
          <a:ln/>
        </p:spPr>
        <p:txBody>
          <a:bodyPr wrap="square" lIns="0" tIns="0" rIns="0" bIns="0" rtlCol="0" anchor="ctr"/>
          <a:lstStyle/>
          <a:p>
            <a:pPr algn="ctr" indent="0" marL="0">
              <a:lnSpc>
                <a:spcPct val="118000"/>
              </a:lnSpc>
              <a:buNone/>
            </a:pPr>
            <a:r>
              <a:rPr lang="en-US" sz="1000" spc="80" kern="0" dirty="0">
                <a:solidFill>
                  <a:srgbClr val="2B454F"/>
                </a:solidFill>
                <a:latin typeface="Consolas" pitchFamily="34" charset="0"/>
                <a:ea typeface="Consolas" pitchFamily="34" charset="-122"/>
                <a:cs typeface="Consolas" pitchFamily="34" charset="-120"/>
              </a:rPr>
              <a:t>D09</a:t>
            </a:r>
            <a:endParaRPr lang="en-US" sz="1000" dirty="0"/>
          </a:p>
        </p:txBody>
      </p:sp>
      <p:sp>
        <p:nvSpPr>
          <p:cNvPr id="41" name="Text 39"/>
          <p:cNvSpPr/>
          <p:nvPr/>
        </p:nvSpPr>
        <p:spPr>
          <a:xfrm>
            <a:off x="1572768" y="5376672"/>
            <a:ext cx="2651760" cy="298704"/>
          </a:xfrm>
          <a:prstGeom prst="rect">
            <a:avLst/>
          </a:prstGeom>
          <a:noFill/>
          <a:ln/>
        </p:spPr>
        <p:txBody>
          <a:bodyPr wrap="square" lIns="0" tIns="0" rIns="0" bIns="0" rtlCol="0" anchor="t"/>
          <a:lstStyle/>
          <a:p>
            <a:pPr algn="l" indent="0" marL="0">
              <a:lnSpc>
                <a:spcPct val="105000"/>
              </a:lnSpc>
              <a:buNone/>
            </a:pPr>
            <a:r>
              <a:rPr lang="en-US" sz="1500" dirty="0">
                <a:solidFill>
                  <a:srgbClr val="12262E"/>
                </a:solidFill>
                <a:latin typeface="Georgia" pitchFamily="34" charset="0"/>
                <a:ea typeface="Georgia" pitchFamily="34" charset="-122"/>
                <a:cs typeface="Georgia" pitchFamily="34" charset="-120"/>
              </a:rPr>
              <a:t>Refuse a redelivery.</a:t>
            </a:r>
            <a:endParaRPr lang="en-US" sz="1500" dirty="0"/>
          </a:p>
        </p:txBody>
      </p:sp>
      <p:sp>
        <p:nvSpPr>
          <p:cNvPr id="42" name="Text 40"/>
          <p:cNvSpPr/>
          <p:nvPr/>
        </p:nvSpPr>
        <p:spPr>
          <a:xfrm>
            <a:off x="4343400" y="5404104"/>
            <a:ext cx="4937760" cy="461264"/>
          </a:xfrm>
          <a:prstGeom prst="rect">
            <a:avLst/>
          </a:prstGeom>
          <a:noFill/>
          <a:ln/>
        </p:spPr>
        <p:txBody>
          <a:bodyPr wrap="square" lIns="0" tIns="0" rIns="0" bIns="0" rtlCol="0" anchor="t"/>
          <a:lstStyle/>
          <a:p>
            <a:pPr algn="l" indent="0" marL="0">
              <a:lnSpc>
                <a:spcPct val="120000"/>
              </a:lnSpc>
              <a:buNone/>
            </a:pPr>
            <a:r>
              <a:rPr lang="en-US" sz="1250" dirty="0">
                <a:solidFill>
                  <a:srgbClr val="2B454F"/>
                </a:solidFill>
                <a:latin typeface="Segoe UI" pitchFamily="34" charset="0"/>
                <a:ea typeface="Segoe UI" pitchFamily="34" charset="-122"/>
                <a:cs typeface="Segoe UI" pitchFamily="34" charset="-120"/>
              </a:rPr>
              <a:t>Duplicate of D02: TX-D02, 134 XCR, 16 Nov. The excerpt join runs on main.</a:t>
            </a:r>
            <a:endParaRPr lang="en-US" sz="1250" dirty="0"/>
          </a:p>
        </p:txBody>
      </p:sp>
      <p:sp>
        <p:nvSpPr>
          <p:cNvPr id="43" name="Text 41"/>
          <p:cNvSpPr/>
          <p:nvPr/>
        </p:nvSpPr>
        <p:spPr>
          <a:xfrm>
            <a:off x="9692640" y="5431536"/>
            <a:ext cx="1929384" cy="217424"/>
          </a:xfrm>
          <a:prstGeom prst="rect">
            <a:avLst/>
          </a:prstGeom>
          <a:noFill/>
          <a:ln/>
        </p:spPr>
        <p:txBody>
          <a:bodyPr wrap="square" lIns="0" tIns="0" rIns="0" bIns="0" rtlCol="0" anchor="t"/>
          <a:lstStyle/>
          <a:p>
            <a:pPr algn="r" indent="0" marL="0">
              <a:lnSpc>
                <a:spcPct val="125000"/>
              </a:lnSpc>
              <a:buNone/>
            </a:pPr>
            <a:r>
              <a:rPr lang="en-US" sz="1000" spc="110" kern="0" dirty="0">
                <a:solidFill>
                  <a:srgbClr val="1C7A58"/>
                </a:solidFill>
                <a:latin typeface="Consolas" pitchFamily="34" charset="0"/>
                <a:ea typeface="Consolas" pitchFamily="34" charset="-122"/>
                <a:cs typeface="Consolas" pitchFamily="34" charset="-120"/>
              </a:rPr>
              <a:t>ON MAIN</a:t>
            </a:r>
            <a:endParaRPr lang="en-US" sz="1000" dirty="0"/>
          </a:p>
        </p:txBody>
      </p:sp>
      <p:sp>
        <p:nvSpPr>
          <p:cNvPr id="44" name="Shape 42"/>
          <p:cNvSpPr/>
          <p:nvPr/>
        </p:nvSpPr>
        <p:spPr>
          <a:xfrm>
            <a:off x="566928" y="5833872"/>
            <a:ext cx="11055096" cy="0"/>
          </a:xfrm>
          <a:prstGeom prst="line">
            <a:avLst/>
          </a:prstGeom>
          <a:noFill/>
          <a:ln w="9525">
            <a:solidFill>
              <a:srgbClr val="E2DDD2"/>
            </a:solidFill>
            <a:prstDash val="solid"/>
          </a:ln>
        </p:spPr>
      </p:sp>
      <p:sp>
        <p:nvSpPr>
          <p:cNvPr id="45" name="Text 43"/>
          <p:cNvSpPr/>
          <p:nvPr/>
        </p:nvSpPr>
        <p:spPr>
          <a:xfrm>
            <a:off x="566928" y="5907024"/>
            <a:ext cx="11055096" cy="217424"/>
          </a:xfrm>
          <a:prstGeom prst="rect">
            <a:avLst/>
          </a:prstGeom>
          <a:noFill/>
          <a:ln/>
        </p:spPr>
        <p:txBody>
          <a:bodyPr wrap="square" lIns="0" tIns="0" rIns="0" bIns="0" rtlCol="0" anchor="t"/>
          <a:lstStyle/>
          <a:p>
            <a:pPr algn="l" indent="0" marL="0">
              <a:lnSpc>
                <a:spcPct val="125000"/>
              </a:lnSpc>
              <a:buNone/>
            </a:pPr>
            <a:r>
              <a:rPr lang="en-US" sz="1000" dirty="0">
                <a:solidFill>
                  <a:srgbClr val="68777D"/>
                </a:solidFill>
                <a:latin typeface="Consolas" pitchFamily="34" charset="0"/>
                <a:ea typeface="Consolas" pitchFamily="34" charset="-122"/>
                <a:cs typeface="Consolas" pitchFamily="34" charset="-120"/>
              </a:rPr>
              <a:t>ON MAIN = on 8553bb3 today: every row is a passing dev case.</a:t>
            </a:r>
            <a:endParaRPr lang="en-US" sz="1000" dirty="0"/>
          </a:p>
        </p:txBody>
      </p:sp>
      <p:sp>
        <p:nvSpPr>
          <p:cNvPr id="46" name="Text 44"/>
          <p:cNvSpPr/>
          <p:nvPr/>
        </p:nvSpPr>
        <p:spPr>
          <a:xfrm>
            <a:off x="566928" y="6108192"/>
            <a:ext cx="11055096"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68777D"/>
                </a:solidFill>
                <a:latin typeface="Consolas" pitchFamily="34" charset="0"/>
                <a:ea typeface="Consolas" pitchFamily="34" charset="-122"/>
                <a:cs typeface="Consolas" pitchFamily="34" charset="-120"/>
              </a:rPr>
              <a:t>THE DEMO RUNS IN THE TERMINAL AND THE MOCK BANK, NOT IN THIS DECK.</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566928" y="566928"/>
            <a:ext cx="11057839" cy="0"/>
          </a:xfrm>
          <a:prstGeom prst="line">
            <a:avLst/>
          </a:prstGeom>
          <a:noFill/>
          <a:ln w="12700">
            <a:solidFill>
              <a:srgbClr val="D3CDC0"/>
            </a:solidFill>
            <a:prstDash val="solid"/>
          </a:ln>
        </p:spPr>
      </p:sp>
      <p:sp>
        <p:nvSpPr>
          <p:cNvPr id="3" name="Text 1"/>
          <p:cNvSpPr/>
          <p:nvPr/>
        </p:nvSpPr>
        <p:spPr>
          <a:xfrm>
            <a:off x="566928" y="347472"/>
            <a:ext cx="5486400" cy="201168"/>
          </a:xfrm>
          <a:prstGeom prst="rect">
            <a:avLst/>
          </a:prstGeom>
          <a:noFill/>
          <a:ln/>
        </p:spPr>
        <p:txBody>
          <a:bodyPr wrap="square" lIns="0" tIns="0" rIns="0" bIns="0" rtlCol="0" anchor="ctr"/>
          <a:lstStyle/>
          <a:p>
            <a:pPr indent="0" marL="0">
              <a:lnSpc>
                <a:spcPct val="118000"/>
              </a:lnSpc>
              <a:buNone/>
            </a:pPr>
            <a:r>
              <a:rPr lang="en-US" sz="1000" spc="120" kern="0" dirty="0">
                <a:solidFill>
                  <a:srgbClr val="0D6F6A"/>
                </a:solidFill>
                <a:latin typeface="Consolas" pitchFamily="34" charset="0"/>
                <a:ea typeface="Consolas" pitchFamily="34" charset="-122"/>
                <a:cs typeface="Consolas" pitchFamily="34" charset="-120"/>
              </a:rPr>
              <a:t>04 · EVIDENCE</a:t>
            </a:r>
            <a:endParaRPr lang="en-US" sz="1000" dirty="0"/>
          </a:p>
        </p:txBody>
      </p:sp>
      <p:sp>
        <p:nvSpPr>
          <p:cNvPr id="4" name="Text 2"/>
          <p:cNvSpPr/>
          <p:nvPr/>
        </p:nvSpPr>
        <p:spPr>
          <a:xfrm>
            <a:off x="7052767" y="347472"/>
            <a:ext cx="4572000" cy="201168"/>
          </a:xfrm>
          <a:prstGeom prst="rect">
            <a:avLst/>
          </a:prstGeom>
          <a:noFill/>
          <a:ln/>
        </p:spPr>
        <p:txBody>
          <a:bodyPr wrap="square" lIns="0" tIns="0" rIns="0" bIns="0" rtlCol="0" anchor="ctr"/>
          <a:lstStyle/>
          <a:p>
            <a:pPr algn="r" indent="0" marL="0">
              <a:lnSpc>
                <a:spcPct val="118000"/>
              </a:lnSpc>
              <a:buNone/>
            </a:pPr>
            <a:r>
              <a:rPr lang="en-US" sz="1000" spc="120" kern="0" dirty="0">
                <a:solidFill>
                  <a:srgbClr val="68777D"/>
                </a:solidFill>
                <a:latin typeface="Consolas" pitchFamily="34" charset="0"/>
                <a:ea typeface="Consolas" pitchFamily="34" charset="-122"/>
                <a:cs typeface="Consolas" pitchFamily="34" charset="-120"/>
              </a:rPr>
              <a:t>LUMEN BANK · DISPUTE COPILOT</a:t>
            </a:r>
            <a:endParaRPr lang="en-US" sz="1000" dirty="0"/>
          </a:p>
        </p:txBody>
      </p:sp>
      <p:sp>
        <p:nvSpPr>
          <p:cNvPr id="5" name="Shape 3"/>
          <p:cNvSpPr/>
          <p:nvPr/>
        </p:nvSpPr>
        <p:spPr>
          <a:xfrm>
            <a:off x="566928" y="6382512"/>
            <a:ext cx="11057839" cy="0"/>
          </a:xfrm>
          <a:prstGeom prst="line">
            <a:avLst/>
          </a:prstGeom>
          <a:noFill/>
          <a:ln w="9525">
            <a:solidFill>
              <a:srgbClr val="E2DDD2"/>
            </a:solidFill>
            <a:prstDash val="solid"/>
          </a:ln>
        </p:spPr>
      </p:sp>
      <p:sp>
        <p:nvSpPr>
          <p:cNvPr id="6" name="Text 4"/>
          <p:cNvSpPr/>
          <p:nvPr/>
        </p:nvSpPr>
        <p:spPr>
          <a:xfrm>
            <a:off x="566928" y="6473952"/>
            <a:ext cx="5486400" cy="219456"/>
          </a:xfrm>
          <a:prstGeom prst="rect">
            <a:avLst/>
          </a:prstGeom>
          <a:noFill/>
          <a:ln/>
        </p:spPr>
        <p:txBody>
          <a:bodyPr wrap="square" lIns="0" tIns="0" rIns="0" bIns="0" rtlCol="0" anchor="t"/>
          <a:lstStyle/>
          <a:p>
            <a:pPr indent="0" marL="0">
              <a:lnSpc>
                <a:spcPct val="118000"/>
              </a:lnSpc>
              <a:buNone/>
            </a:pPr>
            <a:r>
              <a:rPr lang="en-US" sz="1000" dirty="0">
                <a:solidFill>
                  <a:srgbClr val="68777D"/>
                </a:solidFill>
                <a:latin typeface="Consolas" pitchFamily="34" charset="0"/>
                <a:ea typeface="Consolas" pitchFamily="34" charset="-122"/>
                <a:cs typeface="Consolas" pitchFamily="34" charset="-120"/>
              </a:rPr>
              <a:t>Final demo and technical defense · 29 October 2026</a:t>
            </a:r>
            <a:endParaRPr lang="en-US" sz="1000" dirty="0"/>
          </a:p>
        </p:txBody>
      </p:sp>
      <p:sp>
        <p:nvSpPr>
          <p:cNvPr id="7" name="Text 5"/>
          <p:cNvSpPr/>
          <p:nvPr/>
        </p:nvSpPr>
        <p:spPr>
          <a:xfrm>
            <a:off x="9338767" y="6473952"/>
            <a:ext cx="2286000" cy="219456"/>
          </a:xfrm>
          <a:prstGeom prst="rect">
            <a:avLst/>
          </a:prstGeom>
          <a:noFill/>
          <a:ln/>
        </p:spPr>
        <p:txBody>
          <a:bodyPr wrap="square" lIns="0" tIns="0" rIns="0" bIns="0" rtlCol="0" anchor="t"/>
          <a:lstStyle/>
          <a:p>
            <a:pPr algn="r" indent="0" marL="0">
              <a:lnSpc>
                <a:spcPct val="118000"/>
              </a:lnSpc>
              <a:buNone/>
            </a:pPr>
            <a:r>
              <a:rPr lang="en-US" sz="1000" dirty="0">
                <a:solidFill>
                  <a:srgbClr val="68777D"/>
                </a:solidFill>
                <a:latin typeface="Consolas" pitchFamily="34" charset="0"/>
                <a:ea typeface="Consolas" pitchFamily="34" charset="-122"/>
                <a:cs typeface="Consolas" pitchFamily="34" charset="-120"/>
              </a:rPr>
              <a:t>[ 05 / 16 ]</a:t>
            </a:r>
            <a:endParaRPr lang="en-US" sz="1000" dirty="0"/>
          </a:p>
        </p:txBody>
      </p:sp>
      <p:sp>
        <p:nvSpPr>
          <p:cNvPr id="8" name="Text 6"/>
          <p:cNvSpPr/>
          <p:nvPr/>
        </p:nvSpPr>
        <p:spPr>
          <a:xfrm>
            <a:off x="566928" y="1005840"/>
            <a:ext cx="8229600" cy="640080"/>
          </a:xfrm>
          <a:prstGeom prst="rect">
            <a:avLst/>
          </a:prstGeom>
          <a:noFill/>
          <a:ln/>
        </p:spPr>
        <p:txBody>
          <a:bodyPr wrap="square" lIns="0" tIns="0" rIns="0" bIns="0" rtlCol="0" anchor="t"/>
          <a:lstStyle/>
          <a:p>
            <a:pPr indent="0" marL="0">
              <a:lnSpc>
                <a:spcPct val="98000"/>
              </a:lnSpc>
              <a:buNone/>
            </a:pPr>
            <a:r>
              <a:rPr lang="en-US" sz="3400" dirty="0">
                <a:solidFill>
                  <a:srgbClr val="12262E"/>
                </a:solidFill>
                <a:latin typeface="Georgia" pitchFamily="34" charset="0"/>
                <a:ea typeface="Georgia" pitchFamily="34" charset="-122"/>
                <a:cs typeface="Georgia" pitchFamily="34" charset="-120"/>
              </a:rPr>
              <a:t>What is proven today.</a:t>
            </a:r>
            <a:endParaRPr lang="en-US" sz="3400" dirty="0"/>
          </a:p>
        </p:txBody>
      </p:sp>
      <p:sp>
        <p:nvSpPr>
          <p:cNvPr id="9" name="Text 7"/>
          <p:cNvSpPr/>
          <p:nvPr/>
        </p:nvSpPr>
        <p:spPr>
          <a:xfrm>
            <a:off x="566928" y="1719072"/>
            <a:ext cx="10515600" cy="298704"/>
          </a:xfrm>
          <a:prstGeom prst="rect">
            <a:avLst/>
          </a:prstGeom>
          <a:noFill/>
          <a:ln/>
        </p:spPr>
        <p:txBody>
          <a:bodyPr wrap="square" lIns="0" tIns="0" rIns="0" bIns="0" rtlCol="0" anchor="t"/>
          <a:lstStyle/>
          <a:p>
            <a:pPr algn="l" indent="0" marL="0">
              <a:lnSpc>
                <a:spcPct val="122000"/>
              </a:lnSpc>
              <a:buNone/>
            </a:pPr>
            <a:r>
              <a:rPr lang="en-US" sz="1500" dirty="0">
                <a:solidFill>
                  <a:srgbClr val="12262E"/>
                </a:solidFill>
                <a:latin typeface="Segoe UI" pitchFamily="34" charset="0"/>
                <a:ea typeface="Segoe UI" pitchFamily="34" charset="-122"/>
                <a:cs typeface="Segoe UI" pitchFamily="34" charset="-120"/>
              </a:rPr>
              <a:t>Measured on origin/main 8553bb3 on 28 October, against the 12 dev cases.</a:t>
            </a:r>
            <a:endParaRPr lang="en-US" sz="1500" dirty="0"/>
          </a:p>
        </p:txBody>
      </p:sp>
      <p:sp>
        <p:nvSpPr>
          <p:cNvPr id="10" name="Shape 8"/>
          <p:cNvSpPr/>
          <p:nvPr/>
        </p:nvSpPr>
        <p:spPr>
          <a:xfrm>
            <a:off x="566928" y="2148840"/>
            <a:ext cx="3520440" cy="0"/>
          </a:xfrm>
          <a:prstGeom prst="line">
            <a:avLst/>
          </a:prstGeom>
          <a:noFill/>
          <a:ln w="9525">
            <a:solidFill>
              <a:srgbClr val="E2DDD2"/>
            </a:solidFill>
            <a:prstDash val="solid"/>
          </a:ln>
        </p:spPr>
      </p:sp>
      <p:sp>
        <p:nvSpPr>
          <p:cNvPr id="11" name="Text 9"/>
          <p:cNvSpPr/>
          <p:nvPr/>
        </p:nvSpPr>
        <p:spPr>
          <a:xfrm>
            <a:off x="566928" y="2240280"/>
            <a:ext cx="3474720" cy="786384"/>
          </a:xfrm>
          <a:prstGeom prst="rect">
            <a:avLst/>
          </a:prstGeom>
          <a:noFill/>
          <a:ln/>
        </p:spPr>
        <p:txBody>
          <a:bodyPr wrap="square" lIns="0" tIns="0" rIns="0" bIns="0" rtlCol="0" anchor="t"/>
          <a:lstStyle/>
          <a:p>
            <a:pPr indent="0" marL="0">
              <a:lnSpc>
                <a:spcPct val="90000"/>
              </a:lnSpc>
              <a:buNone/>
            </a:pPr>
            <a:r>
              <a:rPr lang="en-US" sz="5000" dirty="0">
                <a:solidFill>
                  <a:srgbClr val="12262E"/>
                </a:solidFill>
                <a:latin typeface="Georgia" pitchFamily="34" charset="0"/>
                <a:ea typeface="Georgia" pitchFamily="34" charset="-122"/>
                <a:cs typeface="Georgia" pitchFamily="34" charset="-120"/>
              </a:rPr>
              <a:t>12/12</a:t>
            </a:r>
            <a:endParaRPr lang="en-US" sz="5000" dirty="0"/>
          </a:p>
        </p:txBody>
      </p:sp>
      <p:sp>
        <p:nvSpPr>
          <p:cNvPr id="12" name="Text 10"/>
          <p:cNvSpPr/>
          <p:nvPr/>
        </p:nvSpPr>
        <p:spPr>
          <a:xfrm>
            <a:off x="566928" y="3081528"/>
            <a:ext cx="352044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0D6F6A"/>
                </a:solidFill>
                <a:latin typeface="Consolas" pitchFamily="34" charset="0"/>
                <a:ea typeface="Consolas" pitchFamily="34" charset="-122"/>
                <a:cs typeface="Consolas" pitchFamily="34" charset="-120"/>
              </a:rPr>
              <a:t>DEV CASES PASS</a:t>
            </a:r>
            <a:endParaRPr lang="en-US" sz="1000" dirty="0"/>
          </a:p>
        </p:txBody>
      </p:sp>
      <p:sp>
        <p:nvSpPr>
          <p:cNvPr id="13" name="Text 11"/>
          <p:cNvSpPr/>
          <p:nvPr/>
        </p:nvSpPr>
        <p:spPr>
          <a:xfrm>
            <a:off x="566928" y="3264408"/>
            <a:ext cx="3520440" cy="258064"/>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0 format errors. 0 exceptions.</a:t>
            </a:r>
            <a:endParaRPr lang="en-US" sz="1250" dirty="0"/>
          </a:p>
        </p:txBody>
      </p:sp>
      <p:sp>
        <p:nvSpPr>
          <p:cNvPr id="14" name="Shape 12"/>
          <p:cNvSpPr/>
          <p:nvPr/>
        </p:nvSpPr>
        <p:spPr>
          <a:xfrm>
            <a:off x="4343400" y="2148840"/>
            <a:ext cx="3520440" cy="0"/>
          </a:xfrm>
          <a:prstGeom prst="line">
            <a:avLst/>
          </a:prstGeom>
          <a:noFill/>
          <a:ln w="9525">
            <a:solidFill>
              <a:srgbClr val="E2DDD2"/>
            </a:solidFill>
            <a:prstDash val="solid"/>
          </a:ln>
        </p:spPr>
      </p:sp>
      <p:sp>
        <p:nvSpPr>
          <p:cNvPr id="15" name="Text 13"/>
          <p:cNvSpPr/>
          <p:nvPr/>
        </p:nvSpPr>
        <p:spPr>
          <a:xfrm>
            <a:off x="4343400" y="2240280"/>
            <a:ext cx="3474720" cy="786384"/>
          </a:xfrm>
          <a:prstGeom prst="rect">
            <a:avLst/>
          </a:prstGeom>
          <a:noFill/>
          <a:ln/>
        </p:spPr>
        <p:txBody>
          <a:bodyPr wrap="square" lIns="0" tIns="0" rIns="0" bIns="0" rtlCol="0" anchor="t"/>
          <a:lstStyle/>
          <a:p>
            <a:pPr indent="0" marL="0">
              <a:lnSpc>
                <a:spcPct val="90000"/>
              </a:lnSpc>
              <a:buNone/>
            </a:pPr>
            <a:r>
              <a:rPr lang="en-US" sz="5000" dirty="0">
                <a:solidFill>
                  <a:srgbClr val="12262E"/>
                </a:solidFill>
                <a:latin typeface="Georgia" pitchFamily="34" charset="0"/>
                <a:ea typeface="Georgia" pitchFamily="34" charset="-122"/>
                <a:cs typeface="Georgia" pitchFamily="34" charset="-120"/>
              </a:rPr>
              <a:t>1014</a:t>
            </a:r>
            <a:endParaRPr lang="en-US" sz="5000" dirty="0"/>
          </a:p>
        </p:txBody>
      </p:sp>
      <p:sp>
        <p:nvSpPr>
          <p:cNvPr id="16" name="Text 14"/>
          <p:cNvSpPr/>
          <p:nvPr/>
        </p:nvSpPr>
        <p:spPr>
          <a:xfrm>
            <a:off x="4343400" y="3081528"/>
            <a:ext cx="352044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0D6F6A"/>
                </a:solidFill>
                <a:latin typeface="Consolas" pitchFamily="34" charset="0"/>
                <a:ea typeface="Consolas" pitchFamily="34" charset="-122"/>
                <a:cs typeface="Consolas" pitchFamily="34" charset="-120"/>
              </a:rPr>
              <a:t>TESTS PASS</a:t>
            </a:r>
            <a:endParaRPr lang="en-US" sz="1000" dirty="0"/>
          </a:p>
        </p:txBody>
      </p:sp>
      <p:sp>
        <p:nvSpPr>
          <p:cNvPr id="17" name="Text 15"/>
          <p:cNvSpPr/>
          <p:nvPr/>
        </p:nvSpPr>
        <p:spPr>
          <a:xfrm>
            <a:off x="4343400" y="3264408"/>
            <a:ext cx="3520440" cy="258064"/>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100.00% of 3404. Gate is 100.</a:t>
            </a:r>
            <a:endParaRPr lang="en-US" sz="1250" dirty="0"/>
          </a:p>
        </p:txBody>
      </p:sp>
      <p:sp>
        <p:nvSpPr>
          <p:cNvPr id="18" name="Shape 16"/>
          <p:cNvSpPr/>
          <p:nvPr/>
        </p:nvSpPr>
        <p:spPr>
          <a:xfrm>
            <a:off x="8119872" y="2148840"/>
            <a:ext cx="3520440" cy="0"/>
          </a:xfrm>
          <a:prstGeom prst="line">
            <a:avLst/>
          </a:prstGeom>
          <a:noFill/>
          <a:ln w="9525">
            <a:solidFill>
              <a:srgbClr val="E2DDD2"/>
            </a:solidFill>
            <a:prstDash val="solid"/>
          </a:ln>
        </p:spPr>
      </p:sp>
      <p:sp>
        <p:nvSpPr>
          <p:cNvPr id="19" name="Text 17"/>
          <p:cNvSpPr/>
          <p:nvPr/>
        </p:nvSpPr>
        <p:spPr>
          <a:xfrm>
            <a:off x="8119872" y="2240280"/>
            <a:ext cx="3474720" cy="786384"/>
          </a:xfrm>
          <a:prstGeom prst="rect">
            <a:avLst/>
          </a:prstGeom>
          <a:noFill/>
          <a:ln/>
        </p:spPr>
        <p:txBody>
          <a:bodyPr wrap="square" lIns="0" tIns="0" rIns="0" bIns="0" rtlCol="0" anchor="t"/>
          <a:lstStyle/>
          <a:p>
            <a:pPr indent="0" marL="0">
              <a:lnSpc>
                <a:spcPct val="90000"/>
              </a:lnSpc>
              <a:buNone/>
            </a:pPr>
            <a:r>
              <a:rPr lang="en-US" sz="5000" dirty="0">
                <a:solidFill>
                  <a:srgbClr val="12262E"/>
                </a:solidFill>
                <a:latin typeface="Georgia" pitchFamily="34" charset="0"/>
                <a:ea typeface="Georgia" pitchFamily="34" charset="-122"/>
                <a:cs typeface="Georgia" pitchFamily="34" charset="-120"/>
              </a:rPr>
              <a:t>3670</a:t>
            </a:r>
            <a:endParaRPr lang="en-US" sz="5000" dirty="0"/>
          </a:p>
        </p:txBody>
      </p:sp>
      <p:sp>
        <p:nvSpPr>
          <p:cNvPr id="20" name="Text 18"/>
          <p:cNvSpPr/>
          <p:nvPr/>
        </p:nvSpPr>
        <p:spPr>
          <a:xfrm>
            <a:off x="8119872" y="3081528"/>
            <a:ext cx="352044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0D6F6A"/>
                </a:solidFill>
                <a:latin typeface="Consolas" pitchFamily="34" charset="0"/>
                <a:ea typeface="Consolas" pitchFamily="34" charset="-122"/>
                <a:cs typeface="Consolas" pitchFamily="34" charset="-120"/>
              </a:rPr>
              <a:t>P95 DRAFT BUILD, MS</a:t>
            </a:r>
            <a:endParaRPr lang="en-US" sz="1000" dirty="0"/>
          </a:p>
        </p:txBody>
      </p:sp>
      <p:sp>
        <p:nvSpPr>
          <p:cNvPr id="21" name="Text 19"/>
          <p:cNvSpPr/>
          <p:nvPr/>
        </p:nvSpPr>
        <p:spPr>
          <a:xfrm>
            <a:off x="8119872" y="3264408"/>
            <a:ext cx="3520440" cy="258064"/>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p50 is 31 ms. D07 retries twice.</a:t>
            </a:r>
            <a:endParaRPr lang="en-US" sz="1250" dirty="0"/>
          </a:p>
        </p:txBody>
      </p:sp>
      <p:sp>
        <p:nvSpPr>
          <p:cNvPr id="22" name="Shape 20"/>
          <p:cNvSpPr/>
          <p:nvPr/>
        </p:nvSpPr>
        <p:spPr>
          <a:xfrm>
            <a:off x="566928" y="3721608"/>
            <a:ext cx="3520440" cy="0"/>
          </a:xfrm>
          <a:prstGeom prst="line">
            <a:avLst/>
          </a:prstGeom>
          <a:noFill/>
          <a:ln w="9525">
            <a:solidFill>
              <a:srgbClr val="E2DDD2"/>
            </a:solidFill>
            <a:prstDash val="solid"/>
          </a:ln>
        </p:spPr>
      </p:sp>
      <p:sp>
        <p:nvSpPr>
          <p:cNvPr id="23" name="Text 21"/>
          <p:cNvSpPr/>
          <p:nvPr/>
        </p:nvSpPr>
        <p:spPr>
          <a:xfrm>
            <a:off x="566928" y="3813048"/>
            <a:ext cx="3474720" cy="786384"/>
          </a:xfrm>
          <a:prstGeom prst="rect">
            <a:avLst/>
          </a:prstGeom>
          <a:noFill/>
          <a:ln/>
        </p:spPr>
        <p:txBody>
          <a:bodyPr wrap="square" lIns="0" tIns="0" rIns="0" bIns="0" rtlCol="0" anchor="t"/>
          <a:lstStyle/>
          <a:p>
            <a:pPr indent="0" marL="0">
              <a:lnSpc>
                <a:spcPct val="90000"/>
              </a:lnSpc>
              <a:buNone/>
            </a:pPr>
            <a:r>
              <a:rPr lang="en-US" sz="5000" dirty="0">
                <a:solidFill>
                  <a:srgbClr val="12262E"/>
                </a:solidFill>
                <a:latin typeface="Georgia" pitchFamily="34" charset="0"/>
                <a:ea typeface="Georgia" pitchFamily="34" charset="-122"/>
                <a:cs typeface="Georgia" pitchFamily="34" charset="-120"/>
              </a:rPr>
              <a:t>27</a:t>
            </a:r>
            <a:endParaRPr lang="en-US" sz="5000" dirty="0"/>
          </a:p>
        </p:txBody>
      </p:sp>
      <p:sp>
        <p:nvSpPr>
          <p:cNvPr id="24" name="Text 22"/>
          <p:cNvSpPr/>
          <p:nvPr/>
        </p:nvSpPr>
        <p:spPr>
          <a:xfrm>
            <a:off x="566928" y="4654296"/>
            <a:ext cx="352044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0D6F6A"/>
                </a:solidFill>
                <a:latin typeface="Consolas" pitchFamily="34" charset="0"/>
                <a:ea typeface="Consolas" pitchFamily="34" charset="-122"/>
                <a:cs typeface="Consolas" pitchFamily="34" charset="-120"/>
              </a:rPr>
              <a:t>TOOL ATTEMPTS</a:t>
            </a:r>
            <a:endParaRPr lang="en-US" sz="1000" dirty="0"/>
          </a:p>
        </p:txBody>
      </p:sp>
      <p:sp>
        <p:nvSpPr>
          <p:cNvPr id="25" name="Text 23"/>
          <p:cNvSpPr/>
          <p:nvPr/>
        </p:nvSpPr>
        <p:spPr>
          <a:xfrm>
            <a:off x="566928" y="4837176"/>
            <a:ext cx="3520440" cy="258064"/>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24 first reads plus 3 retries.</a:t>
            </a:r>
            <a:endParaRPr lang="en-US" sz="1250" dirty="0"/>
          </a:p>
        </p:txBody>
      </p:sp>
      <p:sp>
        <p:nvSpPr>
          <p:cNvPr id="26" name="Shape 24"/>
          <p:cNvSpPr/>
          <p:nvPr/>
        </p:nvSpPr>
        <p:spPr>
          <a:xfrm>
            <a:off x="4343400" y="3721608"/>
            <a:ext cx="3520440" cy="0"/>
          </a:xfrm>
          <a:prstGeom prst="line">
            <a:avLst/>
          </a:prstGeom>
          <a:noFill/>
          <a:ln w="9525">
            <a:solidFill>
              <a:srgbClr val="E2DDD2"/>
            </a:solidFill>
            <a:prstDash val="solid"/>
          </a:ln>
        </p:spPr>
      </p:sp>
      <p:sp>
        <p:nvSpPr>
          <p:cNvPr id="27" name="Text 25"/>
          <p:cNvSpPr/>
          <p:nvPr/>
        </p:nvSpPr>
        <p:spPr>
          <a:xfrm>
            <a:off x="4343400" y="3813048"/>
            <a:ext cx="3474720" cy="786384"/>
          </a:xfrm>
          <a:prstGeom prst="rect">
            <a:avLst/>
          </a:prstGeom>
          <a:noFill/>
          <a:ln/>
        </p:spPr>
        <p:txBody>
          <a:bodyPr wrap="square" lIns="0" tIns="0" rIns="0" bIns="0" rtlCol="0" anchor="t"/>
          <a:lstStyle/>
          <a:p>
            <a:pPr indent="0" marL="0">
              <a:lnSpc>
                <a:spcPct val="90000"/>
              </a:lnSpc>
              <a:buNone/>
            </a:pPr>
            <a:r>
              <a:rPr lang="en-US" sz="5000" dirty="0">
                <a:solidFill>
                  <a:srgbClr val="12262E"/>
                </a:solidFill>
                <a:latin typeface="Georgia" pitchFamily="34" charset="0"/>
                <a:ea typeface="Georgia" pitchFamily="34" charset="-122"/>
                <a:cs typeface="Georgia" pitchFamily="34" charset="-120"/>
              </a:rPr>
              <a:t>0</a:t>
            </a:r>
            <a:endParaRPr lang="en-US" sz="5000" dirty="0"/>
          </a:p>
        </p:txBody>
      </p:sp>
      <p:sp>
        <p:nvSpPr>
          <p:cNvPr id="28" name="Text 26"/>
          <p:cNvSpPr/>
          <p:nvPr/>
        </p:nvSpPr>
        <p:spPr>
          <a:xfrm>
            <a:off x="4343400" y="4654296"/>
            <a:ext cx="352044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0D6F6A"/>
                </a:solidFill>
                <a:latin typeface="Consolas" pitchFamily="34" charset="0"/>
                <a:ea typeface="Consolas" pitchFamily="34" charset="-122"/>
                <a:cs typeface="Consolas" pitchFamily="34" charset="-120"/>
              </a:rPr>
              <a:t>MODEL CALLS</a:t>
            </a:r>
            <a:endParaRPr lang="en-US" sz="1000" dirty="0"/>
          </a:p>
        </p:txBody>
      </p:sp>
      <p:sp>
        <p:nvSpPr>
          <p:cNvPr id="29" name="Text 27"/>
          <p:cNvSpPr/>
          <p:nvPr/>
        </p:nvSpPr>
        <p:spPr>
          <a:xfrm>
            <a:off x="4343400" y="4837176"/>
            <a:ext cx="3520440" cy="258064"/>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0.00 USD per pass. 12 of 12 rows.</a:t>
            </a:r>
            <a:endParaRPr lang="en-US" sz="1250" dirty="0"/>
          </a:p>
        </p:txBody>
      </p:sp>
      <p:sp>
        <p:nvSpPr>
          <p:cNvPr id="30" name="Shape 28"/>
          <p:cNvSpPr/>
          <p:nvPr/>
        </p:nvSpPr>
        <p:spPr>
          <a:xfrm>
            <a:off x="8119872" y="3721608"/>
            <a:ext cx="3520440" cy="0"/>
          </a:xfrm>
          <a:prstGeom prst="line">
            <a:avLst/>
          </a:prstGeom>
          <a:noFill/>
          <a:ln w="9525">
            <a:solidFill>
              <a:srgbClr val="E2DDD2"/>
            </a:solidFill>
            <a:prstDash val="solid"/>
          </a:ln>
        </p:spPr>
      </p:sp>
      <p:sp>
        <p:nvSpPr>
          <p:cNvPr id="31" name="Text 29"/>
          <p:cNvSpPr/>
          <p:nvPr/>
        </p:nvSpPr>
        <p:spPr>
          <a:xfrm>
            <a:off x="8119872" y="3813048"/>
            <a:ext cx="3474720" cy="786384"/>
          </a:xfrm>
          <a:prstGeom prst="rect">
            <a:avLst/>
          </a:prstGeom>
          <a:noFill/>
          <a:ln/>
        </p:spPr>
        <p:txBody>
          <a:bodyPr wrap="square" lIns="0" tIns="0" rIns="0" bIns="0" rtlCol="0" anchor="t"/>
          <a:lstStyle/>
          <a:p>
            <a:pPr indent="0" marL="0">
              <a:lnSpc>
                <a:spcPct val="90000"/>
              </a:lnSpc>
              <a:buNone/>
            </a:pPr>
            <a:r>
              <a:rPr lang="en-US" sz="5000" dirty="0">
                <a:solidFill>
                  <a:srgbClr val="12262E"/>
                </a:solidFill>
                <a:latin typeface="Georgia" pitchFamily="34" charset="0"/>
                <a:ea typeface="Georgia" pitchFamily="34" charset="-122"/>
                <a:cs typeface="Georgia" pitchFamily="34" charset="-120"/>
              </a:rPr>
              <a:t>126</a:t>
            </a:r>
            <a:endParaRPr lang="en-US" sz="5000" dirty="0"/>
          </a:p>
        </p:txBody>
      </p:sp>
      <p:sp>
        <p:nvSpPr>
          <p:cNvPr id="32" name="Text 30"/>
          <p:cNvSpPr/>
          <p:nvPr/>
        </p:nvSpPr>
        <p:spPr>
          <a:xfrm>
            <a:off x="8119872" y="4654296"/>
            <a:ext cx="352044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0D6F6A"/>
                </a:solidFill>
                <a:latin typeface="Consolas" pitchFamily="34" charset="0"/>
                <a:ea typeface="Consolas" pitchFamily="34" charset="-122"/>
                <a:cs typeface="Consolas" pitchFamily="34" charset="-120"/>
              </a:rPr>
              <a:t>SUITE, SECONDS</a:t>
            </a:r>
            <a:endParaRPr lang="en-US" sz="1000" dirty="0"/>
          </a:p>
        </p:txBody>
      </p:sp>
      <p:sp>
        <p:nvSpPr>
          <p:cNvPr id="33" name="Text 31"/>
          <p:cNvSpPr/>
          <p:nvPr/>
        </p:nvSpPr>
        <p:spPr>
          <a:xfrm>
            <a:off x="8119872" y="4837176"/>
            <a:ext cx="3520440" cy="258064"/>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Full gate, this laptop.</a:t>
            </a:r>
            <a:endParaRPr lang="en-US" sz="1250" dirty="0"/>
          </a:p>
        </p:txBody>
      </p:sp>
      <p:sp>
        <p:nvSpPr>
          <p:cNvPr id="34" name="Text 32"/>
          <p:cNvSpPr/>
          <p:nvPr/>
        </p:nvSpPr>
        <p:spPr>
          <a:xfrm>
            <a:off x="566928" y="5440680"/>
            <a:ext cx="10515600" cy="298704"/>
          </a:xfrm>
          <a:prstGeom prst="rect">
            <a:avLst/>
          </a:prstGeom>
          <a:noFill/>
          <a:ln/>
        </p:spPr>
        <p:txBody>
          <a:bodyPr wrap="square" lIns="0" tIns="0" rIns="0" bIns="0" rtlCol="0" anchor="t"/>
          <a:lstStyle/>
          <a:p>
            <a:pPr algn="l" indent="0" marL="0">
              <a:lnSpc>
                <a:spcPct val="122000"/>
              </a:lnSpc>
              <a:buNone/>
            </a:pPr>
            <a:r>
              <a:rPr lang="en-US" sz="1500" dirty="0">
                <a:solidFill>
                  <a:srgbClr val="12262E"/>
                </a:solidFill>
                <a:latin typeface="Segoe UI" pitchFamily="34" charset="0"/>
                <a:ea typeface="Segoe UI" pitchFamily="34" charset="-122"/>
                <a:cs typeface="Segoe UI" pitchFamily="34" charset="-120"/>
              </a:rPr>
              <a:t>Twelve of twelve build. Manual review and retries are decisions, and none of them fails silently.</a:t>
            </a:r>
            <a:endParaRPr lang="en-US" sz="1500" dirty="0"/>
          </a:p>
        </p:txBody>
      </p:sp>
      <p:sp>
        <p:nvSpPr>
          <p:cNvPr id="35" name="Text 33"/>
          <p:cNvSpPr/>
          <p:nvPr/>
        </p:nvSpPr>
        <p:spPr>
          <a:xfrm>
            <a:off x="566928" y="5897880"/>
            <a:ext cx="11055096" cy="217424"/>
          </a:xfrm>
          <a:prstGeom prst="rect">
            <a:avLst/>
          </a:prstGeom>
          <a:noFill/>
          <a:ln/>
        </p:spPr>
        <p:txBody>
          <a:bodyPr wrap="square" lIns="0" tIns="0" rIns="0" bIns="0" rtlCol="0" anchor="t"/>
          <a:lstStyle/>
          <a:p>
            <a:pPr algn="l" indent="0" marL="0">
              <a:lnSpc>
                <a:spcPct val="125000"/>
              </a:lnSpc>
              <a:buNone/>
            </a:pPr>
            <a:r>
              <a:rPr lang="en-US" sz="1000" spc="110" kern="0" dirty="0">
                <a:solidFill>
                  <a:srgbClr val="68777D"/>
                </a:solidFill>
                <a:latin typeface="Consolas" pitchFamily="34" charset="0"/>
                <a:ea typeface="Consolas" pitchFamily="34" charset="-122"/>
                <a:cs typeface="Consolas" pitchFamily="34" charset="-120"/>
              </a:rPr>
              <a:t>ALL TWELVE PASS  ·  0 EXCEPTIONS  ·  0 MODEL CALLS  ·  0.00 USD  ·  D07 4 ATTEMPTS, D10 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566928" y="566928"/>
            <a:ext cx="11057839" cy="0"/>
          </a:xfrm>
          <a:prstGeom prst="line">
            <a:avLst/>
          </a:prstGeom>
          <a:noFill/>
          <a:ln w="12700">
            <a:solidFill>
              <a:srgbClr val="D3CDC0"/>
            </a:solidFill>
            <a:prstDash val="solid"/>
          </a:ln>
        </p:spPr>
      </p:sp>
      <p:sp>
        <p:nvSpPr>
          <p:cNvPr id="3" name="Text 1"/>
          <p:cNvSpPr/>
          <p:nvPr/>
        </p:nvSpPr>
        <p:spPr>
          <a:xfrm>
            <a:off x="566928" y="347472"/>
            <a:ext cx="5486400" cy="201168"/>
          </a:xfrm>
          <a:prstGeom prst="rect">
            <a:avLst/>
          </a:prstGeom>
          <a:noFill/>
          <a:ln/>
        </p:spPr>
        <p:txBody>
          <a:bodyPr wrap="square" lIns="0" tIns="0" rIns="0" bIns="0" rtlCol="0" anchor="ctr"/>
          <a:lstStyle/>
          <a:p>
            <a:pPr indent="0" marL="0">
              <a:lnSpc>
                <a:spcPct val="118000"/>
              </a:lnSpc>
              <a:buNone/>
            </a:pPr>
            <a:r>
              <a:rPr lang="en-US" sz="1000" spc="120" kern="0" dirty="0">
                <a:solidFill>
                  <a:srgbClr val="0D6F6A"/>
                </a:solidFill>
                <a:latin typeface="Consolas" pitchFamily="34" charset="0"/>
                <a:ea typeface="Consolas" pitchFamily="34" charset="-122"/>
                <a:cs typeface="Consolas" pitchFamily="34" charset="-120"/>
              </a:rPr>
              <a:t>05 · ARCHITECTURE</a:t>
            </a:r>
            <a:endParaRPr lang="en-US" sz="1000" dirty="0"/>
          </a:p>
        </p:txBody>
      </p:sp>
      <p:sp>
        <p:nvSpPr>
          <p:cNvPr id="4" name="Text 2"/>
          <p:cNvSpPr/>
          <p:nvPr/>
        </p:nvSpPr>
        <p:spPr>
          <a:xfrm>
            <a:off x="7052767" y="347472"/>
            <a:ext cx="4572000" cy="201168"/>
          </a:xfrm>
          <a:prstGeom prst="rect">
            <a:avLst/>
          </a:prstGeom>
          <a:noFill/>
          <a:ln/>
        </p:spPr>
        <p:txBody>
          <a:bodyPr wrap="square" lIns="0" tIns="0" rIns="0" bIns="0" rtlCol="0" anchor="ctr"/>
          <a:lstStyle/>
          <a:p>
            <a:pPr algn="r" indent="0" marL="0">
              <a:lnSpc>
                <a:spcPct val="118000"/>
              </a:lnSpc>
              <a:buNone/>
            </a:pPr>
            <a:r>
              <a:rPr lang="en-US" sz="1000" spc="120" kern="0" dirty="0">
                <a:solidFill>
                  <a:srgbClr val="68777D"/>
                </a:solidFill>
                <a:latin typeface="Consolas" pitchFamily="34" charset="0"/>
                <a:ea typeface="Consolas" pitchFamily="34" charset="-122"/>
                <a:cs typeface="Consolas" pitchFamily="34" charset="-120"/>
              </a:rPr>
              <a:t>LUMEN BANK · DISPUTE COPILOT</a:t>
            </a:r>
            <a:endParaRPr lang="en-US" sz="1000" dirty="0"/>
          </a:p>
        </p:txBody>
      </p:sp>
      <p:sp>
        <p:nvSpPr>
          <p:cNvPr id="5" name="Shape 3"/>
          <p:cNvSpPr/>
          <p:nvPr/>
        </p:nvSpPr>
        <p:spPr>
          <a:xfrm>
            <a:off x="566928" y="6382512"/>
            <a:ext cx="11057839" cy="0"/>
          </a:xfrm>
          <a:prstGeom prst="line">
            <a:avLst/>
          </a:prstGeom>
          <a:noFill/>
          <a:ln w="9525">
            <a:solidFill>
              <a:srgbClr val="E2DDD2"/>
            </a:solidFill>
            <a:prstDash val="solid"/>
          </a:ln>
        </p:spPr>
      </p:sp>
      <p:sp>
        <p:nvSpPr>
          <p:cNvPr id="6" name="Text 4"/>
          <p:cNvSpPr/>
          <p:nvPr/>
        </p:nvSpPr>
        <p:spPr>
          <a:xfrm>
            <a:off x="566928" y="6473952"/>
            <a:ext cx="5486400" cy="219456"/>
          </a:xfrm>
          <a:prstGeom prst="rect">
            <a:avLst/>
          </a:prstGeom>
          <a:noFill/>
          <a:ln/>
        </p:spPr>
        <p:txBody>
          <a:bodyPr wrap="square" lIns="0" tIns="0" rIns="0" bIns="0" rtlCol="0" anchor="t"/>
          <a:lstStyle/>
          <a:p>
            <a:pPr indent="0" marL="0">
              <a:lnSpc>
                <a:spcPct val="118000"/>
              </a:lnSpc>
              <a:buNone/>
            </a:pPr>
            <a:r>
              <a:rPr lang="en-US" sz="1000" dirty="0">
                <a:solidFill>
                  <a:srgbClr val="68777D"/>
                </a:solidFill>
                <a:latin typeface="Consolas" pitchFamily="34" charset="0"/>
                <a:ea typeface="Consolas" pitchFamily="34" charset="-122"/>
                <a:cs typeface="Consolas" pitchFamily="34" charset="-120"/>
              </a:rPr>
              <a:t>Final demo and technical defense · 29 October 2026</a:t>
            </a:r>
            <a:endParaRPr lang="en-US" sz="1000" dirty="0"/>
          </a:p>
        </p:txBody>
      </p:sp>
      <p:sp>
        <p:nvSpPr>
          <p:cNvPr id="7" name="Text 5"/>
          <p:cNvSpPr/>
          <p:nvPr/>
        </p:nvSpPr>
        <p:spPr>
          <a:xfrm>
            <a:off x="9338767" y="6473952"/>
            <a:ext cx="2286000" cy="219456"/>
          </a:xfrm>
          <a:prstGeom prst="rect">
            <a:avLst/>
          </a:prstGeom>
          <a:noFill/>
          <a:ln/>
        </p:spPr>
        <p:txBody>
          <a:bodyPr wrap="square" lIns="0" tIns="0" rIns="0" bIns="0" rtlCol="0" anchor="t"/>
          <a:lstStyle/>
          <a:p>
            <a:pPr algn="r" indent="0" marL="0">
              <a:lnSpc>
                <a:spcPct val="118000"/>
              </a:lnSpc>
              <a:buNone/>
            </a:pPr>
            <a:r>
              <a:rPr lang="en-US" sz="1000" dirty="0">
                <a:solidFill>
                  <a:srgbClr val="68777D"/>
                </a:solidFill>
                <a:latin typeface="Consolas" pitchFamily="34" charset="0"/>
                <a:ea typeface="Consolas" pitchFamily="34" charset="-122"/>
                <a:cs typeface="Consolas" pitchFamily="34" charset="-120"/>
              </a:rPr>
              <a:t>[ 06 / 16 ]</a:t>
            </a:r>
            <a:endParaRPr lang="en-US" sz="1000" dirty="0"/>
          </a:p>
        </p:txBody>
      </p:sp>
      <p:sp>
        <p:nvSpPr>
          <p:cNvPr id="8" name="Text 6"/>
          <p:cNvSpPr/>
          <p:nvPr/>
        </p:nvSpPr>
        <p:spPr>
          <a:xfrm>
            <a:off x="566928" y="960120"/>
            <a:ext cx="10058400" cy="1243584"/>
          </a:xfrm>
          <a:prstGeom prst="rect">
            <a:avLst/>
          </a:prstGeom>
          <a:noFill/>
          <a:ln/>
        </p:spPr>
        <p:txBody>
          <a:bodyPr wrap="square" lIns="0" tIns="0" rIns="0" bIns="0" rtlCol="0" anchor="t"/>
          <a:lstStyle/>
          <a:p>
            <a:pPr indent="0" marL="0">
              <a:lnSpc>
                <a:spcPct val="98000"/>
              </a:lnSpc>
              <a:buNone/>
            </a:pPr>
            <a:r>
              <a:rPr lang="en-US" sz="3400" dirty="0">
                <a:solidFill>
                  <a:srgbClr val="12262E"/>
                </a:solidFill>
                <a:latin typeface="Georgia" pitchFamily="34" charset="0"/>
                <a:ea typeface="Georgia" pitchFamily="34" charset="-122"/>
                <a:cs typeface="Georgia" pitchFamily="34" charset="-120"/>
              </a:rPr>
              <a:t>Deterministic by design.</a:t>
            </a:r>
            <a:endParaRPr lang="en-US" sz="3400" dirty="0"/>
          </a:p>
          <a:p>
            <a:pPr indent="0" marL="0">
              <a:lnSpc>
                <a:spcPct val="98000"/>
              </a:lnSpc>
              <a:buNone/>
            </a:pPr>
            <a:r>
              <a:rPr lang="en-US" sz="3400" dirty="0">
                <a:solidFill>
                  <a:srgbClr val="12262E"/>
                </a:solidFill>
                <a:latin typeface="Georgia" pitchFamily="34" charset="0"/>
                <a:ea typeface="Georgia" pitchFamily="34" charset="-122"/>
                <a:cs typeface="Georgia" pitchFamily="34" charset="-120"/>
              </a:rPr>
              <a:t>The model sits outside the decision path.</a:t>
            </a:r>
            <a:endParaRPr lang="en-US" sz="3400" dirty="0"/>
          </a:p>
        </p:txBody>
      </p:sp>
      <p:sp>
        <p:nvSpPr>
          <p:cNvPr id="9" name="Text 7"/>
          <p:cNvSpPr/>
          <p:nvPr/>
        </p:nvSpPr>
        <p:spPr>
          <a:xfrm>
            <a:off x="566928" y="2231136"/>
            <a:ext cx="10607040" cy="298704"/>
          </a:xfrm>
          <a:prstGeom prst="rect">
            <a:avLst/>
          </a:prstGeom>
          <a:noFill/>
          <a:ln/>
        </p:spPr>
        <p:txBody>
          <a:bodyPr wrap="square" lIns="0" tIns="0" rIns="0" bIns="0" rtlCol="0" anchor="t"/>
          <a:lstStyle/>
          <a:p>
            <a:pPr algn="l" indent="0" marL="0">
              <a:lnSpc>
                <a:spcPct val="122000"/>
              </a:lnSpc>
              <a:buNone/>
            </a:pPr>
            <a:r>
              <a:rPr lang="en-US" sz="1500" dirty="0">
                <a:solidFill>
                  <a:srgbClr val="12262E"/>
                </a:solidFill>
                <a:latin typeface="Segoe UI" pitchFamily="34" charset="0"/>
                <a:ea typeface="Segoe UI" pitchFamily="34" charset="-122"/>
                <a:cs typeface="Segoe UI" pitchFamily="34" charset="-120"/>
              </a:rPr>
              <a:t>Untrusted text enters at the left. A human opens the last door. Nothing in between asks a model.</a:t>
            </a:r>
            <a:endParaRPr lang="en-US" sz="1500" dirty="0"/>
          </a:p>
        </p:txBody>
      </p:sp>
      <p:pic>
        <p:nvPicPr>
          <p:cNvPr id="10" name="Image 0" descr="D:\20-projects\credit-card-dispute\.worktrees\review-91\docs\deck\assets\pipeline_bare.png">    </p:cNvPr>
          <p:cNvPicPr>
            <a:picLocks noChangeAspect="1"/>
          </p:cNvPicPr>
          <p:nvPr/>
        </p:nvPicPr>
        <p:blipFill>
          <a:blip r:embed="rId1"/>
          <a:stretch>
            <a:fillRect/>
          </a:stretch>
        </p:blipFill>
        <p:spPr>
          <a:xfrm>
            <a:off x="566928" y="2615184"/>
            <a:ext cx="11055096" cy="2584094"/>
          </a:xfrm>
          <a:prstGeom prst="rect">
            <a:avLst/>
          </a:prstGeom>
        </p:spPr>
      </p:pic>
      <p:sp>
        <p:nvSpPr>
          <p:cNvPr id="11" name="Shape 8"/>
          <p:cNvSpPr/>
          <p:nvPr/>
        </p:nvSpPr>
        <p:spPr>
          <a:xfrm>
            <a:off x="566928" y="5413248"/>
            <a:ext cx="11055096" cy="0"/>
          </a:xfrm>
          <a:prstGeom prst="line">
            <a:avLst/>
          </a:prstGeom>
          <a:noFill/>
          <a:ln w="9525">
            <a:solidFill>
              <a:srgbClr val="E2DDD2"/>
            </a:solidFill>
            <a:prstDash val="solid"/>
          </a:ln>
        </p:spPr>
      </p:sp>
      <p:sp>
        <p:nvSpPr>
          <p:cNvPr id="12" name="Text 9"/>
          <p:cNvSpPr/>
          <p:nvPr/>
        </p:nvSpPr>
        <p:spPr>
          <a:xfrm>
            <a:off x="566928" y="5486400"/>
            <a:ext cx="3520440" cy="217424"/>
          </a:xfrm>
          <a:prstGeom prst="rect">
            <a:avLst/>
          </a:prstGeom>
          <a:noFill/>
          <a:ln/>
        </p:spPr>
        <p:txBody>
          <a:bodyPr wrap="square" lIns="0" tIns="0" rIns="0" bIns="0" rtlCol="0" anchor="t"/>
          <a:lstStyle/>
          <a:p>
            <a:pPr algn="l" indent="0" marL="0">
              <a:lnSpc>
                <a:spcPct val="125000"/>
              </a:lnSpc>
              <a:buNone/>
            </a:pPr>
            <a:r>
              <a:rPr lang="en-US" sz="1000" spc="110" kern="0" dirty="0">
                <a:solidFill>
                  <a:srgbClr val="0D6F6A"/>
                </a:solidFill>
                <a:latin typeface="Consolas" pitchFamily="34" charset="0"/>
                <a:ea typeface="Consolas" pitchFamily="34" charset="-122"/>
                <a:cs typeface="Consolas" pitchFamily="34" charset="-120"/>
              </a:rPr>
              <a:t>ONE CONTRACT PER CASE</a:t>
            </a:r>
            <a:endParaRPr lang="en-US" sz="1000" dirty="0"/>
          </a:p>
        </p:txBody>
      </p:sp>
      <p:sp>
        <p:nvSpPr>
          <p:cNvPr id="13" name="Text 10"/>
          <p:cNvSpPr/>
          <p:nvPr/>
        </p:nvSpPr>
        <p:spPr>
          <a:xfrm>
            <a:off x="566928" y="5669280"/>
            <a:ext cx="3520440" cy="258064"/>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Ten keys, one object, written by code.</a:t>
            </a:r>
            <a:endParaRPr lang="en-US" sz="1250" dirty="0"/>
          </a:p>
        </p:txBody>
      </p:sp>
      <p:sp>
        <p:nvSpPr>
          <p:cNvPr id="14" name="Text 11"/>
          <p:cNvSpPr/>
          <p:nvPr/>
        </p:nvSpPr>
        <p:spPr>
          <a:xfrm>
            <a:off x="4343400" y="5486400"/>
            <a:ext cx="3520440" cy="217424"/>
          </a:xfrm>
          <a:prstGeom prst="rect">
            <a:avLst/>
          </a:prstGeom>
          <a:noFill/>
          <a:ln/>
        </p:spPr>
        <p:txBody>
          <a:bodyPr wrap="square" lIns="0" tIns="0" rIns="0" bIns="0" rtlCol="0" anchor="t"/>
          <a:lstStyle/>
          <a:p>
            <a:pPr algn="l" indent="0" marL="0">
              <a:lnSpc>
                <a:spcPct val="125000"/>
              </a:lnSpc>
              <a:buNone/>
            </a:pPr>
            <a:r>
              <a:rPr lang="en-US" sz="1000" spc="110" kern="0" dirty="0">
                <a:solidFill>
                  <a:srgbClr val="0D6F6A"/>
                </a:solidFill>
                <a:latin typeface="Consolas" pitchFamily="34" charset="0"/>
                <a:ea typeface="Consolas" pitchFamily="34" charset="-122"/>
                <a:cs typeface="Consolas" pitchFamily="34" charset="-120"/>
              </a:rPr>
              <a:t>A STOP CARRIES A REASON</a:t>
            </a:r>
            <a:endParaRPr lang="en-US" sz="1000" dirty="0"/>
          </a:p>
        </p:txBody>
      </p:sp>
      <p:sp>
        <p:nvSpPr>
          <p:cNvPr id="15" name="Text 12"/>
          <p:cNvSpPr/>
          <p:nvPr/>
        </p:nvSpPr>
        <p:spPr>
          <a:xfrm>
            <a:off x="4343400" y="5669280"/>
            <a:ext cx="3520440" cy="461264"/>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Two typed exceptions print the case and the source.</a:t>
            </a:r>
            <a:endParaRPr lang="en-US" sz="1250" dirty="0"/>
          </a:p>
        </p:txBody>
      </p:sp>
      <p:sp>
        <p:nvSpPr>
          <p:cNvPr id="16" name="Text 13"/>
          <p:cNvSpPr/>
          <p:nvPr/>
        </p:nvSpPr>
        <p:spPr>
          <a:xfrm>
            <a:off x="8119872" y="5486400"/>
            <a:ext cx="3520440" cy="217424"/>
          </a:xfrm>
          <a:prstGeom prst="rect">
            <a:avLst/>
          </a:prstGeom>
          <a:noFill/>
          <a:ln/>
        </p:spPr>
        <p:txBody>
          <a:bodyPr wrap="square" lIns="0" tIns="0" rIns="0" bIns="0" rtlCol="0" anchor="t"/>
          <a:lstStyle/>
          <a:p>
            <a:pPr algn="l" indent="0" marL="0">
              <a:lnSpc>
                <a:spcPct val="125000"/>
              </a:lnSpc>
              <a:buNone/>
            </a:pPr>
            <a:r>
              <a:rPr lang="en-US" sz="1000" spc="110" kern="0" dirty="0">
                <a:solidFill>
                  <a:srgbClr val="0D6F6A"/>
                </a:solidFill>
                <a:latin typeface="Consolas" pitchFamily="34" charset="0"/>
                <a:ea typeface="Consolas" pitchFamily="34" charset="-122"/>
                <a:cs typeface="Consolas" pitchFamily="34" charset="-120"/>
              </a:rPr>
              <a:t>EVERY CITATION IS AN EXACT SLICE</a:t>
            </a:r>
            <a:endParaRPr lang="en-US" sz="1000" dirty="0"/>
          </a:p>
        </p:txBody>
      </p:sp>
      <p:sp>
        <p:nvSpPr>
          <p:cNvPr id="17" name="Text 14"/>
          <p:cNvSpPr/>
          <p:nvPr/>
        </p:nvSpPr>
        <p:spPr>
          <a:xfrm>
            <a:off x="8119872" y="5669280"/>
            <a:ext cx="3520440" cy="461264"/>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A quote that is not in the source is refused.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566928" y="566928"/>
            <a:ext cx="11057839" cy="0"/>
          </a:xfrm>
          <a:prstGeom prst="line">
            <a:avLst/>
          </a:prstGeom>
          <a:noFill/>
          <a:ln w="12700">
            <a:solidFill>
              <a:srgbClr val="D3CDC0"/>
            </a:solidFill>
            <a:prstDash val="solid"/>
          </a:ln>
        </p:spPr>
      </p:sp>
      <p:sp>
        <p:nvSpPr>
          <p:cNvPr id="3" name="Text 1"/>
          <p:cNvSpPr/>
          <p:nvPr/>
        </p:nvSpPr>
        <p:spPr>
          <a:xfrm>
            <a:off x="566928" y="347472"/>
            <a:ext cx="5486400" cy="201168"/>
          </a:xfrm>
          <a:prstGeom prst="rect">
            <a:avLst/>
          </a:prstGeom>
          <a:noFill/>
          <a:ln/>
        </p:spPr>
        <p:txBody>
          <a:bodyPr wrap="square" lIns="0" tIns="0" rIns="0" bIns="0" rtlCol="0" anchor="ctr"/>
          <a:lstStyle/>
          <a:p>
            <a:pPr indent="0" marL="0">
              <a:lnSpc>
                <a:spcPct val="118000"/>
              </a:lnSpc>
              <a:buNone/>
            </a:pPr>
            <a:r>
              <a:rPr lang="en-US" sz="1000" spc="120" kern="0" dirty="0">
                <a:solidFill>
                  <a:srgbClr val="0D6F6A"/>
                </a:solidFill>
                <a:latin typeface="Consolas" pitchFamily="34" charset="0"/>
                <a:ea typeface="Consolas" pitchFamily="34" charset="-122"/>
                <a:cs typeface="Consolas" pitchFamily="34" charset="-120"/>
              </a:rPr>
              <a:t>06 · THE MODEL</a:t>
            </a:r>
            <a:endParaRPr lang="en-US" sz="1000" dirty="0"/>
          </a:p>
        </p:txBody>
      </p:sp>
      <p:sp>
        <p:nvSpPr>
          <p:cNvPr id="4" name="Text 2"/>
          <p:cNvSpPr/>
          <p:nvPr/>
        </p:nvSpPr>
        <p:spPr>
          <a:xfrm>
            <a:off x="7052767" y="347472"/>
            <a:ext cx="4572000" cy="201168"/>
          </a:xfrm>
          <a:prstGeom prst="rect">
            <a:avLst/>
          </a:prstGeom>
          <a:noFill/>
          <a:ln/>
        </p:spPr>
        <p:txBody>
          <a:bodyPr wrap="square" lIns="0" tIns="0" rIns="0" bIns="0" rtlCol="0" anchor="ctr"/>
          <a:lstStyle/>
          <a:p>
            <a:pPr algn="r" indent="0" marL="0">
              <a:lnSpc>
                <a:spcPct val="118000"/>
              </a:lnSpc>
              <a:buNone/>
            </a:pPr>
            <a:r>
              <a:rPr lang="en-US" sz="1000" spc="120" kern="0" dirty="0">
                <a:solidFill>
                  <a:srgbClr val="68777D"/>
                </a:solidFill>
                <a:latin typeface="Consolas" pitchFamily="34" charset="0"/>
                <a:ea typeface="Consolas" pitchFamily="34" charset="-122"/>
                <a:cs typeface="Consolas" pitchFamily="34" charset="-120"/>
              </a:rPr>
              <a:t>LUMEN BANK · DISPUTE COPILOT</a:t>
            </a:r>
            <a:endParaRPr lang="en-US" sz="1000" dirty="0"/>
          </a:p>
        </p:txBody>
      </p:sp>
      <p:sp>
        <p:nvSpPr>
          <p:cNvPr id="5" name="Shape 3"/>
          <p:cNvSpPr/>
          <p:nvPr/>
        </p:nvSpPr>
        <p:spPr>
          <a:xfrm>
            <a:off x="566928" y="6382512"/>
            <a:ext cx="11057839" cy="0"/>
          </a:xfrm>
          <a:prstGeom prst="line">
            <a:avLst/>
          </a:prstGeom>
          <a:noFill/>
          <a:ln w="9525">
            <a:solidFill>
              <a:srgbClr val="E2DDD2"/>
            </a:solidFill>
            <a:prstDash val="solid"/>
          </a:ln>
        </p:spPr>
      </p:sp>
      <p:sp>
        <p:nvSpPr>
          <p:cNvPr id="6" name="Text 4"/>
          <p:cNvSpPr/>
          <p:nvPr/>
        </p:nvSpPr>
        <p:spPr>
          <a:xfrm>
            <a:off x="566928" y="6473952"/>
            <a:ext cx="5486400" cy="219456"/>
          </a:xfrm>
          <a:prstGeom prst="rect">
            <a:avLst/>
          </a:prstGeom>
          <a:noFill/>
          <a:ln/>
        </p:spPr>
        <p:txBody>
          <a:bodyPr wrap="square" lIns="0" tIns="0" rIns="0" bIns="0" rtlCol="0" anchor="t"/>
          <a:lstStyle/>
          <a:p>
            <a:pPr indent="0" marL="0">
              <a:lnSpc>
                <a:spcPct val="118000"/>
              </a:lnSpc>
              <a:buNone/>
            </a:pPr>
            <a:r>
              <a:rPr lang="en-US" sz="1000" dirty="0">
                <a:solidFill>
                  <a:srgbClr val="68777D"/>
                </a:solidFill>
                <a:latin typeface="Consolas" pitchFamily="34" charset="0"/>
                <a:ea typeface="Consolas" pitchFamily="34" charset="-122"/>
                <a:cs typeface="Consolas" pitchFamily="34" charset="-120"/>
              </a:rPr>
              <a:t>Final demo and technical defense · 29 October 2026</a:t>
            </a:r>
            <a:endParaRPr lang="en-US" sz="1000" dirty="0"/>
          </a:p>
        </p:txBody>
      </p:sp>
      <p:sp>
        <p:nvSpPr>
          <p:cNvPr id="7" name="Text 5"/>
          <p:cNvSpPr/>
          <p:nvPr/>
        </p:nvSpPr>
        <p:spPr>
          <a:xfrm>
            <a:off x="9338767" y="6473952"/>
            <a:ext cx="2286000" cy="219456"/>
          </a:xfrm>
          <a:prstGeom prst="rect">
            <a:avLst/>
          </a:prstGeom>
          <a:noFill/>
          <a:ln/>
        </p:spPr>
        <p:txBody>
          <a:bodyPr wrap="square" lIns="0" tIns="0" rIns="0" bIns="0" rtlCol="0" anchor="t"/>
          <a:lstStyle/>
          <a:p>
            <a:pPr algn="r" indent="0" marL="0">
              <a:lnSpc>
                <a:spcPct val="118000"/>
              </a:lnSpc>
              <a:buNone/>
            </a:pPr>
            <a:r>
              <a:rPr lang="en-US" sz="1000" dirty="0">
                <a:solidFill>
                  <a:srgbClr val="68777D"/>
                </a:solidFill>
                <a:latin typeface="Consolas" pitchFamily="34" charset="0"/>
                <a:ea typeface="Consolas" pitchFamily="34" charset="-122"/>
                <a:cs typeface="Consolas" pitchFamily="34" charset="-120"/>
              </a:rPr>
              <a:t>[ 07 / 16 ]</a:t>
            </a:r>
            <a:endParaRPr lang="en-US" sz="1000" dirty="0"/>
          </a:p>
        </p:txBody>
      </p:sp>
      <p:sp>
        <p:nvSpPr>
          <p:cNvPr id="8" name="Text 6"/>
          <p:cNvSpPr/>
          <p:nvPr/>
        </p:nvSpPr>
        <p:spPr>
          <a:xfrm>
            <a:off x="566928" y="960120"/>
            <a:ext cx="9692640" cy="1225296"/>
          </a:xfrm>
          <a:prstGeom prst="rect">
            <a:avLst/>
          </a:prstGeom>
          <a:noFill/>
          <a:ln/>
        </p:spPr>
        <p:txBody>
          <a:bodyPr wrap="square" lIns="0" tIns="0" rIns="0" bIns="0" rtlCol="0" anchor="t"/>
          <a:lstStyle/>
          <a:p>
            <a:pPr indent="0" marL="0">
              <a:lnSpc>
                <a:spcPct val="98000"/>
              </a:lnSpc>
              <a:buNone/>
            </a:pPr>
            <a:r>
              <a:rPr lang="en-US" sz="3400" dirty="0">
                <a:solidFill>
                  <a:srgbClr val="12262E"/>
                </a:solidFill>
                <a:latin typeface="Georgia" pitchFamily="34" charset="0"/>
                <a:ea typeface="Georgia" pitchFamily="34" charset="-122"/>
                <a:cs typeface="Georgia" pitchFamily="34" charset="-120"/>
              </a:rPr>
              <a:t>Once approved, the model answers</a:t>
            </a:r>
            <a:endParaRPr lang="en-US" sz="3400" dirty="0"/>
          </a:p>
          <a:p>
            <a:pPr indent="0" marL="0">
              <a:lnSpc>
                <a:spcPct val="98000"/>
              </a:lnSpc>
              <a:buNone/>
            </a:pPr>
            <a:r>
              <a:rPr lang="en-US" sz="3400" dirty="0">
                <a:solidFill>
                  <a:srgbClr val="12262E"/>
                </a:solidFill>
                <a:latin typeface="Georgia" pitchFamily="34" charset="0"/>
                <a:ea typeface="Georgia" pitchFamily="34" charset="-122"/>
                <a:cs typeface="Georgia" pitchFamily="34" charset="-120"/>
              </a:rPr>
              <a:t>two closed questions. Nothing else.</a:t>
            </a:r>
            <a:endParaRPr lang="en-US" sz="3400" dirty="0"/>
          </a:p>
        </p:txBody>
      </p:sp>
      <p:sp>
        <p:nvSpPr>
          <p:cNvPr id="9" name="Shape 7"/>
          <p:cNvSpPr/>
          <p:nvPr/>
        </p:nvSpPr>
        <p:spPr>
          <a:xfrm>
            <a:off x="566928" y="2286000"/>
            <a:ext cx="5120640" cy="2148840"/>
          </a:xfrm>
          <a:prstGeom prst="rect">
            <a:avLst/>
          </a:prstGeom>
          <a:solidFill>
            <a:srgbClr val="FFFFFF"/>
          </a:solidFill>
          <a:ln w="9525">
            <a:solidFill>
              <a:srgbClr val="E2DDD2"/>
            </a:solidFill>
            <a:prstDash val="solid"/>
          </a:ln>
        </p:spPr>
      </p:sp>
      <p:sp>
        <p:nvSpPr>
          <p:cNvPr id="10" name="Text 8"/>
          <p:cNvSpPr/>
          <p:nvPr/>
        </p:nvSpPr>
        <p:spPr>
          <a:xfrm>
            <a:off x="841248" y="2432304"/>
            <a:ext cx="4572000" cy="217424"/>
          </a:xfrm>
          <a:prstGeom prst="rect">
            <a:avLst/>
          </a:prstGeom>
          <a:noFill/>
          <a:ln/>
        </p:spPr>
        <p:txBody>
          <a:bodyPr wrap="square" lIns="0" tIns="0" rIns="0" bIns="0" rtlCol="0" anchor="t"/>
          <a:lstStyle/>
          <a:p>
            <a:pPr algn="l" indent="0" marL="0">
              <a:lnSpc>
                <a:spcPct val="125000"/>
              </a:lnSpc>
              <a:buNone/>
            </a:pPr>
            <a:r>
              <a:rPr lang="en-US" sz="1000" spc="110" kern="0" dirty="0">
                <a:solidFill>
                  <a:srgbClr val="0D6F6A"/>
                </a:solidFill>
                <a:latin typeface="Consolas" pitchFamily="34" charset="0"/>
                <a:ea typeface="Consolas" pitchFamily="34" charset="-122"/>
                <a:cs typeface="Consolas" pitchFamily="34" charset="-120"/>
              </a:rPr>
              <a:t>TEMPLATE PATH  ·  ON MAIN</a:t>
            </a:r>
            <a:endParaRPr lang="en-US" sz="1000" dirty="0"/>
          </a:p>
        </p:txBody>
      </p:sp>
      <p:sp>
        <p:nvSpPr>
          <p:cNvPr id="11" name="Text 9"/>
          <p:cNvSpPr/>
          <p:nvPr/>
        </p:nvSpPr>
        <p:spPr>
          <a:xfrm>
            <a:off x="841248" y="2651760"/>
            <a:ext cx="4572000" cy="384048"/>
          </a:xfrm>
          <a:prstGeom prst="rect">
            <a:avLst/>
          </a:prstGeom>
          <a:noFill/>
          <a:ln/>
        </p:spPr>
        <p:txBody>
          <a:bodyPr wrap="square" lIns="0" tIns="0" rIns="0" bIns="0" rtlCol="0" anchor="t"/>
          <a:lstStyle/>
          <a:p>
            <a:pPr algn="l" indent="0" marL="0">
              <a:lnSpc>
                <a:spcPct val="122000"/>
              </a:lnSpc>
              <a:buNone/>
            </a:pPr>
            <a:r>
              <a:rPr lang="en-US" sz="1700" dirty="0">
                <a:solidFill>
                  <a:srgbClr val="12262E"/>
                </a:solidFill>
                <a:latin typeface="Georgia" pitchFamily="34" charset="0"/>
                <a:ea typeface="Georgia" pitchFamily="34" charset="-122"/>
                <a:cs typeface="Georgia" pitchFamily="34" charset="-120"/>
              </a:rPr>
              <a:t>Frozen facts, fixed sentences.</a:t>
            </a:r>
            <a:endParaRPr lang="en-US" sz="1700" dirty="0"/>
          </a:p>
        </p:txBody>
      </p:sp>
      <p:sp>
        <p:nvSpPr>
          <p:cNvPr id="12" name="Text 10"/>
          <p:cNvSpPr/>
          <p:nvPr/>
        </p:nvSpPr>
        <p:spPr>
          <a:xfrm>
            <a:off x="841248" y="3127248"/>
            <a:ext cx="4572000" cy="688848"/>
          </a:xfrm>
          <a:prstGeom prst="rect">
            <a:avLst/>
          </a:prstGeom>
          <a:noFill/>
          <a:ln/>
        </p:spPr>
        <p:txBody>
          <a:bodyPr wrap="square" lIns="0" tIns="0" rIns="0" bIns="0" rtlCol="0" anchor="t"/>
          <a:lstStyle/>
          <a:p>
            <a:pPr algn="l" indent="0" marL="0">
              <a:lnSpc>
                <a:spcPct val="122000"/>
              </a:lnSpc>
              <a:buNone/>
            </a:pPr>
            <a:r>
              <a:rPr lang="en-US" sz="1300" dirty="0">
                <a:solidFill>
                  <a:srgbClr val="2B454F"/>
                </a:solidFill>
                <a:latin typeface="Segoe UI" pitchFamily="34" charset="0"/>
                <a:ea typeface="Segoe UI" pitchFamily="34" charset="-122"/>
                <a:cs typeface="Segoe UI" pitchFamily="34" charset="-120"/>
              </a:rPr>
              <a:t>Every sentence is a function of the contract. The meter shows 0 model calls, 0 tokens and 0.00 USD per pass.</a:t>
            </a:r>
            <a:endParaRPr lang="en-US" sz="1300" dirty="0"/>
          </a:p>
        </p:txBody>
      </p:sp>
      <p:sp>
        <p:nvSpPr>
          <p:cNvPr id="13" name="Shape 11"/>
          <p:cNvSpPr/>
          <p:nvPr/>
        </p:nvSpPr>
        <p:spPr>
          <a:xfrm>
            <a:off x="6291072" y="2286000"/>
            <a:ext cx="5330952" cy="2148840"/>
          </a:xfrm>
          <a:prstGeom prst="rect">
            <a:avLst/>
          </a:prstGeom>
          <a:solidFill>
            <a:srgbClr val="FFFFFF"/>
          </a:solidFill>
          <a:ln w="9525">
            <a:solidFill>
              <a:srgbClr val="E2DDD2"/>
            </a:solidFill>
            <a:prstDash val="solid"/>
          </a:ln>
        </p:spPr>
      </p:sp>
      <p:sp>
        <p:nvSpPr>
          <p:cNvPr id="14" name="Text 12"/>
          <p:cNvSpPr/>
          <p:nvPr/>
        </p:nvSpPr>
        <p:spPr>
          <a:xfrm>
            <a:off x="6565392" y="2432304"/>
            <a:ext cx="4754880" cy="217424"/>
          </a:xfrm>
          <a:prstGeom prst="rect">
            <a:avLst/>
          </a:prstGeom>
          <a:noFill/>
          <a:ln/>
        </p:spPr>
        <p:txBody>
          <a:bodyPr wrap="square" lIns="0" tIns="0" rIns="0" bIns="0" rtlCol="0" anchor="t"/>
          <a:lstStyle/>
          <a:p>
            <a:pPr algn="l" indent="0" marL="0">
              <a:lnSpc>
                <a:spcPct val="125000"/>
              </a:lnSpc>
              <a:buNone/>
            </a:pPr>
            <a:r>
              <a:rPr lang="en-US" sz="1000" spc="110" kern="0" dirty="0">
                <a:solidFill>
                  <a:srgbClr val="A96900"/>
                </a:solidFill>
                <a:latin typeface="Consolas" pitchFamily="34" charset="0"/>
                <a:ea typeface="Consolas" pitchFamily="34" charset="-122"/>
                <a:cs typeface="Consolas" pitchFamily="34" charset="-120"/>
              </a:rPr>
              <a:t>MODEL PATH  ·  ADR-003  ·  MERGED, OFF BY DEFAULT</a:t>
            </a:r>
            <a:endParaRPr lang="en-US" sz="1000" dirty="0"/>
          </a:p>
        </p:txBody>
      </p:sp>
      <p:sp>
        <p:nvSpPr>
          <p:cNvPr id="15" name="Text 13"/>
          <p:cNvSpPr/>
          <p:nvPr/>
        </p:nvSpPr>
        <p:spPr>
          <a:xfrm>
            <a:off x="6565392" y="2651760"/>
            <a:ext cx="4956048" cy="384048"/>
          </a:xfrm>
          <a:prstGeom prst="rect">
            <a:avLst/>
          </a:prstGeom>
          <a:noFill/>
          <a:ln/>
        </p:spPr>
        <p:txBody>
          <a:bodyPr wrap="square" lIns="0" tIns="0" rIns="0" bIns="0" rtlCol="0" anchor="t"/>
          <a:lstStyle/>
          <a:p>
            <a:pPr algn="l" indent="0" marL="0">
              <a:lnSpc>
                <a:spcPct val="122000"/>
              </a:lnSpc>
              <a:buNone/>
            </a:pPr>
            <a:r>
              <a:rPr lang="en-US" sz="1700" dirty="0">
                <a:solidFill>
                  <a:srgbClr val="12262E"/>
                </a:solidFill>
                <a:latin typeface="Georgia" pitchFamily="34" charset="0"/>
                <a:ea typeface="Georgia" pitchFamily="34" charset="-122"/>
                <a:cs typeface="Georgia" pitchFamily="34" charset="-120"/>
              </a:rPr>
              <a:t>Two closed answers, inside the boundary.</a:t>
            </a:r>
            <a:endParaRPr lang="en-US" sz="1700" dirty="0"/>
          </a:p>
        </p:txBody>
      </p:sp>
      <p:sp>
        <p:nvSpPr>
          <p:cNvPr id="16" name="Text 14"/>
          <p:cNvSpPr/>
          <p:nvPr/>
        </p:nvSpPr>
        <p:spPr>
          <a:xfrm>
            <a:off x="6565392" y="3127248"/>
            <a:ext cx="4800600" cy="900176"/>
          </a:xfrm>
          <a:prstGeom prst="rect">
            <a:avLst/>
          </a:prstGeom>
          <a:noFill/>
          <a:ln/>
        </p:spPr>
        <p:txBody>
          <a:bodyPr wrap="square" lIns="0" tIns="0" rIns="0" bIns="0" rtlCol="0" anchor="t"/>
          <a:lstStyle/>
          <a:p>
            <a:pPr algn="l" indent="0" marL="0">
              <a:lnSpc>
                <a:spcPct val="122000"/>
              </a:lnSpc>
              <a:buNone/>
            </a:pPr>
            <a:r>
              <a:rPr lang="en-US" sz="1300" dirty="0">
                <a:solidFill>
                  <a:srgbClr val="2B454F"/>
                </a:solidFill>
                <a:latin typeface="Segoe UI" pitchFamily="34" charset="0"/>
                <a:ea typeface="Segoe UI" pitchFamily="34" charset="-122"/>
                <a:cs typeface="Segoe UI" pitchFamily="34" charset="-120"/>
              </a:rPr>
              <a:t>Merged and off by default. It would answer two closed questions after the facts freeze. Cost and latency at volume: not measured. No live model run is approved.</a:t>
            </a:r>
            <a:endParaRPr lang="en-US" sz="1300" dirty="0"/>
          </a:p>
        </p:txBody>
      </p:sp>
      <p:sp>
        <p:nvSpPr>
          <p:cNvPr id="17" name="Shape 15"/>
          <p:cNvSpPr/>
          <p:nvPr/>
        </p:nvSpPr>
        <p:spPr>
          <a:xfrm>
            <a:off x="566928" y="4791456"/>
            <a:ext cx="11055096" cy="896112"/>
          </a:xfrm>
          <a:prstGeom prst="rect">
            <a:avLst/>
          </a:prstGeom>
          <a:solidFill>
            <a:srgbClr val="F3EFE6"/>
          </a:solidFill>
          <a:ln w="9525">
            <a:solidFill>
              <a:srgbClr val="E2DDD2"/>
            </a:solidFill>
            <a:prstDash val="solid"/>
          </a:ln>
        </p:spPr>
      </p:sp>
      <p:sp>
        <p:nvSpPr>
          <p:cNvPr id="18" name="Text 16"/>
          <p:cNvSpPr/>
          <p:nvPr/>
        </p:nvSpPr>
        <p:spPr>
          <a:xfrm>
            <a:off x="868680" y="4919472"/>
            <a:ext cx="10424160" cy="575056"/>
          </a:xfrm>
          <a:prstGeom prst="rect">
            <a:avLst/>
          </a:prstGeom>
          <a:noFill/>
          <a:ln/>
        </p:spPr>
        <p:txBody>
          <a:bodyPr wrap="square" lIns="0" tIns="0" rIns="0" bIns="0" rtlCol="0" anchor="t"/>
          <a:lstStyle/>
          <a:p>
            <a:pPr algn="l" indent="0" marL="0">
              <a:lnSpc>
                <a:spcPct val="120000"/>
              </a:lnSpc>
              <a:buNone/>
            </a:pPr>
            <a:r>
              <a:rPr lang="en-US" sz="1600" i="1" dirty="0">
                <a:solidFill>
                  <a:srgbClr val="12262E"/>
                </a:solidFill>
                <a:latin typeface="Georgia" pitchFamily="34" charset="0"/>
                <a:ea typeface="Georgia" pitchFamily="34" charset="-122"/>
                <a:cs typeface="Georgia" pitchFamily="34" charset="-120"/>
              </a:rPr>
              <a:t>If the facts are frozen before the model speaks, a bad sentence cannot move a classification, a deadline, or a citation.</a:t>
            </a:r>
            <a:endParaRPr lang="en-US" sz="1600" dirty="0"/>
          </a:p>
        </p:txBody>
      </p:sp>
      <p:sp>
        <p:nvSpPr>
          <p:cNvPr id="19" name="Text 17"/>
          <p:cNvSpPr/>
          <p:nvPr/>
        </p:nvSpPr>
        <p:spPr>
          <a:xfrm>
            <a:off x="566928" y="5989320"/>
            <a:ext cx="11055096" cy="217424"/>
          </a:xfrm>
          <a:prstGeom prst="rect">
            <a:avLst/>
          </a:prstGeom>
          <a:noFill/>
          <a:ln/>
        </p:spPr>
        <p:txBody>
          <a:bodyPr wrap="square" lIns="0" tIns="0" rIns="0" bIns="0" rtlCol="0" anchor="t"/>
          <a:lstStyle/>
          <a:p>
            <a:pPr algn="l" indent="0" marL="0">
              <a:lnSpc>
                <a:spcPct val="125000"/>
              </a:lnSpc>
              <a:buNone/>
            </a:pPr>
            <a:r>
              <a:rPr lang="en-US" sz="1000" spc="110" kern="0" dirty="0">
                <a:solidFill>
                  <a:srgbClr val="68777D"/>
                </a:solidFill>
                <a:latin typeface="Consolas" pitchFamily="34" charset="0"/>
                <a:ea typeface="Consolas" pitchFamily="34" charset="-122"/>
                <a:cs typeface="Consolas" pitchFamily="34" charset="-120"/>
              </a:rPr>
              <a:t>ADR-001 ACCEPTED 25 OCT 2026: A MODEL MAY WRITE PROSE ONLY. FACTS, ROUTE, DEADLINE AND CITATIONS COME FROM CODE.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566928" y="566928"/>
            <a:ext cx="11057839" cy="0"/>
          </a:xfrm>
          <a:prstGeom prst="line">
            <a:avLst/>
          </a:prstGeom>
          <a:noFill/>
          <a:ln w="12700">
            <a:solidFill>
              <a:srgbClr val="D3CDC0"/>
            </a:solidFill>
            <a:prstDash val="solid"/>
          </a:ln>
        </p:spPr>
      </p:sp>
      <p:sp>
        <p:nvSpPr>
          <p:cNvPr id="3" name="Text 1"/>
          <p:cNvSpPr/>
          <p:nvPr/>
        </p:nvSpPr>
        <p:spPr>
          <a:xfrm>
            <a:off x="566928" y="347472"/>
            <a:ext cx="5486400" cy="201168"/>
          </a:xfrm>
          <a:prstGeom prst="rect">
            <a:avLst/>
          </a:prstGeom>
          <a:noFill/>
          <a:ln/>
        </p:spPr>
        <p:txBody>
          <a:bodyPr wrap="square" lIns="0" tIns="0" rIns="0" bIns="0" rtlCol="0" anchor="ctr"/>
          <a:lstStyle/>
          <a:p>
            <a:pPr indent="0" marL="0">
              <a:lnSpc>
                <a:spcPct val="118000"/>
              </a:lnSpc>
              <a:buNone/>
            </a:pPr>
            <a:r>
              <a:rPr lang="en-US" sz="1000" spc="120" kern="0" dirty="0">
                <a:solidFill>
                  <a:srgbClr val="0D6F6A"/>
                </a:solidFill>
                <a:latin typeface="Consolas" pitchFamily="34" charset="0"/>
                <a:ea typeface="Consolas" pitchFamily="34" charset="-122"/>
                <a:cs typeface="Consolas" pitchFamily="34" charset="-120"/>
              </a:rPr>
              <a:t>07 · TRUST</a:t>
            </a:r>
            <a:endParaRPr lang="en-US" sz="1000" dirty="0"/>
          </a:p>
        </p:txBody>
      </p:sp>
      <p:sp>
        <p:nvSpPr>
          <p:cNvPr id="4" name="Text 2"/>
          <p:cNvSpPr/>
          <p:nvPr/>
        </p:nvSpPr>
        <p:spPr>
          <a:xfrm>
            <a:off x="7052767" y="347472"/>
            <a:ext cx="4572000" cy="201168"/>
          </a:xfrm>
          <a:prstGeom prst="rect">
            <a:avLst/>
          </a:prstGeom>
          <a:noFill/>
          <a:ln/>
        </p:spPr>
        <p:txBody>
          <a:bodyPr wrap="square" lIns="0" tIns="0" rIns="0" bIns="0" rtlCol="0" anchor="ctr"/>
          <a:lstStyle/>
          <a:p>
            <a:pPr algn="r" indent="0" marL="0">
              <a:lnSpc>
                <a:spcPct val="118000"/>
              </a:lnSpc>
              <a:buNone/>
            </a:pPr>
            <a:r>
              <a:rPr lang="en-US" sz="1000" spc="120" kern="0" dirty="0">
                <a:solidFill>
                  <a:srgbClr val="68777D"/>
                </a:solidFill>
                <a:latin typeface="Consolas" pitchFamily="34" charset="0"/>
                <a:ea typeface="Consolas" pitchFamily="34" charset="-122"/>
                <a:cs typeface="Consolas" pitchFamily="34" charset="-120"/>
              </a:rPr>
              <a:t>LUMEN BANK · DISPUTE COPILOT</a:t>
            </a:r>
            <a:endParaRPr lang="en-US" sz="1000" dirty="0"/>
          </a:p>
        </p:txBody>
      </p:sp>
      <p:sp>
        <p:nvSpPr>
          <p:cNvPr id="5" name="Shape 3"/>
          <p:cNvSpPr/>
          <p:nvPr/>
        </p:nvSpPr>
        <p:spPr>
          <a:xfrm>
            <a:off x="566928" y="6382512"/>
            <a:ext cx="11057839" cy="0"/>
          </a:xfrm>
          <a:prstGeom prst="line">
            <a:avLst/>
          </a:prstGeom>
          <a:noFill/>
          <a:ln w="9525">
            <a:solidFill>
              <a:srgbClr val="E2DDD2"/>
            </a:solidFill>
            <a:prstDash val="solid"/>
          </a:ln>
        </p:spPr>
      </p:sp>
      <p:sp>
        <p:nvSpPr>
          <p:cNvPr id="6" name="Text 4"/>
          <p:cNvSpPr/>
          <p:nvPr/>
        </p:nvSpPr>
        <p:spPr>
          <a:xfrm>
            <a:off x="566928" y="6473952"/>
            <a:ext cx="5486400" cy="219456"/>
          </a:xfrm>
          <a:prstGeom prst="rect">
            <a:avLst/>
          </a:prstGeom>
          <a:noFill/>
          <a:ln/>
        </p:spPr>
        <p:txBody>
          <a:bodyPr wrap="square" lIns="0" tIns="0" rIns="0" bIns="0" rtlCol="0" anchor="t"/>
          <a:lstStyle/>
          <a:p>
            <a:pPr indent="0" marL="0">
              <a:lnSpc>
                <a:spcPct val="118000"/>
              </a:lnSpc>
              <a:buNone/>
            </a:pPr>
            <a:r>
              <a:rPr lang="en-US" sz="1000" dirty="0">
                <a:solidFill>
                  <a:srgbClr val="68777D"/>
                </a:solidFill>
                <a:latin typeface="Consolas" pitchFamily="34" charset="0"/>
                <a:ea typeface="Consolas" pitchFamily="34" charset="-122"/>
                <a:cs typeface="Consolas" pitchFamily="34" charset="-120"/>
              </a:rPr>
              <a:t>Final demo and technical defense · 29 October 2026</a:t>
            </a:r>
            <a:endParaRPr lang="en-US" sz="1000" dirty="0"/>
          </a:p>
        </p:txBody>
      </p:sp>
      <p:sp>
        <p:nvSpPr>
          <p:cNvPr id="7" name="Text 5"/>
          <p:cNvSpPr/>
          <p:nvPr/>
        </p:nvSpPr>
        <p:spPr>
          <a:xfrm>
            <a:off x="9338767" y="6473952"/>
            <a:ext cx="2286000" cy="219456"/>
          </a:xfrm>
          <a:prstGeom prst="rect">
            <a:avLst/>
          </a:prstGeom>
          <a:noFill/>
          <a:ln/>
        </p:spPr>
        <p:txBody>
          <a:bodyPr wrap="square" lIns="0" tIns="0" rIns="0" bIns="0" rtlCol="0" anchor="t"/>
          <a:lstStyle/>
          <a:p>
            <a:pPr algn="r" indent="0" marL="0">
              <a:lnSpc>
                <a:spcPct val="118000"/>
              </a:lnSpc>
              <a:buNone/>
            </a:pPr>
            <a:r>
              <a:rPr lang="en-US" sz="1000" dirty="0">
                <a:solidFill>
                  <a:srgbClr val="68777D"/>
                </a:solidFill>
                <a:latin typeface="Consolas" pitchFamily="34" charset="0"/>
                <a:ea typeface="Consolas" pitchFamily="34" charset="-122"/>
                <a:cs typeface="Consolas" pitchFamily="34" charset="-120"/>
              </a:rPr>
              <a:t>[ 08 / 16 ]</a:t>
            </a:r>
            <a:endParaRPr lang="en-US" sz="1000" dirty="0"/>
          </a:p>
        </p:txBody>
      </p:sp>
      <p:sp>
        <p:nvSpPr>
          <p:cNvPr id="8" name="Text 6"/>
          <p:cNvSpPr/>
          <p:nvPr/>
        </p:nvSpPr>
        <p:spPr>
          <a:xfrm>
            <a:off x="566928" y="987552"/>
            <a:ext cx="10972800" cy="658368"/>
          </a:xfrm>
          <a:prstGeom prst="rect">
            <a:avLst/>
          </a:prstGeom>
          <a:noFill/>
          <a:ln/>
        </p:spPr>
        <p:txBody>
          <a:bodyPr wrap="square" lIns="0" tIns="0" rIns="0" bIns="0" rtlCol="0" anchor="t"/>
          <a:lstStyle/>
          <a:p>
            <a:pPr indent="0" marL="0">
              <a:lnSpc>
                <a:spcPct val="98000"/>
              </a:lnSpc>
              <a:buNone/>
            </a:pPr>
            <a:r>
              <a:rPr lang="en-US" sz="3400" dirty="0">
                <a:solidFill>
                  <a:srgbClr val="12262E"/>
                </a:solidFill>
                <a:latin typeface="Georgia" pitchFamily="34" charset="0"/>
                <a:ea typeface="Georgia" pitchFamily="34" charset="-122"/>
                <a:cs typeface="Georgia" pitchFamily="34" charset="-120"/>
              </a:rPr>
              <a:t>Untrusted text is read, never obeyed.</a:t>
            </a:r>
            <a:endParaRPr lang="en-US" sz="3400" dirty="0"/>
          </a:p>
        </p:txBody>
      </p:sp>
      <p:sp>
        <p:nvSpPr>
          <p:cNvPr id="9" name="Text 7"/>
          <p:cNvSpPr/>
          <p:nvPr/>
        </p:nvSpPr>
        <p:spPr>
          <a:xfrm>
            <a:off x="566928" y="1682496"/>
            <a:ext cx="10789920" cy="298704"/>
          </a:xfrm>
          <a:prstGeom prst="rect">
            <a:avLst/>
          </a:prstGeom>
          <a:noFill/>
          <a:ln/>
        </p:spPr>
        <p:txBody>
          <a:bodyPr wrap="square" lIns="0" tIns="0" rIns="0" bIns="0" rtlCol="0" anchor="t"/>
          <a:lstStyle/>
          <a:p>
            <a:pPr algn="l" indent="0" marL="0">
              <a:lnSpc>
                <a:spcPct val="122000"/>
              </a:lnSpc>
              <a:buNone/>
            </a:pPr>
            <a:r>
              <a:rPr lang="en-US" sz="1500" dirty="0">
                <a:solidFill>
                  <a:srgbClr val="12262E"/>
                </a:solidFill>
                <a:latin typeface="Segoe UI" pitchFamily="34" charset="0"/>
                <a:ea typeface="Segoe UI" pitchFamily="34" charset="-122"/>
                <a:cs typeface="Segoe UI" pitchFamily="34" charset="-120"/>
              </a:rPr>
              <a:t>The merchant writes an instruction. It is stored as data, not among the six citations.</a:t>
            </a:r>
            <a:endParaRPr lang="en-US" sz="1500" dirty="0"/>
          </a:p>
        </p:txBody>
      </p:sp>
      <p:pic>
        <p:nvPicPr>
          <p:cNvPr id="10" name="Image 0" descr="D:\20-projects\credit-card-dispute\.worktrees\review-91\docs\deck\assets\boundary_bare.png">    </p:cNvPr>
          <p:cNvPicPr>
            <a:picLocks noChangeAspect="1"/>
          </p:cNvPicPr>
          <p:nvPr/>
        </p:nvPicPr>
        <p:blipFill>
          <a:blip r:embed="rId1"/>
          <a:stretch>
            <a:fillRect/>
          </a:stretch>
        </p:blipFill>
        <p:spPr>
          <a:xfrm>
            <a:off x="566928" y="2084832"/>
            <a:ext cx="11055096" cy="413674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566928" y="566928"/>
            <a:ext cx="11057839" cy="0"/>
          </a:xfrm>
          <a:prstGeom prst="line">
            <a:avLst/>
          </a:prstGeom>
          <a:noFill/>
          <a:ln w="12700">
            <a:solidFill>
              <a:srgbClr val="D3CDC0"/>
            </a:solidFill>
            <a:prstDash val="solid"/>
          </a:ln>
        </p:spPr>
      </p:sp>
      <p:sp>
        <p:nvSpPr>
          <p:cNvPr id="3" name="Text 1"/>
          <p:cNvSpPr/>
          <p:nvPr/>
        </p:nvSpPr>
        <p:spPr>
          <a:xfrm>
            <a:off x="566928" y="347472"/>
            <a:ext cx="5486400" cy="201168"/>
          </a:xfrm>
          <a:prstGeom prst="rect">
            <a:avLst/>
          </a:prstGeom>
          <a:noFill/>
          <a:ln/>
        </p:spPr>
        <p:txBody>
          <a:bodyPr wrap="square" lIns="0" tIns="0" rIns="0" bIns="0" rtlCol="0" anchor="ctr"/>
          <a:lstStyle/>
          <a:p>
            <a:pPr indent="0" marL="0">
              <a:lnSpc>
                <a:spcPct val="118000"/>
              </a:lnSpc>
              <a:buNone/>
            </a:pPr>
            <a:r>
              <a:rPr lang="en-US" sz="1000" spc="120" kern="0" dirty="0">
                <a:solidFill>
                  <a:srgbClr val="0D6F6A"/>
                </a:solidFill>
                <a:latin typeface="Consolas" pitchFamily="34" charset="0"/>
                <a:ea typeface="Consolas" pitchFamily="34" charset="-122"/>
                <a:cs typeface="Consolas" pitchFamily="34" charset="-120"/>
              </a:rPr>
              <a:t>08 · LIMITS</a:t>
            </a:r>
            <a:endParaRPr lang="en-US" sz="1000" dirty="0"/>
          </a:p>
        </p:txBody>
      </p:sp>
      <p:sp>
        <p:nvSpPr>
          <p:cNvPr id="4" name="Text 2"/>
          <p:cNvSpPr/>
          <p:nvPr/>
        </p:nvSpPr>
        <p:spPr>
          <a:xfrm>
            <a:off x="7052767" y="347472"/>
            <a:ext cx="4572000" cy="201168"/>
          </a:xfrm>
          <a:prstGeom prst="rect">
            <a:avLst/>
          </a:prstGeom>
          <a:noFill/>
          <a:ln/>
        </p:spPr>
        <p:txBody>
          <a:bodyPr wrap="square" lIns="0" tIns="0" rIns="0" bIns="0" rtlCol="0" anchor="ctr"/>
          <a:lstStyle/>
          <a:p>
            <a:pPr algn="r" indent="0" marL="0">
              <a:lnSpc>
                <a:spcPct val="118000"/>
              </a:lnSpc>
              <a:buNone/>
            </a:pPr>
            <a:r>
              <a:rPr lang="en-US" sz="1000" spc="120" kern="0" dirty="0">
                <a:solidFill>
                  <a:srgbClr val="68777D"/>
                </a:solidFill>
                <a:latin typeface="Consolas" pitchFamily="34" charset="0"/>
                <a:ea typeface="Consolas" pitchFamily="34" charset="-122"/>
                <a:cs typeface="Consolas" pitchFamily="34" charset="-120"/>
              </a:rPr>
              <a:t>LUMEN BANK · DISPUTE COPILOT</a:t>
            </a:r>
            <a:endParaRPr lang="en-US" sz="1000" dirty="0"/>
          </a:p>
        </p:txBody>
      </p:sp>
      <p:sp>
        <p:nvSpPr>
          <p:cNvPr id="5" name="Shape 3"/>
          <p:cNvSpPr/>
          <p:nvPr/>
        </p:nvSpPr>
        <p:spPr>
          <a:xfrm>
            <a:off x="566928" y="6382512"/>
            <a:ext cx="11057839" cy="0"/>
          </a:xfrm>
          <a:prstGeom prst="line">
            <a:avLst/>
          </a:prstGeom>
          <a:noFill/>
          <a:ln w="9525">
            <a:solidFill>
              <a:srgbClr val="E2DDD2"/>
            </a:solidFill>
            <a:prstDash val="solid"/>
          </a:ln>
        </p:spPr>
      </p:sp>
      <p:sp>
        <p:nvSpPr>
          <p:cNvPr id="6" name="Text 4"/>
          <p:cNvSpPr/>
          <p:nvPr/>
        </p:nvSpPr>
        <p:spPr>
          <a:xfrm>
            <a:off x="566928" y="6473952"/>
            <a:ext cx="5486400" cy="219456"/>
          </a:xfrm>
          <a:prstGeom prst="rect">
            <a:avLst/>
          </a:prstGeom>
          <a:noFill/>
          <a:ln/>
        </p:spPr>
        <p:txBody>
          <a:bodyPr wrap="square" lIns="0" tIns="0" rIns="0" bIns="0" rtlCol="0" anchor="t"/>
          <a:lstStyle/>
          <a:p>
            <a:pPr indent="0" marL="0">
              <a:lnSpc>
                <a:spcPct val="118000"/>
              </a:lnSpc>
              <a:buNone/>
            </a:pPr>
            <a:r>
              <a:rPr lang="en-US" sz="1000" dirty="0">
                <a:solidFill>
                  <a:srgbClr val="68777D"/>
                </a:solidFill>
                <a:latin typeface="Consolas" pitchFamily="34" charset="0"/>
                <a:ea typeface="Consolas" pitchFamily="34" charset="-122"/>
                <a:cs typeface="Consolas" pitchFamily="34" charset="-120"/>
              </a:rPr>
              <a:t>Final demo and technical defense · 29 October 2026</a:t>
            </a:r>
            <a:endParaRPr lang="en-US" sz="1000" dirty="0"/>
          </a:p>
        </p:txBody>
      </p:sp>
      <p:sp>
        <p:nvSpPr>
          <p:cNvPr id="7" name="Text 5"/>
          <p:cNvSpPr/>
          <p:nvPr/>
        </p:nvSpPr>
        <p:spPr>
          <a:xfrm>
            <a:off x="9338767" y="6473952"/>
            <a:ext cx="2286000" cy="219456"/>
          </a:xfrm>
          <a:prstGeom prst="rect">
            <a:avLst/>
          </a:prstGeom>
          <a:noFill/>
          <a:ln/>
        </p:spPr>
        <p:txBody>
          <a:bodyPr wrap="square" lIns="0" tIns="0" rIns="0" bIns="0" rtlCol="0" anchor="t"/>
          <a:lstStyle/>
          <a:p>
            <a:pPr algn="r" indent="0" marL="0">
              <a:lnSpc>
                <a:spcPct val="118000"/>
              </a:lnSpc>
              <a:buNone/>
            </a:pPr>
            <a:r>
              <a:rPr lang="en-US" sz="1000" dirty="0">
                <a:solidFill>
                  <a:srgbClr val="68777D"/>
                </a:solidFill>
                <a:latin typeface="Consolas" pitchFamily="34" charset="0"/>
                <a:ea typeface="Consolas" pitchFamily="34" charset="-122"/>
                <a:cs typeface="Consolas" pitchFamily="34" charset="-120"/>
              </a:rPr>
              <a:t>[ 09 / 16 ]</a:t>
            </a:r>
            <a:endParaRPr lang="en-US" sz="1000" dirty="0"/>
          </a:p>
        </p:txBody>
      </p:sp>
      <p:sp>
        <p:nvSpPr>
          <p:cNvPr id="8" name="Text 6"/>
          <p:cNvSpPr/>
          <p:nvPr/>
        </p:nvSpPr>
        <p:spPr>
          <a:xfrm>
            <a:off x="566928" y="1005840"/>
            <a:ext cx="10972800" cy="640080"/>
          </a:xfrm>
          <a:prstGeom prst="rect">
            <a:avLst/>
          </a:prstGeom>
          <a:noFill/>
          <a:ln/>
        </p:spPr>
        <p:txBody>
          <a:bodyPr wrap="square" lIns="0" tIns="0" rIns="0" bIns="0" rtlCol="0" anchor="t"/>
          <a:lstStyle/>
          <a:p>
            <a:pPr indent="0" marL="0">
              <a:lnSpc>
                <a:spcPct val="98000"/>
              </a:lnSpc>
              <a:buNone/>
            </a:pPr>
            <a:r>
              <a:rPr lang="en-US" sz="3400" dirty="0">
                <a:solidFill>
                  <a:srgbClr val="12262E"/>
                </a:solidFill>
                <a:latin typeface="Georgia" pitchFamily="34" charset="0"/>
                <a:ea typeface="Georgia" pitchFamily="34" charset="-122"/>
                <a:cs typeface="Georgia" pitchFamily="34" charset="-120"/>
              </a:rPr>
              <a:t>What is not done, and why.</a:t>
            </a:r>
            <a:endParaRPr lang="en-US" sz="3400" dirty="0"/>
          </a:p>
        </p:txBody>
      </p:sp>
      <p:sp>
        <p:nvSpPr>
          <p:cNvPr id="9" name="Text 7"/>
          <p:cNvSpPr/>
          <p:nvPr/>
        </p:nvSpPr>
        <p:spPr>
          <a:xfrm>
            <a:off x="566928" y="1719072"/>
            <a:ext cx="9601200" cy="298704"/>
          </a:xfrm>
          <a:prstGeom prst="rect">
            <a:avLst/>
          </a:prstGeom>
          <a:noFill/>
          <a:ln/>
        </p:spPr>
        <p:txBody>
          <a:bodyPr wrap="square" lIns="0" tIns="0" rIns="0" bIns="0" rtlCol="0" anchor="t"/>
          <a:lstStyle/>
          <a:p>
            <a:pPr algn="l" indent="0" marL="0">
              <a:lnSpc>
                <a:spcPct val="122000"/>
              </a:lnSpc>
              <a:buNone/>
            </a:pPr>
            <a:r>
              <a:rPr lang="en-US" sz="1500" dirty="0">
                <a:solidFill>
                  <a:srgbClr val="12262E"/>
                </a:solidFill>
                <a:latin typeface="Segoe UI" pitchFamily="34" charset="0"/>
                <a:ea typeface="Segoe UI" pitchFamily="34" charset="-122"/>
                <a:cs typeface="Segoe UI" pitchFamily="34" charset="-120"/>
              </a:rPr>
              <a:t>One delivered band, four named gaps, and a short not-attempted list.</a:t>
            </a:r>
            <a:endParaRPr lang="en-US" sz="1500" dirty="0"/>
          </a:p>
        </p:txBody>
      </p:sp>
      <p:sp>
        <p:nvSpPr>
          <p:cNvPr id="10" name="Text 8"/>
          <p:cNvSpPr/>
          <p:nvPr/>
        </p:nvSpPr>
        <p:spPr>
          <a:xfrm>
            <a:off x="566928" y="2103120"/>
            <a:ext cx="548640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0D6F6A"/>
                </a:solidFill>
                <a:latin typeface="Consolas" pitchFamily="34" charset="0"/>
                <a:ea typeface="Consolas" pitchFamily="34" charset="-122"/>
                <a:cs typeface="Consolas" pitchFamily="34" charset="-120"/>
              </a:rPr>
              <a:t>ON MAIN  ·  12 OF 12 DEV CASES</a:t>
            </a:r>
            <a:endParaRPr lang="en-US" sz="1000" dirty="0"/>
          </a:p>
        </p:txBody>
      </p:sp>
      <p:sp>
        <p:nvSpPr>
          <p:cNvPr id="11" name="Text 9"/>
          <p:cNvSpPr/>
          <p:nvPr/>
        </p:nvSpPr>
        <p:spPr>
          <a:xfrm>
            <a:off x="566928" y="2304288"/>
            <a:ext cx="10607040" cy="477520"/>
          </a:xfrm>
          <a:prstGeom prst="rect">
            <a:avLst/>
          </a:prstGeom>
          <a:noFill/>
          <a:ln/>
        </p:spPr>
        <p:txBody>
          <a:bodyPr wrap="square" lIns="0" tIns="0" rIns="0" bIns="0" rtlCol="0" anchor="t"/>
          <a:lstStyle/>
          <a:p>
            <a:pPr algn="l" indent="0" marL="0">
              <a:lnSpc>
                <a:spcPct val="122000"/>
              </a:lnSpc>
              <a:buNone/>
            </a:pPr>
            <a:r>
              <a:rPr lang="en-US" sz="1300" dirty="0">
                <a:solidFill>
                  <a:srgbClr val="2B454F"/>
                </a:solidFill>
                <a:latin typeface="Segoe UI" pitchFamily="34" charset="0"/>
                <a:ea typeface="Segoe UI" pitchFamily="34" charset="-122"/>
                <a:cs typeface="Segoe UI" pitchFamily="34" charset="-120"/>
              </a:rPr>
              <a:t>Every case builds. D05 and D06 route to manual review, D07 and D10 retry, D09 deduplicates. The review gate, the changed-draft refusal, the 409 and the record write are wired.</a:t>
            </a:r>
            <a:endParaRPr lang="en-US" sz="1300" dirty="0"/>
          </a:p>
        </p:txBody>
      </p:sp>
      <p:sp>
        <p:nvSpPr>
          <p:cNvPr id="12" name="Shape 10"/>
          <p:cNvSpPr/>
          <p:nvPr/>
        </p:nvSpPr>
        <p:spPr>
          <a:xfrm>
            <a:off x="566928" y="2788920"/>
            <a:ext cx="11055096" cy="2194560"/>
          </a:xfrm>
          <a:prstGeom prst="rect">
            <a:avLst/>
          </a:prstGeom>
          <a:solidFill>
            <a:srgbClr val="F3EFE6"/>
          </a:solidFill>
          <a:ln w="9525">
            <a:solidFill>
              <a:srgbClr val="E2DDD2"/>
            </a:solidFill>
            <a:prstDash val="solid"/>
          </a:ln>
        </p:spPr>
      </p:sp>
      <p:sp>
        <p:nvSpPr>
          <p:cNvPr id="13" name="Text 11"/>
          <p:cNvSpPr/>
          <p:nvPr/>
        </p:nvSpPr>
        <p:spPr>
          <a:xfrm>
            <a:off x="868680" y="2962656"/>
            <a:ext cx="731520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A96900"/>
                </a:solidFill>
                <a:latin typeface="Consolas" pitchFamily="34" charset="0"/>
                <a:ea typeface="Consolas" pitchFamily="34" charset="-122"/>
                <a:cs typeface="Consolas" pitchFamily="34" charset="-120"/>
              </a:rPr>
              <a:t>NOT DELIVERED  ·  FOUR NAMED GAPS</a:t>
            </a:r>
            <a:endParaRPr lang="en-US" sz="1000" dirty="0"/>
          </a:p>
        </p:txBody>
      </p:sp>
      <p:sp>
        <p:nvSpPr>
          <p:cNvPr id="14" name="Text 12"/>
          <p:cNvSpPr/>
          <p:nvPr/>
        </p:nvSpPr>
        <p:spPr>
          <a:xfrm>
            <a:off x="868680" y="3255264"/>
            <a:ext cx="2194560" cy="217424"/>
          </a:xfrm>
          <a:prstGeom prst="rect">
            <a:avLst/>
          </a:prstGeom>
          <a:noFill/>
          <a:ln/>
        </p:spPr>
        <p:txBody>
          <a:bodyPr wrap="square" lIns="0" tIns="0" rIns="0" bIns="0" rtlCol="0" anchor="t"/>
          <a:lstStyle/>
          <a:p>
            <a:pPr algn="l" indent="0" marL="0">
              <a:lnSpc>
                <a:spcPct val="125000"/>
              </a:lnSpc>
              <a:buNone/>
            </a:pPr>
            <a:r>
              <a:rPr lang="en-US" sz="1000" spc="60" kern="0" dirty="0">
                <a:solidFill>
                  <a:srgbClr val="12262E"/>
                </a:solidFill>
                <a:latin typeface="Consolas" pitchFamily="34" charset="0"/>
                <a:ea typeface="Consolas" pitchFamily="34" charset="-122"/>
                <a:cs typeface="Consolas" pitchFamily="34" charset="-120"/>
              </a:rPr>
              <a:t>REVIEWER IDENTITY</a:t>
            </a:r>
            <a:endParaRPr lang="en-US" sz="1000" dirty="0"/>
          </a:p>
        </p:txBody>
      </p:sp>
      <p:sp>
        <p:nvSpPr>
          <p:cNvPr id="15" name="Text 13"/>
          <p:cNvSpPr/>
          <p:nvPr/>
        </p:nvSpPr>
        <p:spPr>
          <a:xfrm>
            <a:off x="3172968" y="3236976"/>
            <a:ext cx="7955280" cy="219456"/>
          </a:xfrm>
          <a:prstGeom prst="rect">
            <a:avLst/>
          </a:prstGeom>
          <a:noFill/>
          <a:ln/>
        </p:spPr>
        <p:txBody>
          <a:bodyPr wrap="square" lIns="0" tIns="0" rIns="0" bIns="0" rtlCol="0" anchor="t"/>
          <a:lstStyle/>
          <a:p>
            <a:pPr algn="l" indent="0" marL="0">
              <a:lnSpc>
                <a:spcPct val="122000"/>
              </a:lnSpc>
              <a:buNone/>
            </a:pPr>
            <a:r>
              <a:rPr lang="en-US" sz="1200" dirty="0">
                <a:solidFill>
                  <a:srgbClr val="2B454F"/>
                </a:solidFill>
                <a:latin typeface="Segoe UI" pitchFamily="34" charset="0"/>
                <a:ea typeface="Segoe UI" pitchFamily="34" charset="-122"/>
                <a:cs typeface="Segoe UI" pitchFamily="34" charset="-120"/>
              </a:rPr>
              <a:t>The gate binds a draft to a hash, not to a person. M1, not started.</a:t>
            </a:r>
            <a:endParaRPr lang="en-US" sz="1200" dirty="0"/>
          </a:p>
        </p:txBody>
      </p:sp>
      <p:sp>
        <p:nvSpPr>
          <p:cNvPr id="16" name="Text 14"/>
          <p:cNvSpPr/>
          <p:nvPr/>
        </p:nvSpPr>
        <p:spPr>
          <a:xfrm>
            <a:off x="868680" y="3639312"/>
            <a:ext cx="2194560" cy="217424"/>
          </a:xfrm>
          <a:prstGeom prst="rect">
            <a:avLst/>
          </a:prstGeom>
          <a:noFill/>
          <a:ln/>
        </p:spPr>
        <p:txBody>
          <a:bodyPr wrap="square" lIns="0" tIns="0" rIns="0" bIns="0" rtlCol="0" anchor="t"/>
          <a:lstStyle/>
          <a:p>
            <a:pPr algn="l" indent="0" marL="0">
              <a:lnSpc>
                <a:spcPct val="125000"/>
              </a:lnSpc>
              <a:buNone/>
            </a:pPr>
            <a:r>
              <a:rPr lang="en-US" sz="1000" spc="60" kern="0" dirty="0">
                <a:solidFill>
                  <a:srgbClr val="12262E"/>
                </a:solidFill>
                <a:latin typeface="Consolas" pitchFamily="34" charset="0"/>
                <a:ea typeface="Consolas" pitchFamily="34" charset="-122"/>
                <a:cs typeface="Consolas" pitchFamily="34" charset="-120"/>
              </a:rPr>
              <a:t>LIVE MODEL ROUTE</a:t>
            </a:r>
            <a:endParaRPr lang="en-US" sz="1000" dirty="0"/>
          </a:p>
        </p:txBody>
      </p:sp>
      <p:sp>
        <p:nvSpPr>
          <p:cNvPr id="17" name="Text 15"/>
          <p:cNvSpPr/>
          <p:nvPr/>
        </p:nvSpPr>
        <p:spPr>
          <a:xfrm>
            <a:off x="3172968" y="3621024"/>
            <a:ext cx="7955280" cy="219456"/>
          </a:xfrm>
          <a:prstGeom prst="rect">
            <a:avLst/>
          </a:prstGeom>
          <a:noFill/>
          <a:ln/>
        </p:spPr>
        <p:txBody>
          <a:bodyPr wrap="square" lIns="0" tIns="0" rIns="0" bIns="0" rtlCol="0" anchor="t"/>
          <a:lstStyle/>
          <a:p>
            <a:pPr algn="l" indent="0" marL="0">
              <a:lnSpc>
                <a:spcPct val="122000"/>
              </a:lnSpc>
              <a:buNone/>
            </a:pPr>
            <a:r>
              <a:rPr lang="en-US" sz="1200" dirty="0">
                <a:solidFill>
                  <a:srgbClr val="2B454F"/>
                </a:solidFill>
                <a:latin typeface="Segoe UI" pitchFamily="34" charset="0"/>
                <a:ea typeface="Segoe UI" pitchFamily="34" charset="-122"/>
                <a:cs typeface="Segoe UI" pitchFamily="34" charset="-120"/>
              </a:rPr>
              <a:t>ADR-003 is merged and off by default. No approved live run, no measured cost.</a:t>
            </a:r>
            <a:endParaRPr lang="en-US" sz="1200" dirty="0"/>
          </a:p>
        </p:txBody>
      </p:sp>
      <p:sp>
        <p:nvSpPr>
          <p:cNvPr id="18" name="Text 16"/>
          <p:cNvSpPr/>
          <p:nvPr/>
        </p:nvSpPr>
        <p:spPr>
          <a:xfrm>
            <a:off x="868680" y="4023360"/>
            <a:ext cx="2194560" cy="217424"/>
          </a:xfrm>
          <a:prstGeom prst="rect">
            <a:avLst/>
          </a:prstGeom>
          <a:noFill/>
          <a:ln/>
        </p:spPr>
        <p:txBody>
          <a:bodyPr wrap="square" lIns="0" tIns="0" rIns="0" bIns="0" rtlCol="0" anchor="t"/>
          <a:lstStyle/>
          <a:p>
            <a:pPr algn="l" indent="0" marL="0">
              <a:lnSpc>
                <a:spcPct val="125000"/>
              </a:lnSpc>
              <a:buNone/>
            </a:pPr>
            <a:r>
              <a:rPr lang="en-US" sz="1000" spc="60" kern="0" dirty="0">
                <a:solidFill>
                  <a:srgbClr val="12262E"/>
                </a:solidFill>
                <a:latin typeface="Consolas" pitchFamily="34" charset="0"/>
                <a:ea typeface="Consolas" pitchFamily="34" charset="-122"/>
                <a:cs typeface="Consolas" pitchFamily="34" charset="-120"/>
              </a:rPr>
              <a:t>UPDATE AND CLOSE</a:t>
            </a:r>
            <a:endParaRPr lang="en-US" sz="1000" dirty="0"/>
          </a:p>
        </p:txBody>
      </p:sp>
      <p:sp>
        <p:nvSpPr>
          <p:cNvPr id="19" name="Text 17"/>
          <p:cNvSpPr/>
          <p:nvPr/>
        </p:nvSpPr>
        <p:spPr>
          <a:xfrm>
            <a:off x="3172968" y="4005072"/>
            <a:ext cx="7955280" cy="219456"/>
          </a:xfrm>
          <a:prstGeom prst="rect">
            <a:avLst/>
          </a:prstGeom>
          <a:noFill/>
          <a:ln/>
        </p:spPr>
        <p:txBody>
          <a:bodyPr wrap="square" lIns="0" tIns="0" rIns="0" bIns="0" rtlCol="0" anchor="t"/>
          <a:lstStyle/>
          <a:p>
            <a:pPr algn="l" indent="0" marL="0">
              <a:lnSpc>
                <a:spcPct val="122000"/>
              </a:lnSpc>
              <a:buNone/>
            </a:pPr>
            <a:r>
              <a:rPr lang="en-US" sz="1200" dirty="0">
                <a:solidFill>
                  <a:srgbClr val="2B454F"/>
                </a:solidFill>
                <a:latin typeface="Segoe UI" pitchFamily="34" charset="0"/>
                <a:ea typeface="Segoe UI" pitchFamily="34" charset="-122"/>
                <a:cs typeface="Segoe UI" pitchFamily="34" charset="-120"/>
              </a:rPr>
              <a:t>Blocked by Gate U (L1). Only create is wired.</a:t>
            </a:r>
            <a:endParaRPr lang="en-US" sz="1200" dirty="0"/>
          </a:p>
        </p:txBody>
      </p:sp>
      <p:sp>
        <p:nvSpPr>
          <p:cNvPr id="20" name="Text 18"/>
          <p:cNvSpPr/>
          <p:nvPr/>
        </p:nvSpPr>
        <p:spPr>
          <a:xfrm>
            <a:off x="868680" y="4407408"/>
            <a:ext cx="2194560" cy="217424"/>
          </a:xfrm>
          <a:prstGeom prst="rect">
            <a:avLst/>
          </a:prstGeom>
          <a:noFill/>
          <a:ln/>
        </p:spPr>
        <p:txBody>
          <a:bodyPr wrap="square" lIns="0" tIns="0" rIns="0" bIns="0" rtlCol="0" anchor="t"/>
          <a:lstStyle/>
          <a:p>
            <a:pPr algn="l" indent="0" marL="0">
              <a:lnSpc>
                <a:spcPct val="125000"/>
              </a:lnSpc>
              <a:buNone/>
            </a:pPr>
            <a:r>
              <a:rPr lang="en-US" sz="1000" spc="60" kern="0" dirty="0">
                <a:solidFill>
                  <a:srgbClr val="12262E"/>
                </a:solidFill>
                <a:latin typeface="Consolas" pitchFamily="34" charset="0"/>
                <a:ea typeface="Consolas" pitchFamily="34" charset="-122"/>
                <a:cs typeface="Consolas" pitchFamily="34" charset="-120"/>
              </a:rPr>
              <a:t>WRAPPED STATEMENT</a:t>
            </a:r>
            <a:endParaRPr lang="en-US" sz="1000" dirty="0"/>
          </a:p>
        </p:txBody>
      </p:sp>
      <p:sp>
        <p:nvSpPr>
          <p:cNvPr id="21" name="Text 19"/>
          <p:cNvSpPr/>
          <p:nvPr/>
        </p:nvSpPr>
        <p:spPr>
          <a:xfrm>
            <a:off x="3172968" y="4389120"/>
            <a:ext cx="7955280" cy="219456"/>
          </a:xfrm>
          <a:prstGeom prst="rect">
            <a:avLst/>
          </a:prstGeom>
          <a:noFill/>
          <a:ln/>
        </p:spPr>
        <p:txBody>
          <a:bodyPr wrap="square" lIns="0" tIns="0" rIns="0" bIns="0" rtlCol="0" anchor="t"/>
          <a:lstStyle/>
          <a:p>
            <a:pPr algn="l" indent="0" marL="0">
              <a:lnSpc>
                <a:spcPct val="122000"/>
              </a:lnSpc>
              <a:buNone/>
            </a:pPr>
            <a:r>
              <a:rPr lang="en-US" sz="1200" dirty="0">
                <a:solidFill>
                  <a:srgbClr val="2B454F"/>
                </a:solidFill>
                <a:latin typeface="Segoe UI" pitchFamily="34" charset="0"/>
                <a:ea typeface="Segoe UI" pitchFamily="34" charset="-122"/>
                <a:cs typeface="Segoe UI" pitchFamily="34" charset="-120"/>
              </a:rPr>
              <a:t>The customer statement has no line limit (docs/RED_TEAM.md:52).</a:t>
            </a:r>
            <a:endParaRPr lang="en-US" sz="1200" dirty="0"/>
          </a:p>
        </p:txBody>
      </p:sp>
      <p:sp>
        <p:nvSpPr>
          <p:cNvPr id="22" name="Text 20"/>
          <p:cNvSpPr/>
          <p:nvPr/>
        </p:nvSpPr>
        <p:spPr>
          <a:xfrm>
            <a:off x="566928" y="5175504"/>
            <a:ext cx="548640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68777D"/>
                </a:solidFill>
                <a:latin typeface="Consolas" pitchFamily="34" charset="0"/>
                <a:ea typeface="Consolas" pitchFamily="34" charset="-122"/>
                <a:cs typeface="Consolas" pitchFamily="34" charset="-120"/>
              </a:rPr>
              <a:t>NOT ATTEMPTED</a:t>
            </a:r>
            <a:endParaRPr lang="en-US" sz="1000" dirty="0"/>
          </a:p>
        </p:txBody>
      </p:sp>
      <p:sp>
        <p:nvSpPr>
          <p:cNvPr id="23" name="Text 21"/>
          <p:cNvSpPr/>
          <p:nvPr/>
        </p:nvSpPr>
        <p:spPr>
          <a:xfrm>
            <a:off x="566928" y="5394960"/>
            <a:ext cx="10607040" cy="201168"/>
          </a:xfrm>
          <a:prstGeom prst="rect">
            <a:avLst/>
          </a:prstGeom>
          <a:noFill/>
          <a:ln/>
        </p:spPr>
        <p:txBody>
          <a:bodyPr wrap="square" lIns="0" tIns="0" rIns="0" bIns="0" rtlCol="0" anchor="t"/>
          <a:lstStyle/>
          <a:p>
            <a:pPr algn="l" indent="0" marL="0">
              <a:lnSpc>
                <a:spcPct val="122000"/>
              </a:lnSpc>
              <a:buNone/>
            </a:pPr>
            <a:r>
              <a:rPr lang="en-US" sz="1300" dirty="0">
                <a:solidFill>
                  <a:srgbClr val="2B454F"/>
                </a:solidFill>
                <a:latin typeface="Segoe UI" pitchFamily="34" charset="0"/>
                <a:ea typeface="Segoe UI" pitchFamily="34" charset="-122"/>
                <a:cs typeface="Segoe UI" pitchFamily="34" charset="-120"/>
              </a:rPr>
              <a:t>A user interface. OCR. Production identity. Adjudication of a cut-off.</a:t>
            </a:r>
            <a:endParaRPr lang="en-US" sz="1300" dirty="0"/>
          </a:p>
        </p:txBody>
      </p:sp>
      <p:sp>
        <p:nvSpPr>
          <p:cNvPr id="24" name="Text 22"/>
          <p:cNvSpPr/>
          <p:nvPr/>
        </p:nvSpPr>
        <p:spPr>
          <a:xfrm>
            <a:off x="566928" y="5650992"/>
            <a:ext cx="10607040" cy="201168"/>
          </a:xfrm>
          <a:prstGeom prst="rect">
            <a:avLst/>
          </a:prstGeom>
          <a:noFill/>
          <a:ln/>
        </p:spPr>
        <p:txBody>
          <a:bodyPr wrap="square" lIns="0" tIns="0" rIns="0" bIns="0" rtlCol="0" anchor="t"/>
          <a:lstStyle/>
          <a:p>
            <a:pPr algn="l" indent="0" marL="0">
              <a:lnSpc>
                <a:spcPct val="122000"/>
              </a:lnSpc>
              <a:buNone/>
            </a:pPr>
            <a:r>
              <a:rPr lang="en-US" sz="1300" dirty="0">
                <a:solidFill>
                  <a:srgbClr val="2B454F"/>
                </a:solidFill>
                <a:latin typeface="Segoe UI" pitchFamily="34" charset="0"/>
                <a:ea typeface="Segoe UI" pitchFamily="34" charset="-122"/>
                <a:cs typeface="Segoe UI" pitchFamily="34" charset="-120"/>
              </a:rPr>
              <a:t>Shape as shipped: single node, SQLite, no reviewer identity.</a:t>
            </a:r>
            <a:endParaRPr lang="en-US" sz="1300" dirty="0"/>
          </a:p>
        </p:txBody>
      </p:sp>
      <p:sp>
        <p:nvSpPr>
          <p:cNvPr id="25" name="Text 23"/>
          <p:cNvSpPr/>
          <p:nvPr/>
        </p:nvSpPr>
        <p:spPr>
          <a:xfrm>
            <a:off x="566928" y="6053328"/>
            <a:ext cx="11055096"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B4452F"/>
                </a:solidFill>
                <a:latin typeface="Consolas" pitchFamily="34" charset="0"/>
                <a:ea typeface="Consolas" pitchFamily="34" charset="-122"/>
                <a:cs typeface="Consolas" pitchFamily="34" charset="-120"/>
              </a:rPr>
              <a:t>DO NOT COUNT A GAP AS DELIVERED.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566928" y="566928"/>
            <a:ext cx="11057839" cy="0"/>
          </a:xfrm>
          <a:prstGeom prst="line">
            <a:avLst/>
          </a:prstGeom>
          <a:noFill/>
          <a:ln w="12700">
            <a:solidFill>
              <a:srgbClr val="D3CDC0"/>
            </a:solidFill>
            <a:prstDash val="solid"/>
          </a:ln>
        </p:spPr>
      </p:sp>
      <p:sp>
        <p:nvSpPr>
          <p:cNvPr id="3" name="Text 1"/>
          <p:cNvSpPr/>
          <p:nvPr/>
        </p:nvSpPr>
        <p:spPr>
          <a:xfrm>
            <a:off x="566928" y="347472"/>
            <a:ext cx="5486400" cy="201168"/>
          </a:xfrm>
          <a:prstGeom prst="rect">
            <a:avLst/>
          </a:prstGeom>
          <a:noFill/>
          <a:ln/>
        </p:spPr>
        <p:txBody>
          <a:bodyPr wrap="square" lIns="0" tIns="0" rIns="0" bIns="0" rtlCol="0" anchor="ctr"/>
          <a:lstStyle/>
          <a:p>
            <a:pPr indent="0" marL="0">
              <a:lnSpc>
                <a:spcPct val="118000"/>
              </a:lnSpc>
              <a:buNone/>
            </a:pPr>
            <a:r>
              <a:rPr lang="en-US" sz="1000" spc="120" kern="0" dirty="0">
                <a:solidFill>
                  <a:srgbClr val="0D6F6A"/>
                </a:solidFill>
                <a:latin typeface="Consolas" pitchFamily="34" charset="0"/>
                <a:ea typeface="Consolas" pitchFamily="34" charset="-122"/>
                <a:cs typeface="Consolas" pitchFamily="34" charset="-120"/>
              </a:rPr>
              <a:t>09 · OPERATIONS</a:t>
            </a:r>
            <a:endParaRPr lang="en-US" sz="1000" dirty="0"/>
          </a:p>
        </p:txBody>
      </p:sp>
      <p:sp>
        <p:nvSpPr>
          <p:cNvPr id="4" name="Text 2"/>
          <p:cNvSpPr/>
          <p:nvPr/>
        </p:nvSpPr>
        <p:spPr>
          <a:xfrm>
            <a:off x="7052767" y="347472"/>
            <a:ext cx="4572000" cy="201168"/>
          </a:xfrm>
          <a:prstGeom prst="rect">
            <a:avLst/>
          </a:prstGeom>
          <a:noFill/>
          <a:ln/>
        </p:spPr>
        <p:txBody>
          <a:bodyPr wrap="square" lIns="0" tIns="0" rIns="0" bIns="0" rtlCol="0" anchor="ctr"/>
          <a:lstStyle/>
          <a:p>
            <a:pPr algn="r" indent="0" marL="0">
              <a:lnSpc>
                <a:spcPct val="118000"/>
              </a:lnSpc>
              <a:buNone/>
            </a:pPr>
            <a:r>
              <a:rPr lang="en-US" sz="1000" spc="120" kern="0" dirty="0">
                <a:solidFill>
                  <a:srgbClr val="68777D"/>
                </a:solidFill>
                <a:latin typeface="Consolas" pitchFamily="34" charset="0"/>
                <a:ea typeface="Consolas" pitchFamily="34" charset="-122"/>
                <a:cs typeface="Consolas" pitchFamily="34" charset="-120"/>
              </a:rPr>
              <a:t>LUMEN BANK · DISPUTE COPILOT</a:t>
            </a:r>
            <a:endParaRPr lang="en-US" sz="1000" dirty="0"/>
          </a:p>
        </p:txBody>
      </p:sp>
      <p:sp>
        <p:nvSpPr>
          <p:cNvPr id="5" name="Shape 3"/>
          <p:cNvSpPr/>
          <p:nvPr/>
        </p:nvSpPr>
        <p:spPr>
          <a:xfrm>
            <a:off x="566928" y="6382512"/>
            <a:ext cx="11057839" cy="0"/>
          </a:xfrm>
          <a:prstGeom prst="line">
            <a:avLst/>
          </a:prstGeom>
          <a:noFill/>
          <a:ln w="9525">
            <a:solidFill>
              <a:srgbClr val="E2DDD2"/>
            </a:solidFill>
            <a:prstDash val="solid"/>
          </a:ln>
        </p:spPr>
      </p:sp>
      <p:sp>
        <p:nvSpPr>
          <p:cNvPr id="6" name="Text 4"/>
          <p:cNvSpPr/>
          <p:nvPr/>
        </p:nvSpPr>
        <p:spPr>
          <a:xfrm>
            <a:off x="566928" y="6473952"/>
            <a:ext cx="5486400" cy="219456"/>
          </a:xfrm>
          <a:prstGeom prst="rect">
            <a:avLst/>
          </a:prstGeom>
          <a:noFill/>
          <a:ln/>
        </p:spPr>
        <p:txBody>
          <a:bodyPr wrap="square" lIns="0" tIns="0" rIns="0" bIns="0" rtlCol="0" anchor="t"/>
          <a:lstStyle/>
          <a:p>
            <a:pPr indent="0" marL="0">
              <a:lnSpc>
                <a:spcPct val="118000"/>
              </a:lnSpc>
              <a:buNone/>
            </a:pPr>
            <a:r>
              <a:rPr lang="en-US" sz="1000" dirty="0">
                <a:solidFill>
                  <a:srgbClr val="68777D"/>
                </a:solidFill>
                <a:latin typeface="Consolas" pitchFamily="34" charset="0"/>
                <a:ea typeface="Consolas" pitchFamily="34" charset="-122"/>
                <a:cs typeface="Consolas" pitchFamily="34" charset="-120"/>
              </a:rPr>
              <a:t>Final demo and technical defense · 29 October 2026</a:t>
            </a:r>
            <a:endParaRPr lang="en-US" sz="1000" dirty="0"/>
          </a:p>
        </p:txBody>
      </p:sp>
      <p:sp>
        <p:nvSpPr>
          <p:cNvPr id="7" name="Text 5"/>
          <p:cNvSpPr/>
          <p:nvPr/>
        </p:nvSpPr>
        <p:spPr>
          <a:xfrm>
            <a:off x="9338767" y="6473952"/>
            <a:ext cx="2286000" cy="219456"/>
          </a:xfrm>
          <a:prstGeom prst="rect">
            <a:avLst/>
          </a:prstGeom>
          <a:noFill/>
          <a:ln/>
        </p:spPr>
        <p:txBody>
          <a:bodyPr wrap="square" lIns="0" tIns="0" rIns="0" bIns="0" rtlCol="0" anchor="t"/>
          <a:lstStyle/>
          <a:p>
            <a:pPr algn="r" indent="0" marL="0">
              <a:lnSpc>
                <a:spcPct val="118000"/>
              </a:lnSpc>
              <a:buNone/>
            </a:pPr>
            <a:r>
              <a:rPr lang="en-US" sz="1000" dirty="0">
                <a:solidFill>
                  <a:srgbClr val="68777D"/>
                </a:solidFill>
                <a:latin typeface="Consolas" pitchFamily="34" charset="0"/>
                <a:ea typeface="Consolas" pitchFamily="34" charset="-122"/>
                <a:cs typeface="Consolas" pitchFamily="34" charset="-120"/>
              </a:rPr>
              <a:t>[ 10 / 16 ]</a:t>
            </a:r>
            <a:endParaRPr lang="en-US" sz="1000" dirty="0"/>
          </a:p>
        </p:txBody>
      </p:sp>
      <p:sp>
        <p:nvSpPr>
          <p:cNvPr id="8" name="Text 6"/>
          <p:cNvSpPr/>
          <p:nvPr/>
        </p:nvSpPr>
        <p:spPr>
          <a:xfrm>
            <a:off x="566928" y="1005840"/>
            <a:ext cx="9144000" cy="640080"/>
          </a:xfrm>
          <a:prstGeom prst="rect">
            <a:avLst/>
          </a:prstGeom>
          <a:noFill/>
          <a:ln/>
        </p:spPr>
        <p:txBody>
          <a:bodyPr wrap="square" lIns="0" tIns="0" rIns="0" bIns="0" rtlCol="0" anchor="t"/>
          <a:lstStyle/>
          <a:p>
            <a:pPr indent="0" marL="0">
              <a:lnSpc>
                <a:spcPct val="98000"/>
              </a:lnSpc>
              <a:buNone/>
            </a:pPr>
            <a:r>
              <a:rPr lang="en-US" sz="3400" dirty="0">
                <a:solidFill>
                  <a:srgbClr val="12262E"/>
                </a:solidFill>
                <a:latin typeface="Georgia" pitchFamily="34" charset="0"/>
                <a:ea typeface="Georgia" pitchFamily="34" charset="-122"/>
                <a:cs typeface="Georgia" pitchFamily="34" charset="-120"/>
              </a:rPr>
              <a:t>It fails in daylight.</a:t>
            </a:r>
            <a:endParaRPr lang="en-US" sz="3400" dirty="0"/>
          </a:p>
        </p:txBody>
      </p:sp>
      <p:sp>
        <p:nvSpPr>
          <p:cNvPr id="9" name="Text 7"/>
          <p:cNvSpPr/>
          <p:nvPr/>
        </p:nvSpPr>
        <p:spPr>
          <a:xfrm>
            <a:off x="566928" y="1719072"/>
            <a:ext cx="10607040" cy="542544"/>
          </a:xfrm>
          <a:prstGeom prst="rect">
            <a:avLst/>
          </a:prstGeom>
          <a:noFill/>
          <a:ln/>
        </p:spPr>
        <p:txBody>
          <a:bodyPr wrap="square" lIns="0" tIns="0" rIns="0" bIns="0" rtlCol="0" anchor="t"/>
          <a:lstStyle/>
          <a:p>
            <a:pPr algn="l" indent="0" marL="0">
              <a:lnSpc>
                <a:spcPct val="122000"/>
              </a:lnSpc>
              <a:buNone/>
            </a:pPr>
            <a:r>
              <a:rPr lang="en-US" sz="1500" dirty="0">
                <a:solidFill>
                  <a:srgbClr val="12262E"/>
                </a:solidFill>
                <a:latin typeface="Segoe UI" pitchFamily="34" charset="0"/>
                <a:ea typeface="Segoe UI" pitchFamily="34" charset="-122"/>
                <a:cs typeface="Segoe UI" pitchFamily="34" charset="-120"/>
              </a:rPr>
              <a:t>Every stop is a typed exception with a printed reason. Every run leaves a meter line and audit rows.</a:t>
            </a:r>
            <a:endParaRPr lang="en-US" sz="1500" dirty="0"/>
          </a:p>
        </p:txBody>
      </p:sp>
      <p:sp>
        <p:nvSpPr>
          <p:cNvPr id="10" name="Shape 8"/>
          <p:cNvSpPr/>
          <p:nvPr/>
        </p:nvSpPr>
        <p:spPr>
          <a:xfrm>
            <a:off x="566928" y="2194560"/>
            <a:ext cx="5669280" cy="0"/>
          </a:xfrm>
          <a:prstGeom prst="line">
            <a:avLst/>
          </a:prstGeom>
          <a:noFill/>
          <a:ln w="9525">
            <a:solidFill>
              <a:srgbClr val="E2DDD2"/>
            </a:solidFill>
            <a:prstDash val="solid"/>
          </a:ln>
        </p:spPr>
      </p:sp>
      <p:sp>
        <p:nvSpPr>
          <p:cNvPr id="11" name="Text 9"/>
          <p:cNvSpPr/>
          <p:nvPr/>
        </p:nvSpPr>
        <p:spPr>
          <a:xfrm>
            <a:off x="566928" y="2286000"/>
            <a:ext cx="566928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0D6F6A"/>
                </a:solidFill>
                <a:latin typeface="Consolas" pitchFamily="34" charset="0"/>
                <a:ea typeface="Consolas" pitchFamily="34" charset="-122"/>
                <a:cs typeface="Consolas" pitchFamily="34" charset="-120"/>
              </a:rPr>
              <a:t>A STOP CARRIES A REASON</a:t>
            </a:r>
            <a:endParaRPr lang="en-US" sz="1000" dirty="0"/>
          </a:p>
        </p:txBody>
      </p:sp>
      <p:sp>
        <p:nvSpPr>
          <p:cNvPr id="12" name="Text 10"/>
          <p:cNvSpPr/>
          <p:nvPr/>
        </p:nvSpPr>
        <p:spPr>
          <a:xfrm>
            <a:off x="566928" y="2487168"/>
            <a:ext cx="5623560" cy="477520"/>
          </a:xfrm>
          <a:prstGeom prst="rect">
            <a:avLst/>
          </a:prstGeom>
          <a:noFill/>
          <a:ln/>
        </p:spPr>
        <p:txBody>
          <a:bodyPr wrap="square" lIns="0" tIns="0" rIns="0" bIns="0" rtlCol="0" anchor="t"/>
          <a:lstStyle/>
          <a:p>
            <a:pPr algn="l" indent="0" marL="0">
              <a:lnSpc>
                <a:spcPct val="122000"/>
              </a:lnSpc>
              <a:buNone/>
            </a:pPr>
            <a:r>
              <a:rPr lang="en-US" sz="1300" dirty="0">
                <a:solidFill>
                  <a:srgbClr val="2B454F"/>
                </a:solidFill>
                <a:latin typeface="Segoe UI" pitchFamily="34" charset="0"/>
                <a:ea typeface="Segoe UI" pitchFamily="34" charset="-122"/>
                <a:cs typeface="Segoe UI" pitchFamily="34" charset="-120"/>
              </a:rPr>
              <a:t>BankReadError and ContractError name the case and the source, and write nothing.</a:t>
            </a:r>
            <a:endParaRPr lang="en-US" sz="1300" dirty="0"/>
          </a:p>
        </p:txBody>
      </p:sp>
      <p:sp>
        <p:nvSpPr>
          <p:cNvPr id="13" name="Shape 11"/>
          <p:cNvSpPr/>
          <p:nvPr/>
        </p:nvSpPr>
        <p:spPr>
          <a:xfrm>
            <a:off x="566928" y="2980944"/>
            <a:ext cx="5669280" cy="0"/>
          </a:xfrm>
          <a:prstGeom prst="line">
            <a:avLst/>
          </a:prstGeom>
          <a:noFill/>
          <a:ln w="9525">
            <a:solidFill>
              <a:srgbClr val="E2DDD2"/>
            </a:solidFill>
            <a:prstDash val="solid"/>
          </a:ln>
        </p:spPr>
      </p:sp>
      <p:sp>
        <p:nvSpPr>
          <p:cNvPr id="14" name="Text 12"/>
          <p:cNvSpPr/>
          <p:nvPr/>
        </p:nvSpPr>
        <p:spPr>
          <a:xfrm>
            <a:off x="566928" y="3072384"/>
            <a:ext cx="566928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0D6F6A"/>
                </a:solidFill>
                <a:latin typeface="Consolas" pitchFamily="34" charset="0"/>
                <a:ea typeface="Consolas" pitchFamily="34" charset="-122"/>
                <a:cs typeface="Consolas" pitchFamily="34" charset="-120"/>
              </a:rPr>
              <a:t>ONE METER LINE PER CASE</a:t>
            </a:r>
            <a:endParaRPr lang="en-US" sz="1000" dirty="0"/>
          </a:p>
        </p:txBody>
      </p:sp>
      <p:sp>
        <p:nvSpPr>
          <p:cNvPr id="15" name="Text 13"/>
          <p:cNvSpPr/>
          <p:nvPr/>
        </p:nvSpPr>
        <p:spPr>
          <a:xfrm>
            <a:off x="566928" y="3273552"/>
            <a:ext cx="5623560" cy="477520"/>
          </a:xfrm>
          <a:prstGeom prst="rect">
            <a:avLst/>
          </a:prstGeom>
          <a:noFill/>
          <a:ln/>
        </p:spPr>
        <p:txBody>
          <a:bodyPr wrap="square" lIns="0" tIns="0" rIns="0" bIns="0" rtlCol="0" anchor="t"/>
          <a:lstStyle/>
          <a:p>
            <a:pPr algn="l" indent="0" marL="0">
              <a:lnSpc>
                <a:spcPct val="122000"/>
              </a:lnSpc>
              <a:buNone/>
            </a:pPr>
            <a:r>
              <a:rPr lang="en-US" sz="1300" dirty="0">
                <a:solidFill>
                  <a:srgbClr val="2B454F"/>
                </a:solidFill>
                <a:latin typeface="Segoe UI" pitchFamily="34" charset="0"/>
                <a:ea typeface="Segoe UI" pitchFamily="34" charset="-122"/>
                <a:cs typeface="Segoe UI" pitchFamily="34" charset="-120"/>
              </a:rPr>
              <a:t>Path, duration, model calls, tokens, cost. No case text is written to the meter.</a:t>
            </a:r>
            <a:endParaRPr lang="en-US" sz="1300" dirty="0"/>
          </a:p>
        </p:txBody>
      </p:sp>
      <p:sp>
        <p:nvSpPr>
          <p:cNvPr id="16" name="Shape 14"/>
          <p:cNvSpPr/>
          <p:nvPr/>
        </p:nvSpPr>
        <p:spPr>
          <a:xfrm>
            <a:off x="566928" y="3767328"/>
            <a:ext cx="5669280" cy="0"/>
          </a:xfrm>
          <a:prstGeom prst="line">
            <a:avLst/>
          </a:prstGeom>
          <a:noFill/>
          <a:ln w="9525">
            <a:solidFill>
              <a:srgbClr val="E2DDD2"/>
            </a:solidFill>
            <a:prstDash val="solid"/>
          </a:ln>
        </p:spPr>
      </p:sp>
      <p:sp>
        <p:nvSpPr>
          <p:cNvPr id="17" name="Text 15"/>
          <p:cNvSpPr/>
          <p:nvPr/>
        </p:nvSpPr>
        <p:spPr>
          <a:xfrm>
            <a:off x="566928" y="3858768"/>
            <a:ext cx="566928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0D6F6A"/>
                </a:solidFill>
                <a:latin typeface="Consolas" pitchFamily="34" charset="0"/>
                <a:ea typeface="Consolas" pitchFamily="34" charset="-122"/>
                <a:cs typeface="Consolas" pitchFamily="34" charset="-120"/>
              </a:rPr>
              <a:t>FIVE AUDIT ROWS</a:t>
            </a:r>
            <a:endParaRPr lang="en-US" sz="1000" dirty="0"/>
          </a:p>
        </p:txBody>
      </p:sp>
      <p:sp>
        <p:nvSpPr>
          <p:cNvPr id="18" name="Text 16"/>
          <p:cNvSpPr/>
          <p:nvPr/>
        </p:nvSpPr>
        <p:spPr>
          <a:xfrm>
            <a:off x="566928" y="4059936"/>
            <a:ext cx="5623560" cy="477520"/>
          </a:xfrm>
          <a:prstGeom prst="rect">
            <a:avLst/>
          </a:prstGeom>
          <a:noFill/>
          <a:ln/>
        </p:spPr>
        <p:txBody>
          <a:bodyPr wrap="square" lIns="0" tIns="0" rIns="0" bIns="0" rtlCol="0" anchor="t"/>
          <a:lstStyle/>
          <a:p>
            <a:pPr algn="l" indent="0" marL="0">
              <a:lnSpc>
                <a:spcPct val="122000"/>
              </a:lnSpc>
              <a:buNone/>
            </a:pPr>
            <a:r>
              <a:rPr lang="en-US" sz="1300" dirty="0">
                <a:solidFill>
                  <a:srgbClr val="2B454F"/>
                </a:solidFill>
                <a:latin typeface="Segoe UI" pitchFamily="34" charset="0"/>
                <a:ea typeface="Segoe UI" pitchFamily="34" charset="-122"/>
                <a:cs typeface="Segoe UI" pitchFamily="34" charset="-120"/>
              </a:rPr>
              <a:t>Two tool reads, review requested, human approved, record created. Walked for D01.</a:t>
            </a:r>
            <a:endParaRPr lang="en-US" sz="1300" dirty="0"/>
          </a:p>
        </p:txBody>
      </p:sp>
      <p:sp>
        <p:nvSpPr>
          <p:cNvPr id="19" name="Shape 17"/>
          <p:cNvSpPr/>
          <p:nvPr/>
        </p:nvSpPr>
        <p:spPr>
          <a:xfrm>
            <a:off x="566928" y="4553712"/>
            <a:ext cx="5669280" cy="0"/>
          </a:xfrm>
          <a:prstGeom prst="line">
            <a:avLst/>
          </a:prstGeom>
          <a:noFill/>
          <a:ln w="9525">
            <a:solidFill>
              <a:srgbClr val="E2DDD2"/>
            </a:solidFill>
            <a:prstDash val="solid"/>
          </a:ln>
        </p:spPr>
      </p:sp>
      <p:sp>
        <p:nvSpPr>
          <p:cNvPr id="20" name="Text 18"/>
          <p:cNvSpPr/>
          <p:nvPr/>
        </p:nvSpPr>
        <p:spPr>
          <a:xfrm>
            <a:off x="566928" y="4645152"/>
            <a:ext cx="566928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0D6F6A"/>
                </a:solidFill>
                <a:latin typeface="Consolas" pitchFamily="34" charset="0"/>
                <a:ea typeface="Consolas" pitchFamily="34" charset="-122"/>
                <a:cs typeface="Consolas" pitchFamily="34" charset="-120"/>
              </a:rPr>
              <a:t>HEALTH AND RESET</a:t>
            </a:r>
            <a:endParaRPr lang="en-US" sz="1000" dirty="0"/>
          </a:p>
        </p:txBody>
      </p:sp>
      <p:sp>
        <p:nvSpPr>
          <p:cNvPr id="21" name="Text 19"/>
          <p:cNvSpPr/>
          <p:nvPr/>
        </p:nvSpPr>
        <p:spPr>
          <a:xfrm>
            <a:off x="566928" y="4846320"/>
            <a:ext cx="5623560" cy="477520"/>
          </a:xfrm>
          <a:prstGeom prst="rect">
            <a:avLst/>
          </a:prstGeom>
          <a:noFill/>
          <a:ln/>
        </p:spPr>
        <p:txBody>
          <a:bodyPr wrap="square" lIns="0" tIns="0" rIns="0" bIns="0" rtlCol="0" anchor="t"/>
          <a:lstStyle/>
          <a:p>
            <a:pPr algn="l" indent="0" marL="0">
              <a:lnSpc>
                <a:spcPct val="122000"/>
              </a:lnSpc>
              <a:buNone/>
            </a:pPr>
            <a:r>
              <a:rPr lang="en-US" sz="1300" dirty="0">
                <a:solidFill>
                  <a:srgbClr val="2B454F"/>
                </a:solidFill>
                <a:latin typeface="Segoe UI" pitchFamily="34" charset="0"/>
                <a:ea typeface="Segoe UI" pitchFamily="34" charset="-122"/>
                <a:cs typeface="Segoe UI" pitchFamily="34" charset="-120"/>
              </a:rPr>
              <a:t>The runbook names the endpoint and the reset step for the mock bank.</a:t>
            </a:r>
            <a:endParaRPr lang="en-US" sz="1300" dirty="0"/>
          </a:p>
        </p:txBody>
      </p:sp>
      <p:sp>
        <p:nvSpPr>
          <p:cNvPr id="22" name="Shape 20"/>
          <p:cNvSpPr/>
          <p:nvPr/>
        </p:nvSpPr>
        <p:spPr>
          <a:xfrm>
            <a:off x="6446520" y="2103120"/>
            <a:ext cx="5175504" cy="2697480"/>
          </a:xfrm>
          <a:prstGeom prst="rect">
            <a:avLst/>
          </a:prstGeom>
          <a:solidFill>
            <a:srgbClr val="0A1C24"/>
          </a:solidFill>
          <a:ln w="9525">
            <a:solidFill>
              <a:srgbClr val="0A1C24"/>
            </a:solidFill>
            <a:prstDash val="solid"/>
          </a:ln>
        </p:spPr>
      </p:sp>
      <p:sp>
        <p:nvSpPr>
          <p:cNvPr id="23" name="Text 21"/>
          <p:cNvSpPr/>
          <p:nvPr/>
        </p:nvSpPr>
        <p:spPr>
          <a:xfrm>
            <a:off x="6675120" y="2286000"/>
            <a:ext cx="4754880" cy="274320"/>
          </a:xfrm>
          <a:prstGeom prst="rect">
            <a:avLst/>
          </a:prstGeom>
          <a:noFill/>
          <a:ln/>
        </p:spPr>
        <p:txBody>
          <a:bodyPr wrap="square" lIns="0" tIns="0" rIns="0" bIns="0" rtlCol="0" anchor="t"/>
          <a:lstStyle/>
          <a:p>
            <a:pPr indent="0" marL="0">
              <a:lnSpc>
                <a:spcPct val="118000"/>
              </a:lnSpc>
              <a:buNone/>
            </a:pPr>
            <a:r>
              <a:rPr lang="en-US" sz="1050" dirty="0">
                <a:solidFill>
                  <a:srgbClr val="F4EFE3"/>
                </a:solidFill>
                <a:latin typeface="Consolas" pitchFamily="34" charset="0"/>
                <a:ea typeface="Consolas" pitchFamily="34" charset="-122"/>
                <a:cs typeface="Consolas" pitchFamily="34" charset="-120"/>
              </a:rPr>
              <a:t>GET  /v1/cases            200</a:t>
            </a:r>
            <a:endParaRPr lang="en-US" sz="1050" dirty="0"/>
          </a:p>
        </p:txBody>
      </p:sp>
      <p:sp>
        <p:nvSpPr>
          <p:cNvPr id="24" name="Text 22"/>
          <p:cNvSpPr/>
          <p:nvPr/>
        </p:nvSpPr>
        <p:spPr>
          <a:xfrm>
            <a:off x="6675120" y="2615184"/>
            <a:ext cx="4754880" cy="274320"/>
          </a:xfrm>
          <a:prstGeom prst="rect">
            <a:avLst/>
          </a:prstGeom>
          <a:noFill/>
          <a:ln/>
        </p:spPr>
        <p:txBody>
          <a:bodyPr wrap="square" lIns="0" tIns="0" rIns="0" bIns="0" rtlCol="0" anchor="t"/>
          <a:lstStyle/>
          <a:p>
            <a:pPr indent="0" marL="0">
              <a:lnSpc>
                <a:spcPct val="118000"/>
              </a:lnSpc>
              <a:buNone/>
            </a:pPr>
            <a:r>
              <a:rPr lang="en-US" sz="1050" dirty="0">
                <a:solidFill>
                  <a:srgbClr val="F4EFE3"/>
                </a:solidFill>
                <a:latin typeface="Consolas" pitchFamily="34" charset="0"/>
                <a:ea typeface="Consolas" pitchFamily="34" charset="-122"/>
                <a:cs typeface="Consolas" pitchFamily="34" charset="-120"/>
              </a:rPr>
              <a:t>POST /v1/reviews          201 pending</a:t>
            </a:r>
            <a:endParaRPr lang="en-US" sz="1050" dirty="0"/>
          </a:p>
        </p:txBody>
      </p:sp>
      <p:sp>
        <p:nvSpPr>
          <p:cNvPr id="25" name="Text 23"/>
          <p:cNvSpPr/>
          <p:nvPr/>
        </p:nvSpPr>
        <p:spPr>
          <a:xfrm>
            <a:off x="6675120" y="2944368"/>
            <a:ext cx="4754880" cy="274320"/>
          </a:xfrm>
          <a:prstGeom prst="rect">
            <a:avLst/>
          </a:prstGeom>
          <a:noFill/>
          <a:ln/>
        </p:spPr>
        <p:txBody>
          <a:bodyPr wrap="square" lIns="0" tIns="0" rIns="0" bIns="0" rtlCol="0" anchor="t"/>
          <a:lstStyle/>
          <a:p>
            <a:pPr indent="0" marL="0">
              <a:lnSpc>
                <a:spcPct val="118000"/>
              </a:lnSpc>
              <a:buNone/>
            </a:pPr>
            <a:r>
              <a:rPr lang="en-US" sz="1050" dirty="0">
                <a:solidFill>
                  <a:srgbClr val="F4EFE3"/>
                </a:solidFill>
                <a:latin typeface="Consolas" pitchFamily="34" charset="0"/>
                <a:ea typeface="Consolas" pitchFamily="34" charset="-122"/>
                <a:cs typeface="Consolas" pitchFamily="34" charset="-120"/>
              </a:rPr>
              <a:t>POST same key             200 replay</a:t>
            </a:r>
            <a:endParaRPr lang="en-US" sz="1050" dirty="0"/>
          </a:p>
        </p:txBody>
      </p:sp>
      <p:sp>
        <p:nvSpPr>
          <p:cNvPr id="26" name="Text 24"/>
          <p:cNvSpPr/>
          <p:nvPr/>
        </p:nvSpPr>
        <p:spPr>
          <a:xfrm>
            <a:off x="6675120" y="3273552"/>
            <a:ext cx="4754880" cy="274320"/>
          </a:xfrm>
          <a:prstGeom prst="rect">
            <a:avLst/>
          </a:prstGeom>
          <a:noFill/>
          <a:ln/>
        </p:spPr>
        <p:txBody>
          <a:bodyPr wrap="square" lIns="0" tIns="0" rIns="0" bIns="0" rtlCol="0" anchor="t"/>
          <a:lstStyle/>
          <a:p>
            <a:pPr indent="0" marL="0">
              <a:lnSpc>
                <a:spcPct val="118000"/>
              </a:lnSpc>
              <a:buNone/>
            </a:pPr>
            <a:r>
              <a:rPr lang="en-US" sz="1050" dirty="0">
                <a:solidFill>
                  <a:srgbClr val="F4EFE3"/>
                </a:solidFill>
                <a:latin typeface="Consolas" pitchFamily="34" charset="0"/>
                <a:ea typeface="Consolas" pitchFamily="34" charset="-122"/>
                <a:cs typeface="Consolas" pitchFamily="34" charset="-120"/>
              </a:rPr>
              <a:t>changed field             refused</a:t>
            </a:r>
            <a:endParaRPr lang="en-US" sz="1050" dirty="0"/>
          </a:p>
        </p:txBody>
      </p:sp>
      <p:sp>
        <p:nvSpPr>
          <p:cNvPr id="27" name="Text 25"/>
          <p:cNvSpPr/>
          <p:nvPr/>
        </p:nvSpPr>
        <p:spPr>
          <a:xfrm>
            <a:off x="6675120" y="3602736"/>
            <a:ext cx="4754880" cy="274320"/>
          </a:xfrm>
          <a:prstGeom prst="rect">
            <a:avLst/>
          </a:prstGeom>
          <a:noFill/>
          <a:ln/>
        </p:spPr>
        <p:txBody>
          <a:bodyPr wrap="square" lIns="0" tIns="0" rIns="0" bIns="0" rtlCol="0" anchor="t"/>
          <a:lstStyle/>
          <a:p>
            <a:pPr indent="0" marL="0">
              <a:lnSpc>
                <a:spcPct val="118000"/>
              </a:lnSpc>
              <a:buNone/>
            </a:pPr>
            <a:r>
              <a:rPr lang="en-US" sz="1050" dirty="0">
                <a:solidFill>
                  <a:srgbClr val="7FBDB4"/>
                </a:solidFill>
                <a:latin typeface="Consolas" pitchFamily="34" charset="0"/>
                <a:ea typeface="Consolas" pitchFamily="34" charset="-122"/>
                <a:cs typeface="Consolas" pitchFamily="34" charset="-120"/>
              </a:rPr>
              <a:t>   before any POST: nothing written</a:t>
            </a:r>
            <a:endParaRPr lang="en-US" sz="1050" dirty="0"/>
          </a:p>
        </p:txBody>
      </p:sp>
      <p:sp>
        <p:nvSpPr>
          <p:cNvPr id="28" name="Text 26"/>
          <p:cNvSpPr/>
          <p:nvPr/>
        </p:nvSpPr>
        <p:spPr>
          <a:xfrm>
            <a:off x="6675120" y="3931920"/>
            <a:ext cx="4754880" cy="274320"/>
          </a:xfrm>
          <a:prstGeom prst="rect">
            <a:avLst/>
          </a:prstGeom>
          <a:noFill/>
          <a:ln/>
        </p:spPr>
        <p:txBody>
          <a:bodyPr wrap="square" lIns="0" tIns="0" rIns="0" bIns="0" rtlCol="0" anchor="t"/>
          <a:lstStyle/>
          <a:p>
            <a:pPr indent="0" marL="0">
              <a:lnSpc>
                <a:spcPct val="118000"/>
              </a:lnSpc>
              <a:buNone/>
            </a:pPr>
            <a:r>
              <a:rPr lang="en-US" sz="1050" dirty="0">
                <a:solidFill>
                  <a:srgbClr val="F4EFE3"/>
                </a:solidFill>
                <a:latin typeface="Consolas" pitchFamily="34" charset="0"/>
                <a:ea typeface="Consolas" pitchFamily="34" charset="-122"/>
                <a:cs typeface="Consolas" pitchFamily="34" charset="-120"/>
              </a:rPr>
              <a:t>second record             409 duplicate_case</a:t>
            </a:r>
            <a:endParaRPr lang="en-US" sz="1050" dirty="0"/>
          </a:p>
        </p:txBody>
      </p:sp>
      <p:sp>
        <p:nvSpPr>
          <p:cNvPr id="29" name="Shape 27"/>
          <p:cNvSpPr/>
          <p:nvPr/>
        </p:nvSpPr>
        <p:spPr>
          <a:xfrm>
            <a:off x="6446520" y="4956048"/>
            <a:ext cx="5175504" cy="896112"/>
          </a:xfrm>
          <a:prstGeom prst="rect">
            <a:avLst/>
          </a:prstGeom>
          <a:solidFill>
            <a:srgbClr val="F3EFE6"/>
          </a:solidFill>
          <a:ln w="9525">
            <a:solidFill>
              <a:srgbClr val="E2DDD2"/>
            </a:solidFill>
            <a:prstDash val="solid"/>
          </a:ln>
        </p:spPr>
      </p:sp>
      <p:sp>
        <p:nvSpPr>
          <p:cNvPr id="30" name="Text 28"/>
          <p:cNvSpPr/>
          <p:nvPr/>
        </p:nvSpPr>
        <p:spPr>
          <a:xfrm>
            <a:off x="6675120" y="5084064"/>
            <a:ext cx="4754880" cy="217424"/>
          </a:xfrm>
          <a:prstGeom prst="rect">
            <a:avLst/>
          </a:prstGeom>
          <a:noFill/>
          <a:ln/>
        </p:spPr>
        <p:txBody>
          <a:bodyPr wrap="square" lIns="0" tIns="0" rIns="0" bIns="0" rtlCol="0" anchor="t"/>
          <a:lstStyle/>
          <a:p>
            <a:pPr algn="l" indent="0" marL="0">
              <a:lnSpc>
                <a:spcPct val="125000"/>
              </a:lnSpc>
              <a:buNone/>
            </a:pPr>
            <a:r>
              <a:rPr lang="en-US" sz="1000" dirty="0">
                <a:solidFill>
                  <a:srgbClr val="2B454F"/>
                </a:solidFill>
                <a:latin typeface="Consolas" pitchFamily="34" charset="0"/>
                <a:ea typeface="Consolas" pitchFamily="34" charset="-122"/>
                <a:cs typeface="Consolas" pitchFamily="34" charset="-120"/>
              </a:rPr>
              <a:t>RETRY LADDER: 3 ATTEMPTS, WAITS OF 1 S THEN 2 S.</a:t>
            </a:r>
            <a:endParaRPr lang="en-US" sz="1000" dirty="0"/>
          </a:p>
        </p:txBody>
      </p:sp>
      <p:sp>
        <p:nvSpPr>
          <p:cNvPr id="31" name="Text 29"/>
          <p:cNvSpPr/>
          <p:nvPr/>
        </p:nvSpPr>
        <p:spPr>
          <a:xfrm>
            <a:off x="6675120" y="5358384"/>
            <a:ext cx="4754880" cy="217424"/>
          </a:xfrm>
          <a:prstGeom prst="rect">
            <a:avLst/>
          </a:prstGeom>
          <a:noFill/>
          <a:ln/>
        </p:spPr>
        <p:txBody>
          <a:bodyPr wrap="square" lIns="0" tIns="0" rIns="0" bIns="0" rtlCol="0" anchor="t"/>
          <a:lstStyle/>
          <a:p>
            <a:pPr algn="l" indent="0" marL="0">
              <a:lnSpc>
                <a:spcPct val="125000"/>
              </a:lnSpc>
              <a:buNone/>
            </a:pPr>
            <a:r>
              <a:rPr lang="en-US" sz="1000" dirty="0">
                <a:solidFill>
                  <a:srgbClr val="7FBDB4"/>
                </a:solidFill>
                <a:latin typeface="Consolas" pitchFamily="34" charset="0"/>
                <a:ea typeface="Consolas" pitchFamily="34" charset="-122"/>
                <a:cs typeface="Consolas" pitchFamily="34" charset="-120"/>
              </a:rPr>
              <a:t>WIRED THROUGH TOOL RETRY: D07 4 ATTEMPTS, D10 3.</a:t>
            </a:r>
            <a:endParaRPr lang="en-US" sz="1000" dirty="0"/>
          </a:p>
        </p:txBody>
      </p:sp>
      <p:sp>
        <p:nvSpPr>
          <p:cNvPr id="32" name="Text 30"/>
          <p:cNvSpPr/>
          <p:nvPr/>
        </p:nvSpPr>
        <p:spPr>
          <a:xfrm>
            <a:off x="566928" y="5989320"/>
            <a:ext cx="11055096" cy="217424"/>
          </a:xfrm>
          <a:prstGeom prst="rect">
            <a:avLst/>
          </a:prstGeom>
          <a:noFill/>
          <a:ln/>
        </p:spPr>
        <p:txBody>
          <a:bodyPr wrap="square" lIns="0" tIns="0" rIns="0" bIns="0" rtlCol="0" anchor="t"/>
          <a:lstStyle/>
          <a:p>
            <a:pPr algn="l" indent="0" marL="0">
              <a:lnSpc>
                <a:spcPct val="125000"/>
              </a:lnSpc>
              <a:buNone/>
            </a:pPr>
            <a:r>
              <a:rPr lang="en-US" sz="1000" spc="110" kern="0" dirty="0">
                <a:solidFill>
                  <a:srgbClr val="68777D"/>
                </a:solidFill>
                <a:latin typeface="Consolas" pitchFamily="34" charset="0"/>
                <a:ea typeface="Consolas" pitchFamily="34" charset="-122"/>
                <a:cs typeface="Consolas" pitchFamily="34" charset="-120"/>
              </a:rPr>
              <a:t>THE SCORED RUN EXERCISES IT: 3 RETRIES, 0 STOPS.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566928" y="566928"/>
            <a:ext cx="11057839" cy="0"/>
          </a:xfrm>
          <a:prstGeom prst="line">
            <a:avLst/>
          </a:prstGeom>
          <a:noFill/>
          <a:ln w="12700">
            <a:solidFill>
              <a:srgbClr val="D3CDC0"/>
            </a:solidFill>
            <a:prstDash val="solid"/>
          </a:ln>
        </p:spPr>
      </p:sp>
      <p:sp>
        <p:nvSpPr>
          <p:cNvPr id="3" name="Text 1"/>
          <p:cNvSpPr/>
          <p:nvPr/>
        </p:nvSpPr>
        <p:spPr>
          <a:xfrm>
            <a:off x="566928" y="347472"/>
            <a:ext cx="5486400" cy="201168"/>
          </a:xfrm>
          <a:prstGeom prst="rect">
            <a:avLst/>
          </a:prstGeom>
          <a:noFill/>
          <a:ln/>
        </p:spPr>
        <p:txBody>
          <a:bodyPr wrap="square" lIns="0" tIns="0" rIns="0" bIns="0" rtlCol="0" anchor="ctr"/>
          <a:lstStyle/>
          <a:p>
            <a:pPr indent="0" marL="0">
              <a:lnSpc>
                <a:spcPct val="118000"/>
              </a:lnSpc>
              <a:buNone/>
            </a:pPr>
            <a:r>
              <a:rPr lang="en-US" sz="1000" spc="120" kern="0" dirty="0">
                <a:solidFill>
                  <a:srgbClr val="0D6F6A"/>
                </a:solidFill>
                <a:latin typeface="Consolas" pitchFamily="34" charset="0"/>
                <a:ea typeface="Consolas" pitchFamily="34" charset="-122"/>
                <a:cs typeface="Consolas" pitchFamily="34" charset="-120"/>
              </a:rPr>
              <a:t>10 · ROADMAP</a:t>
            </a:r>
            <a:endParaRPr lang="en-US" sz="1000" dirty="0"/>
          </a:p>
        </p:txBody>
      </p:sp>
      <p:sp>
        <p:nvSpPr>
          <p:cNvPr id="4" name="Text 2"/>
          <p:cNvSpPr/>
          <p:nvPr/>
        </p:nvSpPr>
        <p:spPr>
          <a:xfrm>
            <a:off x="7052767" y="347472"/>
            <a:ext cx="4572000" cy="201168"/>
          </a:xfrm>
          <a:prstGeom prst="rect">
            <a:avLst/>
          </a:prstGeom>
          <a:noFill/>
          <a:ln/>
        </p:spPr>
        <p:txBody>
          <a:bodyPr wrap="square" lIns="0" tIns="0" rIns="0" bIns="0" rtlCol="0" anchor="ctr"/>
          <a:lstStyle/>
          <a:p>
            <a:pPr algn="r" indent="0" marL="0">
              <a:lnSpc>
                <a:spcPct val="118000"/>
              </a:lnSpc>
              <a:buNone/>
            </a:pPr>
            <a:r>
              <a:rPr lang="en-US" sz="1000" spc="120" kern="0" dirty="0">
                <a:solidFill>
                  <a:srgbClr val="68777D"/>
                </a:solidFill>
                <a:latin typeface="Consolas" pitchFamily="34" charset="0"/>
                <a:ea typeface="Consolas" pitchFamily="34" charset="-122"/>
                <a:cs typeface="Consolas" pitchFamily="34" charset="-120"/>
              </a:rPr>
              <a:t>LUMEN BANK · DISPUTE COPILOT</a:t>
            </a:r>
            <a:endParaRPr lang="en-US" sz="1000" dirty="0"/>
          </a:p>
        </p:txBody>
      </p:sp>
      <p:sp>
        <p:nvSpPr>
          <p:cNvPr id="5" name="Shape 3"/>
          <p:cNvSpPr/>
          <p:nvPr/>
        </p:nvSpPr>
        <p:spPr>
          <a:xfrm>
            <a:off x="566928" y="6382512"/>
            <a:ext cx="11057839" cy="0"/>
          </a:xfrm>
          <a:prstGeom prst="line">
            <a:avLst/>
          </a:prstGeom>
          <a:noFill/>
          <a:ln w="9525">
            <a:solidFill>
              <a:srgbClr val="E2DDD2"/>
            </a:solidFill>
            <a:prstDash val="solid"/>
          </a:ln>
        </p:spPr>
      </p:sp>
      <p:sp>
        <p:nvSpPr>
          <p:cNvPr id="6" name="Text 4"/>
          <p:cNvSpPr/>
          <p:nvPr/>
        </p:nvSpPr>
        <p:spPr>
          <a:xfrm>
            <a:off x="566928" y="6473952"/>
            <a:ext cx="5486400" cy="219456"/>
          </a:xfrm>
          <a:prstGeom prst="rect">
            <a:avLst/>
          </a:prstGeom>
          <a:noFill/>
          <a:ln/>
        </p:spPr>
        <p:txBody>
          <a:bodyPr wrap="square" lIns="0" tIns="0" rIns="0" bIns="0" rtlCol="0" anchor="t"/>
          <a:lstStyle/>
          <a:p>
            <a:pPr indent="0" marL="0">
              <a:lnSpc>
                <a:spcPct val="118000"/>
              </a:lnSpc>
              <a:buNone/>
            </a:pPr>
            <a:r>
              <a:rPr lang="en-US" sz="1000" dirty="0">
                <a:solidFill>
                  <a:srgbClr val="68777D"/>
                </a:solidFill>
                <a:latin typeface="Consolas" pitchFamily="34" charset="0"/>
                <a:ea typeface="Consolas" pitchFamily="34" charset="-122"/>
                <a:cs typeface="Consolas" pitchFamily="34" charset="-120"/>
              </a:rPr>
              <a:t>Final demo and technical defense · 29 October 2026</a:t>
            </a:r>
            <a:endParaRPr lang="en-US" sz="1000" dirty="0"/>
          </a:p>
        </p:txBody>
      </p:sp>
      <p:sp>
        <p:nvSpPr>
          <p:cNvPr id="7" name="Text 5"/>
          <p:cNvSpPr/>
          <p:nvPr/>
        </p:nvSpPr>
        <p:spPr>
          <a:xfrm>
            <a:off x="9338767" y="6473952"/>
            <a:ext cx="2286000" cy="219456"/>
          </a:xfrm>
          <a:prstGeom prst="rect">
            <a:avLst/>
          </a:prstGeom>
          <a:noFill/>
          <a:ln/>
        </p:spPr>
        <p:txBody>
          <a:bodyPr wrap="square" lIns="0" tIns="0" rIns="0" bIns="0" rtlCol="0" anchor="t"/>
          <a:lstStyle/>
          <a:p>
            <a:pPr algn="r" indent="0" marL="0">
              <a:lnSpc>
                <a:spcPct val="118000"/>
              </a:lnSpc>
              <a:buNone/>
            </a:pPr>
            <a:r>
              <a:rPr lang="en-US" sz="1000" dirty="0">
                <a:solidFill>
                  <a:srgbClr val="68777D"/>
                </a:solidFill>
                <a:latin typeface="Consolas" pitchFamily="34" charset="0"/>
                <a:ea typeface="Consolas" pitchFamily="34" charset="-122"/>
                <a:cs typeface="Consolas" pitchFamily="34" charset="-120"/>
              </a:rPr>
              <a:t>[ 11 / 16 ]</a:t>
            </a:r>
            <a:endParaRPr lang="en-US" sz="1000" dirty="0"/>
          </a:p>
        </p:txBody>
      </p:sp>
      <p:sp>
        <p:nvSpPr>
          <p:cNvPr id="8" name="Text 6"/>
          <p:cNvSpPr/>
          <p:nvPr/>
        </p:nvSpPr>
        <p:spPr>
          <a:xfrm>
            <a:off x="566928" y="1005840"/>
            <a:ext cx="10972800" cy="640080"/>
          </a:xfrm>
          <a:prstGeom prst="rect">
            <a:avLst/>
          </a:prstGeom>
          <a:noFill/>
          <a:ln/>
        </p:spPr>
        <p:txBody>
          <a:bodyPr wrap="square" lIns="0" tIns="0" rIns="0" bIns="0" rtlCol="0" anchor="t"/>
          <a:lstStyle/>
          <a:p>
            <a:pPr indent="0" marL="0">
              <a:lnSpc>
                <a:spcPct val="98000"/>
              </a:lnSpc>
              <a:buNone/>
            </a:pPr>
            <a:r>
              <a:rPr lang="en-US" sz="3400" dirty="0">
                <a:solidFill>
                  <a:srgbClr val="12262E"/>
                </a:solidFill>
                <a:latin typeface="Georgia" pitchFamily="34" charset="0"/>
                <a:ea typeface="Georgia" pitchFamily="34" charset="-122"/>
                <a:cs typeface="Georgia" pitchFamily="34" charset="-120"/>
              </a:rPr>
              <a:t>The next 30 days, in order.</a:t>
            </a:r>
            <a:endParaRPr lang="en-US" sz="3400" dirty="0"/>
          </a:p>
        </p:txBody>
      </p:sp>
      <p:sp>
        <p:nvSpPr>
          <p:cNvPr id="9" name="Text 7"/>
          <p:cNvSpPr/>
          <p:nvPr/>
        </p:nvSpPr>
        <p:spPr>
          <a:xfrm>
            <a:off x="566928" y="1719072"/>
            <a:ext cx="9601200" cy="298704"/>
          </a:xfrm>
          <a:prstGeom prst="rect">
            <a:avLst/>
          </a:prstGeom>
          <a:noFill/>
          <a:ln/>
        </p:spPr>
        <p:txBody>
          <a:bodyPr wrap="square" lIns="0" tIns="0" rIns="0" bIns="0" rtlCol="0" anchor="t"/>
          <a:lstStyle/>
          <a:p>
            <a:pPr algn="l" indent="0" marL="0">
              <a:lnSpc>
                <a:spcPct val="122000"/>
              </a:lnSpc>
              <a:buNone/>
            </a:pPr>
            <a:r>
              <a:rPr lang="en-US" sz="1500" dirty="0">
                <a:solidFill>
                  <a:srgbClr val="12262E"/>
                </a:solidFill>
                <a:latin typeface="Segoe UI" pitchFamily="34" charset="0"/>
                <a:ea typeface="Segoe UI" pitchFamily="34" charset="-122"/>
                <a:cs typeface="Segoe UI" pitchFamily="34" charset="-120"/>
              </a:rPr>
              <a:t>Five moves, ordered so each one unblocks the next.</a:t>
            </a:r>
            <a:endParaRPr lang="en-US" sz="1500" dirty="0"/>
          </a:p>
        </p:txBody>
      </p:sp>
      <p:sp>
        <p:nvSpPr>
          <p:cNvPr id="10" name="Shape 8"/>
          <p:cNvSpPr/>
          <p:nvPr/>
        </p:nvSpPr>
        <p:spPr>
          <a:xfrm>
            <a:off x="566928" y="2157984"/>
            <a:ext cx="11055096" cy="0"/>
          </a:xfrm>
          <a:prstGeom prst="line">
            <a:avLst/>
          </a:prstGeom>
          <a:noFill/>
          <a:ln w="9525">
            <a:solidFill>
              <a:srgbClr val="E2DDD2"/>
            </a:solidFill>
            <a:prstDash val="solid"/>
          </a:ln>
        </p:spPr>
      </p:sp>
      <p:sp>
        <p:nvSpPr>
          <p:cNvPr id="11" name="Text 9"/>
          <p:cNvSpPr/>
          <p:nvPr/>
        </p:nvSpPr>
        <p:spPr>
          <a:xfrm>
            <a:off x="566928" y="2194560"/>
            <a:ext cx="731520" cy="457200"/>
          </a:xfrm>
          <a:prstGeom prst="rect">
            <a:avLst/>
          </a:prstGeom>
          <a:noFill/>
          <a:ln/>
        </p:spPr>
        <p:txBody>
          <a:bodyPr wrap="square" lIns="0" tIns="0" rIns="0" bIns="0" rtlCol="0" anchor="t"/>
          <a:lstStyle/>
          <a:p>
            <a:pPr indent="0" marL="0">
              <a:lnSpc>
                <a:spcPct val="118000"/>
              </a:lnSpc>
              <a:buNone/>
            </a:pPr>
            <a:r>
              <a:rPr lang="en-US" sz="2600" dirty="0">
                <a:solidFill>
                  <a:srgbClr val="D3CDC0"/>
                </a:solidFill>
                <a:latin typeface="Georgia" pitchFamily="34" charset="0"/>
                <a:ea typeface="Georgia" pitchFamily="34" charset="-122"/>
                <a:cs typeface="Georgia" pitchFamily="34" charset="-120"/>
              </a:rPr>
              <a:t>01</a:t>
            </a:r>
            <a:endParaRPr lang="en-US" sz="2600" dirty="0"/>
          </a:p>
        </p:txBody>
      </p:sp>
      <p:sp>
        <p:nvSpPr>
          <p:cNvPr id="12" name="Text 10"/>
          <p:cNvSpPr/>
          <p:nvPr/>
        </p:nvSpPr>
        <p:spPr>
          <a:xfrm>
            <a:off x="1417320" y="2249424"/>
            <a:ext cx="6949440" cy="274320"/>
          </a:xfrm>
          <a:prstGeom prst="rect">
            <a:avLst/>
          </a:prstGeom>
          <a:noFill/>
          <a:ln/>
        </p:spPr>
        <p:txBody>
          <a:bodyPr wrap="square" lIns="0" tIns="0" rIns="0" bIns="0" rtlCol="0" anchor="t"/>
          <a:lstStyle/>
          <a:p>
            <a:pPr algn="l" indent="0" marL="0">
              <a:lnSpc>
                <a:spcPct val="105000"/>
              </a:lnSpc>
              <a:buNone/>
            </a:pPr>
            <a:r>
              <a:rPr lang="en-US" sz="1600" dirty="0">
                <a:solidFill>
                  <a:srgbClr val="12262E"/>
                </a:solidFill>
                <a:latin typeface="Georgia" pitchFamily="34" charset="0"/>
                <a:ea typeface="Georgia" pitchFamily="34" charset="-122"/>
                <a:cs typeface="Georgia" pitchFamily="34" charset="-120"/>
              </a:rPr>
              <a:t>Add reviewer identity.</a:t>
            </a:r>
            <a:endParaRPr lang="en-US" sz="1600" dirty="0"/>
          </a:p>
        </p:txBody>
      </p:sp>
      <p:sp>
        <p:nvSpPr>
          <p:cNvPr id="13" name="Text 11"/>
          <p:cNvSpPr/>
          <p:nvPr/>
        </p:nvSpPr>
        <p:spPr>
          <a:xfrm>
            <a:off x="1417320" y="2560320"/>
            <a:ext cx="9418320" cy="219456"/>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The gate binds a draft to a hash, not to a person. M1, not started.</a:t>
            </a:r>
            <a:endParaRPr lang="en-US" sz="1250" dirty="0"/>
          </a:p>
        </p:txBody>
      </p:sp>
      <p:sp>
        <p:nvSpPr>
          <p:cNvPr id="14" name="Text 12"/>
          <p:cNvSpPr/>
          <p:nvPr/>
        </p:nvSpPr>
        <p:spPr>
          <a:xfrm>
            <a:off x="9601200" y="2286000"/>
            <a:ext cx="2020824" cy="217424"/>
          </a:xfrm>
          <a:prstGeom prst="rect">
            <a:avLst/>
          </a:prstGeom>
          <a:noFill/>
          <a:ln/>
        </p:spPr>
        <p:txBody>
          <a:bodyPr wrap="square" lIns="0" tIns="0" rIns="0" bIns="0" rtlCol="0" anchor="t"/>
          <a:lstStyle/>
          <a:p>
            <a:pPr algn="r" indent="0" marL="0">
              <a:lnSpc>
                <a:spcPct val="125000"/>
              </a:lnSpc>
              <a:buNone/>
            </a:pPr>
            <a:r>
              <a:rPr lang="en-US" sz="1000" spc="110" kern="0" dirty="0">
                <a:solidFill>
                  <a:srgbClr val="0D6F6A"/>
                </a:solidFill>
                <a:latin typeface="Consolas" pitchFamily="34" charset="0"/>
                <a:ea typeface="Consolas" pitchFamily="34" charset="-122"/>
                <a:cs typeface="Consolas" pitchFamily="34" charset="-120"/>
              </a:rPr>
              <a:t>NEXT</a:t>
            </a:r>
            <a:endParaRPr lang="en-US" sz="1000" dirty="0"/>
          </a:p>
        </p:txBody>
      </p:sp>
      <p:sp>
        <p:nvSpPr>
          <p:cNvPr id="15" name="Shape 13"/>
          <p:cNvSpPr/>
          <p:nvPr/>
        </p:nvSpPr>
        <p:spPr>
          <a:xfrm>
            <a:off x="566928" y="2871216"/>
            <a:ext cx="11055096" cy="0"/>
          </a:xfrm>
          <a:prstGeom prst="line">
            <a:avLst/>
          </a:prstGeom>
          <a:noFill/>
          <a:ln w="9525">
            <a:solidFill>
              <a:srgbClr val="E2DDD2"/>
            </a:solidFill>
            <a:prstDash val="solid"/>
          </a:ln>
        </p:spPr>
      </p:sp>
      <p:sp>
        <p:nvSpPr>
          <p:cNvPr id="16" name="Text 14"/>
          <p:cNvSpPr/>
          <p:nvPr/>
        </p:nvSpPr>
        <p:spPr>
          <a:xfrm>
            <a:off x="566928" y="2907792"/>
            <a:ext cx="731520" cy="457200"/>
          </a:xfrm>
          <a:prstGeom prst="rect">
            <a:avLst/>
          </a:prstGeom>
          <a:noFill/>
          <a:ln/>
        </p:spPr>
        <p:txBody>
          <a:bodyPr wrap="square" lIns="0" tIns="0" rIns="0" bIns="0" rtlCol="0" anchor="t"/>
          <a:lstStyle/>
          <a:p>
            <a:pPr indent="0" marL="0">
              <a:lnSpc>
                <a:spcPct val="118000"/>
              </a:lnSpc>
              <a:buNone/>
            </a:pPr>
            <a:r>
              <a:rPr lang="en-US" sz="2600" dirty="0">
                <a:solidFill>
                  <a:srgbClr val="D3CDC0"/>
                </a:solidFill>
                <a:latin typeface="Georgia" pitchFamily="34" charset="0"/>
                <a:ea typeface="Georgia" pitchFamily="34" charset="-122"/>
                <a:cs typeface="Georgia" pitchFamily="34" charset="-120"/>
              </a:rPr>
              <a:t>02</a:t>
            </a:r>
            <a:endParaRPr lang="en-US" sz="2600" dirty="0"/>
          </a:p>
        </p:txBody>
      </p:sp>
      <p:sp>
        <p:nvSpPr>
          <p:cNvPr id="17" name="Text 15"/>
          <p:cNvSpPr/>
          <p:nvPr/>
        </p:nvSpPr>
        <p:spPr>
          <a:xfrm>
            <a:off x="1417320" y="2962656"/>
            <a:ext cx="6949440" cy="274320"/>
          </a:xfrm>
          <a:prstGeom prst="rect">
            <a:avLst/>
          </a:prstGeom>
          <a:noFill/>
          <a:ln/>
        </p:spPr>
        <p:txBody>
          <a:bodyPr wrap="square" lIns="0" tIns="0" rIns="0" bIns="0" rtlCol="0" anchor="t"/>
          <a:lstStyle/>
          <a:p>
            <a:pPr algn="l" indent="0" marL="0">
              <a:lnSpc>
                <a:spcPct val="105000"/>
              </a:lnSpc>
              <a:buNone/>
            </a:pPr>
            <a:r>
              <a:rPr lang="en-US" sz="1600" dirty="0">
                <a:solidFill>
                  <a:srgbClr val="12262E"/>
                </a:solidFill>
                <a:latin typeface="Georgia" pitchFamily="34" charset="0"/>
                <a:ea typeface="Georgia" pitchFamily="34" charset="-122"/>
                <a:cs typeface="Georgia" pitchFamily="34" charset="-120"/>
              </a:rPr>
              <a:t>Approve the model route with measured cost.</a:t>
            </a:r>
            <a:endParaRPr lang="en-US" sz="1600" dirty="0"/>
          </a:p>
        </p:txBody>
      </p:sp>
      <p:sp>
        <p:nvSpPr>
          <p:cNvPr id="18" name="Text 16"/>
          <p:cNvSpPr/>
          <p:nvPr/>
        </p:nvSpPr>
        <p:spPr>
          <a:xfrm>
            <a:off x="1417320" y="3273552"/>
            <a:ext cx="9418320" cy="219456"/>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ADR-003 is merged and off. Needs a volume run before anyone quotes latency or price.</a:t>
            </a:r>
            <a:endParaRPr lang="en-US" sz="1250" dirty="0"/>
          </a:p>
        </p:txBody>
      </p:sp>
      <p:sp>
        <p:nvSpPr>
          <p:cNvPr id="19" name="Text 17"/>
          <p:cNvSpPr/>
          <p:nvPr/>
        </p:nvSpPr>
        <p:spPr>
          <a:xfrm>
            <a:off x="9601200" y="2999232"/>
            <a:ext cx="2020824" cy="217424"/>
          </a:xfrm>
          <a:prstGeom prst="rect">
            <a:avLst/>
          </a:prstGeom>
          <a:noFill/>
          <a:ln/>
        </p:spPr>
        <p:txBody>
          <a:bodyPr wrap="square" lIns="0" tIns="0" rIns="0" bIns="0" rtlCol="0" anchor="t"/>
          <a:lstStyle/>
          <a:p>
            <a:pPr algn="r" indent="0" marL="0">
              <a:lnSpc>
                <a:spcPct val="125000"/>
              </a:lnSpc>
              <a:buNone/>
            </a:pPr>
            <a:r>
              <a:rPr lang="en-US" sz="1000" spc="110" kern="0" dirty="0">
                <a:solidFill>
                  <a:srgbClr val="0D6F6A"/>
                </a:solidFill>
                <a:latin typeface="Consolas" pitchFamily="34" charset="0"/>
                <a:ea typeface="Consolas" pitchFamily="34" charset="-122"/>
                <a:cs typeface="Consolas" pitchFamily="34" charset="-120"/>
              </a:rPr>
              <a:t>AFTER</a:t>
            </a:r>
            <a:endParaRPr lang="en-US" sz="1000" dirty="0"/>
          </a:p>
        </p:txBody>
      </p:sp>
      <p:sp>
        <p:nvSpPr>
          <p:cNvPr id="20" name="Shape 18"/>
          <p:cNvSpPr/>
          <p:nvPr/>
        </p:nvSpPr>
        <p:spPr>
          <a:xfrm>
            <a:off x="566928" y="3584448"/>
            <a:ext cx="11055096" cy="0"/>
          </a:xfrm>
          <a:prstGeom prst="line">
            <a:avLst/>
          </a:prstGeom>
          <a:noFill/>
          <a:ln w="9525">
            <a:solidFill>
              <a:srgbClr val="E2DDD2"/>
            </a:solidFill>
            <a:prstDash val="solid"/>
          </a:ln>
        </p:spPr>
      </p:sp>
      <p:sp>
        <p:nvSpPr>
          <p:cNvPr id="21" name="Text 19"/>
          <p:cNvSpPr/>
          <p:nvPr/>
        </p:nvSpPr>
        <p:spPr>
          <a:xfrm>
            <a:off x="566928" y="3621024"/>
            <a:ext cx="731520" cy="457200"/>
          </a:xfrm>
          <a:prstGeom prst="rect">
            <a:avLst/>
          </a:prstGeom>
          <a:noFill/>
          <a:ln/>
        </p:spPr>
        <p:txBody>
          <a:bodyPr wrap="square" lIns="0" tIns="0" rIns="0" bIns="0" rtlCol="0" anchor="t"/>
          <a:lstStyle/>
          <a:p>
            <a:pPr indent="0" marL="0">
              <a:lnSpc>
                <a:spcPct val="118000"/>
              </a:lnSpc>
              <a:buNone/>
            </a:pPr>
            <a:r>
              <a:rPr lang="en-US" sz="2600" dirty="0">
                <a:solidFill>
                  <a:srgbClr val="D3CDC0"/>
                </a:solidFill>
                <a:latin typeface="Georgia" pitchFamily="34" charset="0"/>
                <a:ea typeface="Georgia" pitchFamily="34" charset="-122"/>
                <a:cs typeface="Georgia" pitchFamily="34" charset="-120"/>
              </a:rPr>
              <a:t>03</a:t>
            </a:r>
            <a:endParaRPr lang="en-US" sz="2600" dirty="0"/>
          </a:p>
        </p:txBody>
      </p:sp>
      <p:sp>
        <p:nvSpPr>
          <p:cNvPr id="22" name="Text 20"/>
          <p:cNvSpPr/>
          <p:nvPr/>
        </p:nvSpPr>
        <p:spPr>
          <a:xfrm>
            <a:off x="1417320" y="3675888"/>
            <a:ext cx="6949440" cy="274320"/>
          </a:xfrm>
          <a:prstGeom prst="rect">
            <a:avLst/>
          </a:prstGeom>
          <a:noFill/>
          <a:ln/>
        </p:spPr>
        <p:txBody>
          <a:bodyPr wrap="square" lIns="0" tIns="0" rIns="0" bIns="0" rtlCol="0" anchor="t"/>
          <a:lstStyle/>
          <a:p>
            <a:pPr algn="l" indent="0" marL="0">
              <a:lnSpc>
                <a:spcPct val="105000"/>
              </a:lnSpc>
              <a:buNone/>
            </a:pPr>
            <a:r>
              <a:rPr lang="en-US" sz="1600" dirty="0">
                <a:solidFill>
                  <a:srgbClr val="12262E"/>
                </a:solidFill>
                <a:latin typeface="Georgia" pitchFamily="34" charset="0"/>
                <a:ea typeface="Georgia" pitchFamily="34" charset="-122"/>
                <a:cs typeface="Georgia" pitchFamily="34" charset="-120"/>
              </a:rPr>
              <a:t>Start a real intake pilot with two analysts.</a:t>
            </a:r>
            <a:endParaRPr lang="en-US" sz="1600" dirty="0"/>
          </a:p>
        </p:txBody>
      </p:sp>
      <p:sp>
        <p:nvSpPr>
          <p:cNvPr id="23" name="Text 21"/>
          <p:cNvSpPr/>
          <p:nvPr/>
        </p:nvSpPr>
        <p:spPr>
          <a:xfrm>
            <a:off x="1417320" y="3986784"/>
            <a:ext cx="9418320" cy="219456"/>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Thirty days, real complaints, the same contract and the same gate.</a:t>
            </a:r>
            <a:endParaRPr lang="en-US" sz="1250" dirty="0"/>
          </a:p>
        </p:txBody>
      </p:sp>
      <p:sp>
        <p:nvSpPr>
          <p:cNvPr id="24" name="Text 22"/>
          <p:cNvSpPr/>
          <p:nvPr/>
        </p:nvSpPr>
        <p:spPr>
          <a:xfrm>
            <a:off x="9601200" y="3712464"/>
            <a:ext cx="2020824" cy="217424"/>
          </a:xfrm>
          <a:prstGeom prst="rect">
            <a:avLst/>
          </a:prstGeom>
          <a:noFill/>
          <a:ln/>
        </p:spPr>
        <p:txBody>
          <a:bodyPr wrap="square" lIns="0" tIns="0" rIns="0" bIns="0" rtlCol="0" anchor="t"/>
          <a:lstStyle/>
          <a:p>
            <a:pPr algn="r" indent="0" marL="0">
              <a:lnSpc>
                <a:spcPct val="125000"/>
              </a:lnSpc>
              <a:buNone/>
            </a:pPr>
            <a:r>
              <a:rPr lang="en-US" sz="1000" spc="110" kern="0" dirty="0">
                <a:solidFill>
                  <a:srgbClr val="0D6F6A"/>
                </a:solidFill>
                <a:latin typeface="Consolas" pitchFamily="34" charset="0"/>
                <a:ea typeface="Consolas" pitchFamily="34" charset="-122"/>
                <a:cs typeface="Consolas" pitchFamily="34" charset="-120"/>
              </a:rPr>
              <a:t>PILOT</a:t>
            </a:r>
            <a:endParaRPr lang="en-US" sz="1000" dirty="0"/>
          </a:p>
        </p:txBody>
      </p:sp>
      <p:sp>
        <p:nvSpPr>
          <p:cNvPr id="25" name="Shape 23"/>
          <p:cNvSpPr/>
          <p:nvPr/>
        </p:nvSpPr>
        <p:spPr>
          <a:xfrm>
            <a:off x="566928" y="4297680"/>
            <a:ext cx="11055096" cy="0"/>
          </a:xfrm>
          <a:prstGeom prst="line">
            <a:avLst/>
          </a:prstGeom>
          <a:noFill/>
          <a:ln w="9525">
            <a:solidFill>
              <a:srgbClr val="E2DDD2"/>
            </a:solidFill>
            <a:prstDash val="solid"/>
          </a:ln>
        </p:spPr>
      </p:sp>
      <p:sp>
        <p:nvSpPr>
          <p:cNvPr id="26" name="Text 24"/>
          <p:cNvSpPr/>
          <p:nvPr/>
        </p:nvSpPr>
        <p:spPr>
          <a:xfrm>
            <a:off x="566928" y="4334256"/>
            <a:ext cx="731520" cy="457200"/>
          </a:xfrm>
          <a:prstGeom prst="rect">
            <a:avLst/>
          </a:prstGeom>
          <a:noFill/>
          <a:ln/>
        </p:spPr>
        <p:txBody>
          <a:bodyPr wrap="square" lIns="0" tIns="0" rIns="0" bIns="0" rtlCol="0" anchor="t"/>
          <a:lstStyle/>
          <a:p>
            <a:pPr indent="0" marL="0">
              <a:lnSpc>
                <a:spcPct val="118000"/>
              </a:lnSpc>
              <a:buNone/>
            </a:pPr>
            <a:r>
              <a:rPr lang="en-US" sz="2600" dirty="0">
                <a:solidFill>
                  <a:srgbClr val="D3CDC0"/>
                </a:solidFill>
                <a:latin typeface="Georgia" pitchFamily="34" charset="0"/>
                <a:ea typeface="Georgia" pitchFamily="34" charset="-122"/>
                <a:cs typeface="Georgia" pitchFamily="34" charset="-120"/>
              </a:rPr>
              <a:t>04</a:t>
            </a:r>
            <a:endParaRPr lang="en-US" sz="2600" dirty="0"/>
          </a:p>
        </p:txBody>
      </p:sp>
      <p:sp>
        <p:nvSpPr>
          <p:cNvPr id="27" name="Text 25"/>
          <p:cNvSpPr/>
          <p:nvPr/>
        </p:nvSpPr>
        <p:spPr>
          <a:xfrm>
            <a:off x="1417320" y="4389120"/>
            <a:ext cx="6949440" cy="274320"/>
          </a:xfrm>
          <a:prstGeom prst="rect">
            <a:avLst/>
          </a:prstGeom>
          <a:noFill/>
          <a:ln/>
        </p:spPr>
        <p:txBody>
          <a:bodyPr wrap="square" lIns="0" tIns="0" rIns="0" bIns="0" rtlCol="0" anchor="t"/>
          <a:lstStyle/>
          <a:p>
            <a:pPr algn="l" indent="0" marL="0">
              <a:lnSpc>
                <a:spcPct val="105000"/>
              </a:lnSpc>
              <a:buNone/>
            </a:pPr>
            <a:r>
              <a:rPr lang="en-US" sz="1600" dirty="0">
                <a:solidFill>
                  <a:srgbClr val="12262E"/>
                </a:solidFill>
                <a:latin typeface="Georgia" pitchFamily="34" charset="0"/>
                <a:ea typeface="Georgia" pitchFamily="34" charset="-122"/>
                <a:cs typeface="Georgia" pitchFamily="34" charset="-120"/>
              </a:rPr>
              <a:t>Name the next two complaint types.</a:t>
            </a:r>
            <a:endParaRPr lang="en-US" sz="1600" dirty="0"/>
          </a:p>
        </p:txBody>
      </p:sp>
      <p:sp>
        <p:nvSpPr>
          <p:cNvPr id="28" name="Text 26"/>
          <p:cNvSpPr/>
          <p:nvPr/>
        </p:nvSpPr>
        <p:spPr>
          <a:xfrm>
            <a:off x="1417320" y="4700016"/>
            <a:ext cx="9418320" cy="219456"/>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The contract generalises only as far as the policy set does.</a:t>
            </a:r>
            <a:endParaRPr lang="en-US" sz="1250" dirty="0"/>
          </a:p>
        </p:txBody>
      </p:sp>
      <p:sp>
        <p:nvSpPr>
          <p:cNvPr id="29" name="Text 27"/>
          <p:cNvSpPr/>
          <p:nvPr/>
        </p:nvSpPr>
        <p:spPr>
          <a:xfrm>
            <a:off x="9601200" y="4425696"/>
            <a:ext cx="2020824" cy="217424"/>
          </a:xfrm>
          <a:prstGeom prst="rect">
            <a:avLst/>
          </a:prstGeom>
          <a:noFill/>
          <a:ln/>
        </p:spPr>
        <p:txBody>
          <a:bodyPr wrap="square" lIns="0" tIns="0" rIns="0" bIns="0" rtlCol="0" anchor="t"/>
          <a:lstStyle/>
          <a:p>
            <a:pPr algn="r" indent="0" marL="0">
              <a:lnSpc>
                <a:spcPct val="125000"/>
              </a:lnSpc>
              <a:buNone/>
            </a:pPr>
            <a:r>
              <a:rPr lang="en-US" sz="1000" spc="110" kern="0" dirty="0">
                <a:solidFill>
                  <a:srgbClr val="0D6F6A"/>
                </a:solidFill>
                <a:latin typeface="Consolas" pitchFamily="34" charset="0"/>
                <a:ea typeface="Consolas" pitchFamily="34" charset="-122"/>
                <a:cs typeface="Consolas" pitchFamily="34" charset="-120"/>
              </a:rPr>
              <a:t>THEN</a:t>
            </a:r>
            <a:endParaRPr lang="en-US" sz="1000" dirty="0"/>
          </a:p>
        </p:txBody>
      </p:sp>
      <p:sp>
        <p:nvSpPr>
          <p:cNvPr id="30" name="Shape 28"/>
          <p:cNvSpPr/>
          <p:nvPr/>
        </p:nvSpPr>
        <p:spPr>
          <a:xfrm>
            <a:off x="566928" y="5010912"/>
            <a:ext cx="11055096" cy="0"/>
          </a:xfrm>
          <a:prstGeom prst="line">
            <a:avLst/>
          </a:prstGeom>
          <a:noFill/>
          <a:ln w="9525">
            <a:solidFill>
              <a:srgbClr val="E2DDD2"/>
            </a:solidFill>
            <a:prstDash val="solid"/>
          </a:ln>
        </p:spPr>
      </p:sp>
      <p:sp>
        <p:nvSpPr>
          <p:cNvPr id="31" name="Text 29"/>
          <p:cNvSpPr/>
          <p:nvPr/>
        </p:nvSpPr>
        <p:spPr>
          <a:xfrm>
            <a:off x="566928" y="5047488"/>
            <a:ext cx="731520" cy="457200"/>
          </a:xfrm>
          <a:prstGeom prst="rect">
            <a:avLst/>
          </a:prstGeom>
          <a:noFill/>
          <a:ln/>
        </p:spPr>
        <p:txBody>
          <a:bodyPr wrap="square" lIns="0" tIns="0" rIns="0" bIns="0" rtlCol="0" anchor="t"/>
          <a:lstStyle/>
          <a:p>
            <a:pPr indent="0" marL="0">
              <a:lnSpc>
                <a:spcPct val="118000"/>
              </a:lnSpc>
              <a:buNone/>
            </a:pPr>
            <a:r>
              <a:rPr lang="en-US" sz="2600" dirty="0">
                <a:solidFill>
                  <a:srgbClr val="D3CDC0"/>
                </a:solidFill>
                <a:latin typeface="Georgia" pitchFamily="34" charset="0"/>
                <a:ea typeface="Georgia" pitchFamily="34" charset="-122"/>
                <a:cs typeface="Georgia" pitchFamily="34" charset="-120"/>
              </a:rPr>
              <a:t>05</a:t>
            </a:r>
            <a:endParaRPr lang="en-US" sz="2600" dirty="0"/>
          </a:p>
        </p:txBody>
      </p:sp>
      <p:sp>
        <p:nvSpPr>
          <p:cNvPr id="32" name="Text 30"/>
          <p:cNvSpPr/>
          <p:nvPr/>
        </p:nvSpPr>
        <p:spPr>
          <a:xfrm>
            <a:off x="1417320" y="5102352"/>
            <a:ext cx="6949440" cy="274320"/>
          </a:xfrm>
          <a:prstGeom prst="rect">
            <a:avLst/>
          </a:prstGeom>
          <a:noFill/>
          <a:ln/>
        </p:spPr>
        <p:txBody>
          <a:bodyPr wrap="square" lIns="0" tIns="0" rIns="0" bIns="0" rtlCol="0" anchor="t"/>
          <a:lstStyle/>
          <a:p>
            <a:pPr algn="l" indent="0" marL="0">
              <a:lnSpc>
                <a:spcPct val="105000"/>
              </a:lnSpc>
              <a:buNone/>
            </a:pPr>
            <a:r>
              <a:rPr lang="en-US" sz="1600" dirty="0">
                <a:solidFill>
                  <a:srgbClr val="12262E"/>
                </a:solidFill>
                <a:latin typeface="Georgia" pitchFamily="34" charset="0"/>
                <a:ea typeface="Georgia" pitchFamily="34" charset="-122"/>
                <a:cs typeface="Georgia" pitchFamily="34" charset="-120"/>
              </a:rPr>
              <a:t>Enforce the rulesets, or drop them.</a:t>
            </a:r>
            <a:endParaRPr lang="en-US" sz="1600" dirty="0"/>
          </a:p>
        </p:txBody>
      </p:sp>
      <p:sp>
        <p:nvSpPr>
          <p:cNvPr id="33" name="Text 31"/>
          <p:cNvSpPr/>
          <p:nvPr/>
        </p:nvSpPr>
        <p:spPr>
          <a:xfrm>
            <a:off x="1417320" y="5413248"/>
            <a:ext cx="9418320" cy="219456"/>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The GitHub plan returns 403, so the review rules stay unenforced.</a:t>
            </a:r>
            <a:endParaRPr lang="en-US" sz="1250" dirty="0"/>
          </a:p>
        </p:txBody>
      </p:sp>
      <p:sp>
        <p:nvSpPr>
          <p:cNvPr id="34" name="Text 32"/>
          <p:cNvSpPr/>
          <p:nvPr/>
        </p:nvSpPr>
        <p:spPr>
          <a:xfrm>
            <a:off x="9601200" y="5138928"/>
            <a:ext cx="2020824" cy="217424"/>
          </a:xfrm>
          <a:prstGeom prst="rect">
            <a:avLst/>
          </a:prstGeom>
          <a:noFill/>
          <a:ln/>
        </p:spPr>
        <p:txBody>
          <a:bodyPr wrap="square" lIns="0" tIns="0" rIns="0" bIns="0" rtlCol="0" anchor="t"/>
          <a:lstStyle/>
          <a:p>
            <a:pPr algn="r" indent="0" marL="0">
              <a:lnSpc>
                <a:spcPct val="125000"/>
              </a:lnSpc>
              <a:buNone/>
            </a:pPr>
            <a:r>
              <a:rPr lang="en-US" sz="1000" spc="110" kern="0" dirty="0">
                <a:solidFill>
                  <a:srgbClr val="0D6F6A"/>
                </a:solidFill>
                <a:latin typeface="Consolas" pitchFamily="34" charset="0"/>
                <a:ea typeface="Consolas" pitchFamily="34" charset="-122"/>
                <a:cs typeface="Consolas" pitchFamily="34" charset="-120"/>
              </a:rPr>
              <a:t>BLOCKED</a:t>
            </a:r>
            <a:endParaRPr lang="en-US" sz="1000" dirty="0"/>
          </a:p>
        </p:txBody>
      </p:sp>
      <p:sp>
        <p:nvSpPr>
          <p:cNvPr id="35" name="Shape 33"/>
          <p:cNvSpPr/>
          <p:nvPr/>
        </p:nvSpPr>
        <p:spPr>
          <a:xfrm>
            <a:off x="566928" y="5833872"/>
            <a:ext cx="11055096" cy="0"/>
          </a:xfrm>
          <a:prstGeom prst="line">
            <a:avLst/>
          </a:prstGeom>
          <a:noFill/>
          <a:ln w="9525">
            <a:solidFill>
              <a:srgbClr val="E2DDD2"/>
            </a:solidFill>
            <a:prstDash val="solid"/>
          </a:ln>
        </p:spPr>
      </p:sp>
      <p:sp>
        <p:nvSpPr>
          <p:cNvPr id="36" name="Text 34"/>
          <p:cNvSpPr/>
          <p:nvPr/>
        </p:nvSpPr>
        <p:spPr>
          <a:xfrm>
            <a:off x="566928" y="5925312"/>
            <a:ext cx="11055096"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68777D"/>
                </a:solidFill>
                <a:latin typeface="Consolas" pitchFamily="34" charset="0"/>
                <a:ea typeface="Consolas" pitchFamily="34" charset="-122"/>
                <a:cs typeface="Consolas" pitchFamily="34" charset="-120"/>
              </a:rPr>
              <a:t>LATER: PRODUCTION DEPLOYMENT, THEN ADJUDICATION OF A CUT-OFF.</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566928" y="566928"/>
            <a:ext cx="11057839" cy="0"/>
          </a:xfrm>
          <a:prstGeom prst="line">
            <a:avLst/>
          </a:prstGeom>
          <a:noFill/>
          <a:ln w="12700">
            <a:solidFill>
              <a:srgbClr val="D3CDC0"/>
            </a:solidFill>
            <a:prstDash val="solid"/>
          </a:ln>
        </p:spPr>
      </p:sp>
      <p:sp>
        <p:nvSpPr>
          <p:cNvPr id="3" name="Text 1"/>
          <p:cNvSpPr/>
          <p:nvPr/>
        </p:nvSpPr>
        <p:spPr>
          <a:xfrm>
            <a:off x="566928" y="347472"/>
            <a:ext cx="5486400" cy="201168"/>
          </a:xfrm>
          <a:prstGeom prst="rect">
            <a:avLst/>
          </a:prstGeom>
          <a:noFill/>
          <a:ln/>
        </p:spPr>
        <p:txBody>
          <a:bodyPr wrap="square" lIns="0" tIns="0" rIns="0" bIns="0" rtlCol="0" anchor="ctr"/>
          <a:lstStyle/>
          <a:p>
            <a:pPr indent="0" marL="0">
              <a:lnSpc>
                <a:spcPct val="118000"/>
              </a:lnSpc>
              <a:buNone/>
            </a:pPr>
            <a:r>
              <a:rPr lang="en-US" sz="1000" spc="120" kern="0" dirty="0">
                <a:solidFill>
                  <a:srgbClr val="0D6F6A"/>
                </a:solidFill>
                <a:latin typeface="Consolas" pitchFamily="34" charset="0"/>
                <a:ea typeface="Consolas" pitchFamily="34" charset="-122"/>
                <a:cs typeface="Consolas" pitchFamily="34" charset="-120"/>
              </a:rPr>
              <a:t>11 · THE POD</a:t>
            </a:r>
            <a:endParaRPr lang="en-US" sz="1000" dirty="0"/>
          </a:p>
        </p:txBody>
      </p:sp>
      <p:sp>
        <p:nvSpPr>
          <p:cNvPr id="4" name="Text 2"/>
          <p:cNvSpPr/>
          <p:nvPr/>
        </p:nvSpPr>
        <p:spPr>
          <a:xfrm>
            <a:off x="7052767" y="347472"/>
            <a:ext cx="4572000" cy="201168"/>
          </a:xfrm>
          <a:prstGeom prst="rect">
            <a:avLst/>
          </a:prstGeom>
          <a:noFill/>
          <a:ln/>
        </p:spPr>
        <p:txBody>
          <a:bodyPr wrap="square" lIns="0" tIns="0" rIns="0" bIns="0" rtlCol="0" anchor="ctr"/>
          <a:lstStyle/>
          <a:p>
            <a:pPr algn="r" indent="0" marL="0">
              <a:lnSpc>
                <a:spcPct val="118000"/>
              </a:lnSpc>
              <a:buNone/>
            </a:pPr>
            <a:r>
              <a:rPr lang="en-US" sz="1000" spc="120" kern="0" dirty="0">
                <a:solidFill>
                  <a:srgbClr val="68777D"/>
                </a:solidFill>
                <a:latin typeface="Consolas" pitchFamily="34" charset="0"/>
                <a:ea typeface="Consolas" pitchFamily="34" charset="-122"/>
                <a:cs typeface="Consolas" pitchFamily="34" charset="-120"/>
              </a:rPr>
              <a:t>LUMEN BANK · DISPUTE COPILOT</a:t>
            </a:r>
            <a:endParaRPr lang="en-US" sz="1000" dirty="0"/>
          </a:p>
        </p:txBody>
      </p:sp>
      <p:sp>
        <p:nvSpPr>
          <p:cNvPr id="5" name="Shape 3"/>
          <p:cNvSpPr/>
          <p:nvPr/>
        </p:nvSpPr>
        <p:spPr>
          <a:xfrm>
            <a:off x="566928" y="6382512"/>
            <a:ext cx="11057839" cy="0"/>
          </a:xfrm>
          <a:prstGeom prst="line">
            <a:avLst/>
          </a:prstGeom>
          <a:noFill/>
          <a:ln w="9525">
            <a:solidFill>
              <a:srgbClr val="E2DDD2"/>
            </a:solidFill>
            <a:prstDash val="solid"/>
          </a:ln>
        </p:spPr>
      </p:sp>
      <p:sp>
        <p:nvSpPr>
          <p:cNvPr id="6" name="Text 4"/>
          <p:cNvSpPr/>
          <p:nvPr/>
        </p:nvSpPr>
        <p:spPr>
          <a:xfrm>
            <a:off x="566928" y="6473952"/>
            <a:ext cx="5486400" cy="219456"/>
          </a:xfrm>
          <a:prstGeom prst="rect">
            <a:avLst/>
          </a:prstGeom>
          <a:noFill/>
          <a:ln/>
        </p:spPr>
        <p:txBody>
          <a:bodyPr wrap="square" lIns="0" tIns="0" rIns="0" bIns="0" rtlCol="0" anchor="t"/>
          <a:lstStyle/>
          <a:p>
            <a:pPr indent="0" marL="0">
              <a:lnSpc>
                <a:spcPct val="118000"/>
              </a:lnSpc>
              <a:buNone/>
            </a:pPr>
            <a:r>
              <a:rPr lang="en-US" sz="1000" dirty="0">
                <a:solidFill>
                  <a:srgbClr val="68777D"/>
                </a:solidFill>
                <a:latin typeface="Consolas" pitchFamily="34" charset="0"/>
                <a:ea typeface="Consolas" pitchFamily="34" charset="-122"/>
                <a:cs typeface="Consolas" pitchFamily="34" charset="-120"/>
              </a:rPr>
              <a:t>Final demo and technical defense · 29 October 2026</a:t>
            </a:r>
            <a:endParaRPr lang="en-US" sz="1000" dirty="0"/>
          </a:p>
        </p:txBody>
      </p:sp>
      <p:sp>
        <p:nvSpPr>
          <p:cNvPr id="7" name="Text 5"/>
          <p:cNvSpPr/>
          <p:nvPr/>
        </p:nvSpPr>
        <p:spPr>
          <a:xfrm>
            <a:off x="9338767" y="6473952"/>
            <a:ext cx="2286000" cy="219456"/>
          </a:xfrm>
          <a:prstGeom prst="rect">
            <a:avLst/>
          </a:prstGeom>
          <a:noFill/>
          <a:ln/>
        </p:spPr>
        <p:txBody>
          <a:bodyPr wrap="square" lIns="0" tIns="0" rIns="0" bIns="0" rtlCol="0" anchor="t"/>
          <a:lstStyle/>
          <a:p>
            <a:pPr algn="r" indent="0" marL="0">
              <a:lnSpc>
                <a:spcPct val="118000"/>
              </a:lnSpc>
              <a:buNone/>
            </a:pPr>
            <a:r>
              <a:rPr lang="en-US" sz="1000" dirty="0">
                <a:solidFill>
                  <a:srgbClr val="68777D"/>
                </a:solidFill>
                <a:latin typeface="Consolas" pitchFamily="34" charset="0"/>
                <a:ea typeface="Consolas" pitchFamily="34" charset="-122"/>
                <a:cs typeface="Consolas" pitchFamily="34" charset="-120"/>
              </a:rPr>
              <a:t>[ 12 / 16 ]</a:t>
            </a:r>
            <a:endParaRPr lang="en-US" sz="1000" dirty="0"/>
          </a:p>
        </p:txBody>
      </p:sp>
      <p:sp>
        <p:nvSpPr>
          <p:cNvPr id="8" name="Text 6"/>
          <p:cNvSpPr/>
          <p:nvPr/>
        </p:nvSpPr>
        <p:spPr>
          <a:xfrm>
            <a:off x="566928" y="960120"/>
            <a:ext cx="10789920" cy="1225296"/>
          </a:xfrm>
          <a:prstGeom prst="rect">
            <a:avLst/>
          </a:prstGeom>
          <a:noFill/>
          <a:ln/>
        </p:spPr>
        <p:txBody>
          <a:bodyPr wrap="square" lIns="0" tIns="0" rIns="0" bIns="0" rtlCol="0" anchor="t"/>
          <a:lstStyle/>
          <a:p>
            <a:pPr indent="0" marL="0">
              <a:lnSpc>
                <a:spcPct val="98000"/>
              </a:lnSpc>
              <a:buNone/>
            </a:pPr>
            <a:r>
              <a:rPr lang="en-US" sz="3400" dirty="0">
                <a:solidFill>
                  <a:srgbClr val="12262E"/>
                </a:solidFill>
                <a:latin typeface="Georgia" pitchFamily="34" charset="0"/>
                <a:ea typeface="Georgia" pitchFamily="34" charset="-122"/>
                <a:cs typeface="Georgia" pitchFamily="34" charset="-120"/>
              </a:rPr>
              <a:t>Three people, one system,</a:t>
            </a:r>
            <a:endParaRPr lang="en-US" sz="3400" dirty="0"/>
          </a:p>
          <a:p>
            <a:pPr indent="0" marL="0">
              <a:lnSpc>
                <a:spcPct val="98000"/>
              </a:lnSpc>
              <a:buNone/>
            </a:pPr>
            <a:r>
              <a:rPr lang="en-US" sz="3400" dirty="0">
                <a:solidFill>
                  <a:srgbClr val="12262E"/>
                </a:solidFill>
                <a:latin typeface="Georgia" pitchFamily="34" charset="0"/>
                <a:ea typeface="Georgia" pitchFamily="34" charset="-122"/>
                <a:cs typeface="Georgia" pitchFamily="34" charset="-120"/>
              </a:rPr>
              <a:t>defended line by line.</a:t>
            </a:r>
            <a:endParaRPr lang="en-US" sz="3400" dirty="0"/>
          </a:p>
        </p:txBody>
      </p:sp>
      <p:sp>
        <p:nvSpPr>
          <p:cNvPr id="9" name="Text 7"/>
          <p:cNvSpPr/>
          <p:nvPr/>
        </p:nvSpPr>
        <p:spPr>
          <a:xfrm>
            <a:off x="566928" y="2157984"/>
            <a:ext cx="10515600" cy="298704"/>
          </a:xfrm>
          <a:prstGeom prst="rect">
            <a:avLst/>
          </a:prstGeom>
          <a:noFill/>
          <a:ln/>
        </p:spPr>
        <p:txBody>
          <a:bodyPr wrap="square" lIns="0" tIns="0" rIns="0" bIns="0" rtlCol="0" anchor="t"/>
          <a:lstStyle/>
          <a:p>
            <a:pPr algn="l" indent="0" marL="0">
              <a:lnSpc>
                <a:spcPct val="122000"/>
              </a:lnSpc>
              <a:buNone/>
            </a:pPr>
            <a:r>
              <a:rPr lang="en-US" sz="1500" dirty="0">
                <a:solidFill>
                  <a:srgbClr val="12262E"/>
                </a:solidFill>
                <a:latin typeface="Segoe UI" pitchFamily="34" charset="0"/>
                <a:ea typeface="Segoe UI" pitchFamily="34" charset="-122"/>
                <a:cs typeface="Segoe UI" pitchFamily="34" charset="-120"/>
              </a:rPr>
              <a:t>We built one path and three seams: the gate, the escalation, the retry.</a:t>
            </a:r>
            <a:endParaRPr lang="en-US" sz="1500" dirty="0"/>
          </a:p>
        </p:txBody>
      </p:sp>
      <p:sp>
        <p:nvSpPr>
          <p:cNvPr id="10" name="Shape 8"/>
          <p:cNvSpPr/>
          <p:nvPr/>
        </p:nvSpPr>
        <p:spPr>
          <a:xfrm>
            <a:off x="566928" y="2578608"/>
            <a:ext cx="3456432" cy="0"/>
          </a:xfrm>
          <a:prstGeom prst="line">
            <a:avLst/>
          </a:prstGeom>
          <a:noFill/>
          <a:ln w="12700">
            <a:solidFill>
              <a:srgbClr val="D3CDC0"/>
            </a:solidFill>
            <a:prstDash val="solid"/>
          </a:ln>
        </p:spPr>
      </p:sp>
      <p:sp>
        <p:nvSpPr>
          <p:cNvPr id="11" name="Text 9"/>
          <p:cNvSpPr/>
          <p:nvPr/>
        </p:nvSpPr>
        <p:spPr>
          <a:xfrm>
            <a:off x="566928" y="2688336"/>
            <a:ext cx="3456432" cy="457200"/>
          </a:xfrm>
          <a:prstGeom prst="rect">
            <a:avLst/>
          </a:prstGeom>
          <a:noFill/>
          <a:ln/>
        </p:spPr>
        <p:txBody>
          <a:bodyPr wrap="square" lIns="0" tIns="0" rIns="0" bIns="0" rtlCol="0" anchor="t"/>
          <a:lstStyle/>
          <a:p>
            <a:pPr algn="l" indent="0" marL="0">
              <a:lnSpc>
                <a:spcPct val="122000"/>
              </a:lnSpc>
              <a:buNone/>
            </a:pPr>
            <a:r>
              <a:rPr lang="en-US" sz="2400" dirty="0">
                <a:solidFill>
                  <a:srgbClr val="12262E"/>
                </a:solidFill>
                <a:latin typeface="Georgia" pitchFamily="34" charset="0"/>
                <a:ea typeface="Georgia" pitchFamily="34" charset="-122"/>
                <a:cs typeface="Georgia" pitchFamily="34" charset="-120"/>
              </a:rPr>
              <a:t>Kanit</a:t>
            </a:r>
            <a:endParaRPr lang="en-US" sz="2400" dirty="0"/>
          </a:p>
        </p:txBody>
      </p:sp>
      <p:sp>
        <p:nvSpPr>
          <p:cNvPr id="12" name="Text 10"/>
          <p:cNvSpPr/>
          <p:nvPr/>
        </p:nvSpPr>
        <p:spPr>
          <a:xfrm>
            <a:off x="566928" y="3200400"/>
            <a:ext cx="3456432"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0D6F6A"/>
                </a:solidFill>
                <a:latin typeface="Consolas" pitchFamily="34" charset="0"/>
                <a:ea typeface="Consolas" pitchFamily="34" charset="-122"/>
                <a:cs typeface="Consolas" pitchFamily="34" charset="-120"/>
              </a:rPr>
              <a:t>GATE AND EVIDENCE</a:t>
            </a:r>
            <a:endParaRPr lang="en-US" sz="1000" dirty="0"/>
          </a:p>
        </p:txBody>
      </p:sp>
      <p:sp>
        <p:nvSpPr>
          <p:cNvPr id="13" name="Text 11"/>
          <p:cNvSpPr/>
          <p:nvPr/>
        </p:nvSpPr>
        <p:spPr>
          <a:xfrm>
            <a:off x="566928" y="3419856"/>
            <a:ext cx="3291840" cy="1152144"/>
          </a:xfrm>
          <a:prstGeom prst="rect">
            <a:avLst/>
          </a:prstGeom>
          <a:noFill/>
          <a:ln/>
        </p:spPr>
        <p:txBody>
          <a:bodyPr wrap="square" lIns="0" tIns="0" rIns="0" bIns="0" rtlCol="0" anchor="t"/>
          <a:lstStyle/>
          <a:p>
            <a:pPr algn="l" indent="0" marL="0">
              <a:lnSpc>
                <a:spcPct val="122000"/>
              </a:lnSpc>
              <a:buNone/>
            </a:pPr>
            <a:r>
              <a:rPr lang="en-US" sz="1350" dirty="0">
                <a:solidFill>
                  <a:srgbClr val="2B454F"/>
                </a:solidFill>
                <a:latin typeface="Segoe UI" pitchFamily="34" charset="0"/>
                <a:ea typeface="Segoe UI" pitchFamily="34" charset="-122"/>
                <a:cs typeface="Segoe UI" pitchFamily="34" charset="-120"/>
              </a:rPr>
              <a:t>Idempotency. The approval bound to the draft hash, a changed draft stopped before any write, 409 live, and the evidence pack behind every number here.</a:t>
            </a:r>
            <a:endParaRPr lang="en-US" sz="1350" dirty="0"/>
          </a:p>
        </p:txBody>
      </p:sp>
      <p:sp>
        <p:nvSpPr>
          <p:cNvPr id="14" name="Shape 12"/>
          <p:cNvSpPr/>
          <p:nvPr/>
        </p:nvSpPr>
        <p:spPr>
          <a:xfrm>
            <a:off x="566928" y="4663440"/>
            <a:ext cx="3456432" cy="0"/>
          </a:xfrm>
          <a:prstGeom prst="line">
            <a:avLst/>
          </a:prstGeom>
          <a:noFill/>
          <a:ln w="9525">
            <a:solidFill>
              <a:srgbClr val="E2DDD2"/>
            </a:solidFill>
            <a:prstDash val="solid"/>
          </a:ln>
        </p:spPr>
      </p:sp>
      <p:sp>
        <p:nvSpPr>
          <p:cNvPr id="15" name="Text 13"/>
          <p:cNvSpPr/>
          <p:nvPr/>
        </p:nvSpPr>
        <p:spPr>
          <a:xfrm>
            <a:off x="566928" y="4754880"/>
            <a:ext cx="3456432" cy="217424"/>
          </a:xfrm>
          <a:prstGeom prst="rect">
            <a:avLst/>
          </a:prstGeom>
          <a:noFill/>
          <a:ln/>
        </p:spPr>
        <p:txBody>
          <a:bodyPr wrap="square" lIns="0" tIns="0" rIns="0" bIns="0" rtlCol="0" anchor="t"/>
          <a:lstStyle/>
          <a:p>
            <a:pPr algn="l" indent="0" marL="0">
              <a:lnSpc>
                <a:spcPct val="125000"/>
              </a:lnSpc>
              <a:buNone/>
            </a:pPr>
            <a:r>
              <a:rPr lang="en-US" sz="1000" spc="110" kern="0" dirty="0">
                <a:solidFill>
                  <a:srgbClr val="68777D"/>
                </a:solidFill>
                <a:latin typeface="Consolas" pitchFamily="34" charset="0"/>
                <a:ea typeface="Consolas" pitchFamily="34" charset="-122"/>
                <a:cs typeface="Consolas" pitchFamily="34" charset="-120"/>
              </a:rPr>
              <a:t>ASK KANIT</a:t>
            </a:r>
            <a:endParaRPr lang="en-US" sz="1000" dirty="0"/>
          </a:p>
        </p:txBody>
      </p:sp>
      <p:sp>
        <p:nvSpPr>
          <p:cNvPr id="16" name="Text 14"/>
          <p:cNvSpPr/>
          <p:nvPr/>
        </p:nvSpPr>
        <p:spPr>
          <a:xfrm>
            <a:off x="566928" y="4956048"/>
            <a:ext cx="3310128" cy="542544"/>
          </a:xfrm>
          <a:prstGeom prst="rect">
            <a:avLst/>
          </a:prstGeom>
          <a:noFill/>
          <a:ln/>
        </p:spPr>
        <p:txBody>
          <a:bodyPr wrap="square" lIns="0" tIns="0" rIns="0" bIns="0" rtlCol="0" anchor="t"/>
          <a:lstStyle/>
          <a:p>
            <a:pPr algn="l" indent="0" marL="0">
              <a:lnSpc>
                <a:spcPct val="115000"/>
              </a:lnSpc>
              <a:buNone/>
            </a:pPr>
            <a:r>
              <a:rPr lang="en-US" sz="1500" dirty="0">
                <a:solidFill>
                  <a:srgbClr val="12262E"/>
                </a:solidFill>
                <a:latin typeface="Georgia" pitchFamily="34" charset="0"/>
                <a:ea typeface="Georgia" pitchFamily="34" charset="-122"/>
                <a:cs typeface="Georgia" pitchFamily="34" charset="-120"/>
              </a:rPr>
              <a:t>What stops a changed draft from being written?</a:t>
            </a:r>
            <a:endParaRPr lang="en-US" sz="1500" dirty="0"/>
          </a:p>
        </p:txBody>
      </p:sp>
      <p:sp>
        <p:nvSpPr>
          <p:cNvPr id="17" name="Shape 15"/>
          <p:cNvSpPr/>
          <p:nvPr/>
        </p:nvSpPr>
        <p:spPr>
          <a:xfrm>
            <a:off x="4343400" y="2578608"/>
            <a:ext cx="3456432" cy="0"/>
          </a:xfrm>
          <a:prstGeom prst="line">
            <a:avLst/>
          </a:prstGeom>
          <a:noFill/>
          <a:ln w="12700">
            <a:solidFill>
              <a:srgbClr val="D3CDC0"/>
            </a:solidFill>
            <a:prstDash val="solid"/>
          </a:ln>
        </p:spPr>
      </p:sp>
      <p:sp>
        <p:nvSpPr>
          <p:cNvPr id="18" name="Text 16"/>
          <p:cNvSpPr/>
          <p:nvPr/>
        </p:nvSpPr>
        <p:spPr>
          <a:xfrm>
            <a:off x="4343400" y="2688336"/>
            <a:ext cx="3456432" cy="457200"/>
          </a:xfrm>
          <a:prstGeom prst="rect">
            <a:avLst/>
          </a:prstGeom>
          <a:noFill/>
          <a:ln/>
        </p:spPr>
        <p:txBody>
          <a:bodyPr wrap="square" lIns="0" tIns="0" rIns="0" bIns="0" rtlCol="0" anchor="t"/>
          <a:lstStyle/>
          <a:p>
            <a:pPr algn="l" indent="0" marL="0">
              <a:lnSpc>
                <a:spcPct val="122000"/>
              </a:lnSpc>
              <a:buNone/>
            </a:pPr>
            <a:r>
              <a:rPr lang="en-US" sz="2400" dirty="0">
                <a:solidFill>
                  <a:srgbClr val="12262E"/>
                </a:solidFill>
                <a:latin typeface="Georgia" pitchFamily="34" charset="0"/>
                <a:ea typeface="Georgia" pitchFamily="34" charset="-122"/>
                <a:cs typeface="Georgia" pitchFamily="34" charset="-120"/>
              </a:rPr>
              <a:t>Mani</a:t>
            </a:r>
            <a:endParaRPr lang="en-US" sz="2400" dirty="0"/>
          </a:p>
        </p:txBody>
      </p:sp>
      <p:sp>
        <p:nvSpPr>
          <p:cNvPr id="19" name="Text 17"/>
          <p:cNvSpPr/>
          <p:nvPr/>
        </p:nvSpPr>
        <p:spPr>
          <a:xfrm>
            <a:off x="4343400" y="3200400"/>
            <a:ext cx="3456432"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0D6F6A"/>
                </a:solidFill>
                <a:latin typeface="Consolas" pitchFamily="34" charset="0"/>
                <a:ea typeface="Consolas" pitchFamily="34" charset="-122"/>
                <a:cs typeface="Consolas" pitchFamily="34" charset="-120"/>
              </a:rPr>
              <a:t>ESCALATION</a:t>
            </a:r>
            <a:endParaRPr lang="en-US" sz="1000" dirty="0"/>
          </a:p>
        </p:txBody>
      </p:sp>
      <p:sp>
        <p:nvSpPr>
          <p:cNvPr id="20" name="Text 18"/>
          <p:cNvSpPr/>
          <p:nvPr/>
        </p:nvSpPr>
        <p:spPr>
          <a:xfrm>
            <a:off x="4343400" y="3419856"/>
            <a:ext cx="3291840" cy="932688"/>
          </a:xfrm>
          <a:prstGeom prst="rect">
            <a:avLst/>
          </a:prstGeom>
          <a:noFill/>
          <a:ln/>
        </p:spPr>
        <p:txBody>
          <a:bodyPr wrap="square" lIns="0" tIns="0" rIns="0" bIns="0" rtlCol="0" anchor="t"/>
          <a:lstStyle/>
          <a:p>
            <a:pPr algn="l" indent="0" marL="0">
              <a:lnSpc>
                <a:spcPct val="122000"/>
              </a:lnSpc>
              <a:buNone/>
            </a:pPr>
            <a:r>
              <a:rPr lang="en-US" sz="1350" dirty="0">
                <a:solidFill>
                  <a:srgbClr val="2B454F"/>
                </a:solidFill>
                <a:latin typeface="Segoe UI" pitchFamily="34" charset="0"/>
                <a:ea typeface="Segoe UI" pitchFamily="34" charset="-122"/>
                <a:cs typeface="Segoe UI" pitchFamily="34" charset="-120"/>
              </a:rPr>
              <a:t>Merged in 52. A follow-up that contradicts the intake routes to manual review with both sources cited. That is D05 and D06.</a:t>
            </a:r>
            <a:endParaRPr lang="en-US" sz="1350" dirty="0"/>
          </a:p>
        </p:txBody>
      </p:sp>
      <p:sp>
        <p:nvSpPr>
          <p:cNvPr id="21" name="Shape 19"/>
          <p:cNvSpPr/>
          <p:nvPr/>
        </p:nvSpPr>
        <p:spPr>
          <a:xfrm>
            <a:off x="4343400" y="4663440"/>
            <a:ext cx="3456432" cy="0"/>
          </a:xfrm>
          <a:prstGeom prst="line">
            <a:avLst/>
          </a:prstGeom>
          <a:noFill/>
          <a:ln w="9525">
            <a:solidFill>
              <a:srgbClr val="E2DDD2"/>
            </a:solidFill>
            <a:prstDash val="solid"/>
          </a:ln>
        </p:spPr>
      </p:sp>
      <p:sp>
        <p:nvSpPr>
          <p:cNvPr id="22" name="Text 20"/>
          <p:cNvSpPr/>
          <p:nvPr/>
        </p:nvSpPr>
        <p:spPr>
          <a:xfrm>
            <a:off x="4343400" y="4754880"/>
            <a:ext cx="3456432" cy="217424"/>
          </a:xfrm>
          <a:prstGeom prst="rect">
            <a:avLst/>
          </a:prstGeom>
          <a:noFill/>
          <a:ln/>
        </p:spPr>
        <p:txBody>
          <a:bodyPr wrap="square" lIns="0" tIns="0" rIns="0" bIns="0" rtlCol="0" anchor="t"/>
          <a:lstStyle/>
          <a:p>
            <a:pPr algn="l" indent="0" marL="0">
              <a:lnSpc>
                <a:spcPct val="125000"/>
              </a:lnSpc>
              <a:buNone/>
            </a:pPr>
            <a:r>
              <a:rPr lang="en-US" sz="1000" spc="110" kern="0" dirty="0">
                <a:solidFill>
                  <a:srgbClr val="68777D"/>
                </a:solidFill>
                <a:latin typeface="Consolas" pitchFamily="34" charset="0"/>
                <a:ea typeface="Consolas" pitchFamily="34" charset="-122"/>
                <a:cs typeface="Consolas" pitchFamily="34" charset="-120"/>
              </a:rPr>
              <a:t>ASK MANI</a:t>
            </a:r>
            <a:endParaRPr lang="en-US" sz="1000" dirty="0"/>
          </a:p>
        </p:txBody>
      </p:sp>
      <p:sp>
        <p:nvSpPr>
          <p:cNvPr id="23" name="Text 21"/>
          <p:cNvSpPr/>
          <p:nvPr/>
        </p:nvSpPr>
        <p:spPr>
          <a:xfrm>
            <a:off x="4343400" y="4956048"/>
            <a:ext cx="3310128" cy="786384"/>
          </a:xfrm>
          <a:prstGeom prst="rect">
            <a:avLst/>
          </a:prstGeom>
          <a:noFill/>
          <a:ln/>
        </p:spPr>
        <p:txBody>
          <a:bodyPr wrap="square" lIns="0" tIns="0" rIns="0" bIns="0" rtlCol="0" anchor="t"/>
          <a:lstStyle/>
          <a:p>
            <a:pPr algn="l" indent="0" marL="0">
              <a:lnSpc>
                <a:spcPct val="115000"/>
              </a:lnSpc>
              <a:buNone/>
            </a:pPr>
            <a:r>
              <a:rPr lang="en-US" sz="1500" dirty="0">
                <a:solidFill>
                  <a:srgbClr val="12262E"/>
                </a:solidFill>
                <a:latin typeface="Georgia" pitchFamily="34" charset="0"/>
                <a:ea typeface="Georgia" pitchFamily="34" charset="-122"/>
                <a:cs typeface="Georgia" pitchFamily="34" charset="-120"/>
              </a:rPr>
              <a:t>What happens when a follow-up names a document the read step cannot load?</a:t>
            </a:r>
            <a:endParaRPr lang="en-US" sz="1500" dirty="0"/>
          </a:p>
        </p:txBody>
      </p:sp>
      <p:sp>
        <p:nvSpPr>
          <p:cNvPr id="24" name="Shape 22"/>
          <p:cNvSpPr/>
          <p:nvPr/>
        </p:nvSpPr>
        <p:spPr>
          <a:xfrm>
            <a:off x="8119872" y="2578608"/>
            <a:ext cx="3456432" cy="0"/>
          </a:xfrm>
          <a:prstGeom prst="line">
            <a:avLst/>
          </a:prstGeom>
          <a:noFill/>
          <a:ln w="12700">
            <a:solidFill>
              <a:srgbClr val="D3CDC0"/>
            </a:solidFill>
            <a:prstDash val="solid"/>
          </a:ln>
        </p:spPr>
      </p:sp>
      <p:sp>
        <p:nvSpPr>
          <p:cNvPr id="25" name="Text 23"/>
          <p:cNvSpPr/>
          <p:nvPr/>
        </p:nvSpPr>
        <p:spPr>
          <a:xfrm>
            <a:off x="8119872" y="2688336"/>
            <a:ext cx="3456432" cy="457200"/>
          </a:xfrm>
          <a:prstGeom prst="rect">
            <a:avLst/>
          </a:prstGeom>
          <a:noFill/>
          <a:ln/>
        </p:spPr>
        <p:txBody>
          <a:bodyPr wrap="square" lIns="0" tIns="0" rIns="0" bIns="0" rtlCol="0" anchor="t"/>
          <a:lstStyle/>
          <a:p>
            <a:pPr algn="l" indent="0" marL="0">
              <a:lnSpc>
                <a:spcPct val="122000"/>
              </a:lnSpc>
              <a:buNone/>
            </a:pPr>
            <a:r>
              <a:rPr lang="en-US" sz="2400" dirty="0">
                <a:solidFill>
                  <a:srgbClr val="12262E"/>
                </a:solidFill>
                <a:latin typeface="Georgia" pitchFamily="34" charset="0"/>
                <a:ea typeface="Georgia" pitchFamily="34" charset="-122"/>
                <a:cs typeface="Georgia" pitchFamily="34" charset="-120"/>
              </a:rPr>
              <a:t>Zach</a:t>
            </a:r>
            <a:endParaRPr lang="en-US" sz="2400" dirty="0"/>
          </a:p>
        </p:txBody>
      </p:sp>
      <p:sp>
        <p:nvSpPr>
          <p:cNvPr id="26" name="Text 24"/>
          <p:cNvSpPr/>
          <p:nvPr/>
        </p:nvSpPr>
        <p:spPr>
          <a:xfrm>
            <a:off x="8119872" y="3200400"/>
            <a:ext cx="3456432"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0D6F6A"/>
                </a:solidFill>
                <a:latin typeface="Consolas" pitchFamily="34" charset="0"/>
                <a:ea typeface="Consolas" pitchFamily="34" charset="-122"/>
                <a:cs typeface="Consolas" pitchFamily="34" charset="-120"/>
              </a:rPr>
              <a:t>RESILIENCE</a:t>
            </a:r>
            <a:endParaRPr lang="en-US" sz="1000" dirty="0"/>
          </a:p>
        </p:txBody>
      </p:sp>
      <p:sp>
        <p:nvSpPr>
          <p:cNvPr id="27" name="Text 25"/>
          <p:cNvSpPr/>
          <p:nvPr/>
        </p:nvSpPr>
        <p:spPr>
          <a:xfrm>
            <a:off x="8119872" y="3419856"/>
            <a:ext cx="3291840" cy="932688"/>
          </a:xfrm>
          <a:prstGeom prst="rect">
            <a:avLst/>
          </a:prstGeom>
          <a:noFill/>
          <a:ln/>
        </p:spPr>
        <p:txBody>
          <a:bodyPr wrap="square" lIns="0" tIns="0" rIns="0" bIns="0" rtlCol="0" anchor="t"/>
          <a:lstStyle/>
          <a:p>
            <a:pPr algn="l" indent="0" marL="0">
              <a:lnSpc>
                <a:spcPct val="122000"/>
              </a:lnSpc>
              <a:buNone/>
            </a:pPr>
            <a:r>
              <a:rPr lang="en-US" sz="1350" dirty="0">
                <a:solidFill>
                  <a:srgbClr val="2B454F"/>
                </a:solidFill>
                <a:latin typeface="Segoe UI" pitchFamily="34" charset="0"/>
                <a:ea typeface="Segoe UI" pitchFamily="34" charset="-122"/>
                <a:cs typeface="Segoe UI" pitchFamily="34" charset="-120"/>
              </a:rPr>
              <a:t>Retry and breaker around every tool read: merged and wired. D07 and D10 exercise the ladder in the scored run.</a:t>
            </a:r>
            <a:endParaRPr lang="en-US" sz="1350" dirty="0"/>
          </a:p>
        </p:txBody>
      </p:sp>
      <p:sp>
        <p:nvSpPr>
          <p:cNvPr id="28" name="Shape 26"/>
          <p:cNvSpPr/>
          <p:nvPr/>
        </p:nvSpPr>
        <p:spPr>
          <a:xfrm>
            <a:off x="8119872" y="4663440"/>
            <a:ext cx="3456432" cy="0"/>
          </a:xfrm>
          <a:prstGeom prst="line">
            <a:avLst/>
          </a:prstGeom>
          <a:noFill/>
          <a:ln w="9525">
            <a:solidFill>
              <a:srgbClr val="E2DDD2"/>
            </a:solidFill>
            <a:prstDash val="solid"/>
          </a:ln>
        </p:spPr>
      </p:sp>
      <p:sp>
        <p:nvSpPr>
          <p:cNvPr id="29" name="Text 27"/>
          <p:cNvSpPr/>
          <p:nvPr/>
        </p:nvSpPr>
        <p:spPr>
          <a:xfrm>
            <a:off x="8119872" y="4754880"/>
            <a:ext cx="3456432" cy="217424"/>
          </a:xfrm>
          <a:prstGeom prst="rect">
            <a:avLst/>
          </a:prstGeom>
          <a:noFill/>
          <a:ln/>
        </p:spPr>
        <p:txBody>
          <a:bodyPr wrap="square" lIns="0" tIns="0" rIns="0" bIns="0" rtlCol="0" anchor="t"/>
          <a:lstStyle/>
          <a:p>
            <a:pPr algn="l" indent="0" marL="0">
              <a:lnSpc>
                <a:spcPct val="125000"/>
              </a:lnSpc>
              <a:buNone/>
            </a:pPr>
            <a:r>
              <a:rPr lang="en-US" sz="1000" spc="110" kern="0" dirty="0">
                <a:solidFill>
                  <a:srgbClr val="68777D"/>
                </a:solidFill>
                <a:latin typeface="Consolas" pitchFamily="34" charset="0"/>
                <a:ea typeface="Consolas" pitchFamily="34" charset="-122"/>
                <a:cs typeface="Consolas" pitchFamily="34" charset="-120"/>
              </a:rPr>
              <a:t>ASK ZACH</a:t>
            </a:r>
            <a:endParaRPr lang="en-US" sz="1000" dirty="0"/>
          </a:p>
        </p:txBody>
      </p:sp>
      <p:sp>
        <p:nvSpPr>
          <p:cNvPr id="30" name="Text 28"/>
          <p:cNvSpPr/>
          <p:nvPr/>
        </p:nvSpPr>
        <p:spPr>
          <a:xfrm>
            <a:off x="8119872" y="4956048"/>
            <a:ext cx="3310128" cy="542544"/>
          </a:xfrm>
          <a:prstGeom prst="rect">
            <a:avLst/>
          </a:prstGeom>
          <a:noFill/>
          <a:ln/>
        </p:spPr>
        <p:txBody>
          <a:bodyPr wrap="square" lIns="0" tIns="0" rIns="0" bIns="0" rtlCol="0" anchor="t"/>
          <a:lstStyle/>
          <a:p>
            <a:pPr algn="l" indent="0" marL="0">
              <a:lnSpc>
                <a:spcPct val="115000"/>
              </a:lnSpc>
              <a:buNone/>
            </a:pPr>
            <a:r>
              <a:rPr lang="en-US" sz="1500" dirty="0">
                <a:solidFill>
                  <a:srgbClr val="12262E"/>
                </a:solidFill>
                <a:latin typeface="Georgia" pitchFamily="34" charset="0"/>
                <a:ea typeface="Georgia" pitchFamily="34" charset="-122"/>
                <a:cs typeface="Georgia" pitchFamily="34" charset="-120"/>
              </a:rPr>
              <a:t>Why three attempts, and waits of one second then two?</a:t>
            </a:r>
            <a:endParaRPr lang="en-US" sz="1500" dirty="0"/>
          </a:p>
        </p:txBody>
      </p:sp>
      <p:sp>
        <p:nvSpPr>
          <p:cNvPr id="31" name="Text 29"/>
          <p:cNvSpPr/>
          <p:nvPr/>
        </p:nvSpPr>
        <p:spPr>
          <a:xfrm>
            <a:off x="566928" y="5989320"/>
            <a:ext cx="11055096" cy="217424"/>
          </a:xfrm>
          <a:prstGeom prst="rect">
            <a:avLst/>
          </a:prstGeom>
          <a:noFill/>
          <a:ln/>
        </p:spPr>
        <p:txBody>
          <a:bodyPr wrap="square" lIns="0" tIns="0" rIns="0" bIns="0" rtlCol="0" anchor="t"/>
          <a:lstStyle/>
          <a:p>
            <a:pPr algn="l" indent="0" marL="0">
              <a:lnSpc>
                <a:spcPct val="125000"/>
              </a:lnSpc>
              <a:buNone/>
            </a:pPr>
            <a:r>
              <a:rPr lang="en-US" sz="1000" spc="110" kern="0" dirty="0">
                <a:solidFill>
                  <a:srgbClr val="68777D"/>
                </a:solidFill>
                <a:latin typeface="Consolas" pitchFamily="34" charset="0"/>
                <a:ea typeface="Consolas" pitchFamily="34" charset="-122"/>
                <a:cs typeface="Consolas" pitchFamily="34" charset="-120"/>
              </a:rPr>
              <a:t>ONE REPO, ONE GATE  ·  1014 TESTS  ·  100.00% OF 3404 STATEMENTS  ·  0 OPEN PULL REQUESTS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C24"/>
        </a:solidFill>
      </p:bgPr>
    </p:bg>
    <p:spTree>
      <p:nvGrpSpPr>
        <p:cNvPr id="1" name=""/>
        <p:cNvGrpSpPr/>
        <p:nvPr/>
      </p:nvGrpSpPr>
      <p:grpSpPr>
        <a:xfrm>
          <a:off x="0" y="0"/>
          <a:ext cx="0" cy="0"/>
          <a:chOff x="0" y="0"/>
          <a:chExt cx="0" cy="0"/>
        </a:xfrm>
      </p:grpSpPr>
      <p:sp>
        <p:nvSpPr>
          <p:cNvPr id="2" name="Text 0"/>
          <p:cNvSpPr/>
          <p:nvPr/>
        </p:nvSpPr>
        <p:spPr>
          <a:xfrm>
            <a:off x="822960" y="822960"/>
            <a:ext cx="5486400" cy="201168"/>
          </a:xfrm>
          <a:prstGeom prst="rect">
            <a:avLst/>
          </a:prstGeom>
          <a:noFill/>
          <a:ln/>
        </p:spPr>
        <p:txBody>
          <a:bodyPr wrap="square" lIns="0" tIns="0" rIns="0" bIns="0" rtlCol="0" anchor="t"/>
          <a:lstStyle/>
          <a:p>
            <a:pPr indent="0" marL="0">
              <a:lnSpc>
                <a:spcPct val="118000"/>
              </a:lnSpc>
              <a:buNone/>
            </a:pPr>
            <a:r>
              <a:rPr lang="en-US" sz="1050" spc="140" kern="0" dirty="0">
                <a:solidFill>
                  <a:srgbClr val="7FBDB4"/>
                </a:solidFill>
                <a:latin typeface="Consolas" pitchFamily="34" charset="0"/>
                <a:ea typeface="Consolas" pitchFamily="34" charset="-122"/>
                <a:cs typeface="Consolas" pitchFamily="34" charset="-120"/>
              </a:rPr>
              <a:t>THE ASK</a:t>
            </a:r>
            <a:endParaRPr lang="en-US" sz="1050" dirty="0"/>
          </a:p>
        </p:txBody>
      </p:sp>
      <p:sp>
        <p:nvSpPr>
          <p:cNvPr id="3" name="Text 1"/>
          <p:cNvSpPr/>
          <p:nvPr/>
        </p:nvSpPr>
        <p:spPr>
          <a:xfrm>
            <a:off x="822960" y="1280160"/>
            <a:ext cx="9326880" cy="969264"/>
          </a:xfrm>
          <a:prstGeom prst="rect">
            <a:avLst/>
          </a:prstGeom>
          <a:noFill/>
          <a:ln/>
        </p:spPr>
        <p:txBody>
          <a:bodyPr wrap="square" lIns="0" tIns="0" rIns="0" bIns="0" rtlCol="0" anchor="t"/>
          <a:lstStyle/>
          <a:p>
            <a:pPr indent="0" marL="0">
              <a:lnSpc>
                <a:spcPct val="98000"/>
              </a:lnSpc>
              <a:buNone/>
            </a:pPr>
            <a:r>
              <a:rPr lang="en-US" sz="5400" dirty="0">
                <a:solidFill>
                  <a:srgbClr val="F4EFE3"/>
                </a:solidFill>
                <a:latin typeface="Georgia" pitchFamily="34" charset="0"/>
                <a:ea typeface="Georgia" pitchFamily="34" charset="-122"/>
                <a:cs typeface="Georgia" pitchFamily="34" charset="-120"/>
              </a:rPr>
              <a:t>The gate is the product.</a:t>
            </a:r>
            <a:endParaRPr lang="en-US" sz="5400" dirty="0"/>
          </a:p>
        </p:txBody>
      </p:sp>
      <p:sp>
        <p:nvSpPr>
          <p:cNvPr id="4" name="Text 2"/>
          <p:cNvSpPr/>
          <p:nvPr/>
        </p:nvSpPr>
        <p:spPr>
          <a:xfrm>
            <a:off x="822960" y="2999232"/>
            <a:ext cx="457200" cy="217424"/>
          </a:xfrm>
          <a:prstGeom prst="rect">
            <a:avLst/>
          </a:prstGeom>
          <a:noFill/>
          <a:ln/>
        </p:spPr>
        <p:txBody>
          <a:bodyPr wrap="square" lIns="0" tIns="0" rIns="0" bIns="0" rtlCol="0" anchor="t"/>
          <a:lstStyle/>
          <a:p>
            <a:pPr algn="l" indent="0" marL="0">
              <a:lnSpc>
                <a:spcPct val="125000"/>
              </a:lnSpc>
              <a:buNone/>
            </a:pPr>
            <a:r>
              <a:rPr lang="en-US" sz="1000" dirty="0">
                <a:solidFill>
                  <a:srgbClr val="7FBDB4"/>
                </a:solidFill>
                <a:latin typeface="Consolas" pitchFamily="34" charset="0"/>
                <a:ea typeface="Consolas" pitchFamily="34" charset="-122"/>
                <a:cs typeface="Consolas" pitchFamily="34" charset="-120"/>
              </a:rPr>
              <a:t>01</a:t>
            </a:r>
            <a:endParaRPr lang="en-US" sz="1000" dirty="0"/>
          </a:p>
        </p:txBody>
      </p:sp>
      <p:sp>
        <p:nvSpPr>
          <p:cNvPr id="5" name="Text 3"/>
          <p:cNvSpPr/>
          <p:nvPr/>
        </p:nvSpPr>
        <p:spPr>
          <a:xfrm>
            <a:off x="1463040" y="2926080"/>
            <a:ext cx="7863840" cy="379984"/>
          </a:xfrm>
          <a:prstGeom prst="rect">
            <a:avLst/>
          </a:prstGeom>
          <a:noFill/>
          <a:ln/>
        </p:spPr>
        <p:txBody>
          <a:bodyPr wrap="square" lIns="0" tIns="0" rIns="0" bIns="0" rtlCol="0" anchor="t"/>
          <a:lstStyle/>
          <a:p>
            <a:pPr algn="l" indent="0" marL="0">
              <a:lnSpc>
                <a:spcPct val="110000"/>
              </a:lnSpc>
              <a:buNone/>
            </a:pPr>
            <a:r>
              <a:rPr lang="en-US" sz="2000" dirty="0">
                <a:solidFill>
                  <a:srgbClr val="F4EFE3"/>
                </a:solidFill>
                <a:latin typeface="Georgia" pitchFamily="34" charset="0"/>
                <a:ea typeface="Georgia" pitchFamily="34" charset="-122"/>
                <a:cs typeface="Georgia" pitchFamily="34" charset="-120"/>
              </a:rPr>
              <a:t>Approve the model route for two closed questions.</a:t>
            </a:r>
            <a:endParaRPr lang="en-US" sz="2000" dirty="0"/>
          </a:p>
        </p:txBody>
      </p:sp>
      <p:sp>
        <p:nvSpPr>
          <p:cNvPr id="6" name="Text 4"/>
          <p:cNvSpPr/>
          <p:nvPr/>
        </p:nvSpPr>
        <p:spPr>
          <a:xfrm>
            <a:off x="822960" y="3730752"/>
            <a:ext cx="457200" cy="217424"/>
          </a:xfrm>
          <a:prstGeom prst="rect">
            <a:avLst/>
          </a:prstGeom>
          <a:noFill/>
          <a:ln/>
        </p:spPr>
        <p:txBody>
          <a:bodyPr wrap="square" lIns="0" tIns="0" rIns="0" bIns="0" rtlCol="0" anchor="t"/>
          <a:lstStyle/>
          <a:p>
            <a:pPr algn="l" indent="0" marL="0">
              <a:lnSpc>
                <a:spcPct val="125000"/>
              </a:lnSpc>
              <a:buNone/>
            </a:pPr>
            <a:r>
              <a:rPr lang="en-US" sz="1000" dirty="0">
                <a:solidFill>
                  <a:srgbClr val="7FBDB4"/>
                </a:solidFill>
                <a:latin typeface="Consolas" pitchFamily="34" charset="0"/>
                <a:ea typeface="Consolas" pitchFamily="34" charset="-122"/>
                <a:cs typeface="Consolas" pitchFamily="34" charset="-120"/>
              </a:rPr>
              <a:t>02</a:t>
            </a:r>
            <a:endParaRPr lang="en-US" sz="1000" dirty="0"/>
          </a:p>
        </p:txBody>
      </p:sp>
      <p:sp>
        <p:nvSpPr>
          <p:cNvPr id="7" name="Text 5"/>
          <p:cNvSpPr/>
          <p:nvPr/>
        </p:nvSpPr>
        <p:spPr>
          <a:xfrm>
            <a:off x="1463040" y="3657600"/>
            <a:ext cx="7863840" cy="379984"/>
          </a:xfrm>
          <a:prstGeom prst="rect">
            <a:avLst/>
          </a:prstGeom>
          <a:noFill/>
          <a:ln/>
        </p:spPr>
        <p:txBody>
          <a:bodyPr wrap="square" lIns="0" tIns="0" rIns="0" bIns="0" rtlCol="0" anchor="t"/>
          <a:lstStyle/>
          <a:p>
            <a:pPr algn="l" indent="0" marL="0">
              <a:lnSpc>
                <a:spcPct val="110000"/>
              </a:lnSpc>
              <a:buNone/>
            </a:pPr>
            <a:r>
              <a:rPr lang="en-US" sz="2000" dirty="0">
                <a:solidFill>
                  <a:srgbClr val="F4EFE3"/>
                </a:solidFill>
                <a:latin typeface="Georgia" pitchFamily="34" charset="0"/>
                <a:ea typeface="Georgia" pitchFamily="34" charset="-122"/>
                <a:cs typeface="Georgia" pitchFamily="34" charset="-120"/>
              </a:rPr>
              <a:t>Name the next two complaint types.</a:t>
            </a:r>
            <a:endParaRPr lang="en-US" sz="2000" dirty="0"/>
          </a:p>
        </p:txBody>
      </p:sp>
      <p:sp>
        <p:nvSpPr>
          <p:cNvPr id="8" name="Text 6"/>
          <p:cNvSpPr/>
          <p:nvPr/>
        </p:nvSpPr>
        <p:spPr>
          <a:xfrm>
            <a:off x="822960" y="4462272"/>
            <a:ext cx="457200" cy="217424"/>
          </a:xfrm>
          <a:prstGeom prst="rect">
            <a:avLst/>
          </a:prstGeom>
          <a:noFill/>
          <a:ln/>
        </p:spPr>
        <p:txBody>
          <a:bodyPr wrap="square" lIns="0" tIns="0" rIns="0" bIns="0" rtlCol="0" anchor="t"/>
          <a:lstStyle/>
          <a:p>
            <a:pPr algn="l" indent="0" marL="0">
              <a:lnSpc>
                <a:spcPct val="125000"/>
              </a:lnSpc>
              <a:buNone/>
            </a:pPr>
            <a:r>
              <a:rPr lang="en-US" sz="1000" dirty="0">
                <a:solidFill>
                  <a:srgbClr val="7FBDB4"/>
                </a:solidFill>
                <a:latin typeface="Consolas" pitchFamily="34" charset="0"/>
                <a:ea typeface="Consolas" pitchFamily="34" charset="-122"/>
                <a:cs typeface="Consolas" pitchFamily="34" charset="-120"/>
              </a:rPr>
              <a:t>03</a:t>
            </a:r>
            <a:endParaRPr lang="en-US" sz="1000" dirty="0"/>
          </a:p>
        </p:txBody>
      </p:sp>
      <p:sp>
        <p:nvSpPr>
          <p:cNvPr id="9" name="Text 7"/>
          <p:cNvSpPr/>
          <p:nvPr/>
        </p:nvSpPr>
        <p:spPr>
          <a:xfrm>
            <a:off x="1463040" y="4389120"/>
            <a:ext cx="7863840" cy="379984"/>
          </a:xfrm>
          <a:prstGeom prst="rect">
            <a:avLst/>
          </a:prstGeom>
          <a:noFill/>
          <a:ln/>
        </p:spPr>
        <p:txBody>
          <a:bodyPr wrap="square" lIns="0" tIns="0" rIns="0" bIns="0" rtlCol="0" anchor="t"/>
          <a:lstStyle/>
          <a:p>
            <a:pPr algn="l" indent="0" marL="0">
              <a:lnSpc>
                <a:spcPct val="110000"/>
              </a:lnSpc>
              <a:buNone/>
            </a:pPr>
            <a:r>
              <a:rPr lang="en-US" sz="2000" dirty="0">
                <a:solidFill>
                  <a:srgbClr val="F4EFE3"/>
                </a:solidFill>
                <a:latin typeface="Georgia" pitchFamily="34" charset="0"/>
                <a:ea typeface="Georgia" pitchFamily="34" charset="-122"/>
                <a:cs typeface="Georgia" pitchFamily="34" charset="-120"/>
              </a:rPr>
              <a:t>Two analysts for a 30 day intake pilot.</a:t>
            </a:r>
            <a:endParaRPr lang="en-US" sz="2000" dirty="0"/>
          </a:p>
        </p:txBody>
      </p:sp>
      <p:sp>
        <p:nvSpPr>
          <p:cNvPr id="10" name="Text 8"/>
          <p:cNvSpPr/>
          <p:nvPr/>
        </p:nvSpPr>
        <p:spPr>
          <a:xfrm>
            <a:off x="2715768" y="4754880"/>
            <a:ext cx="8595360" cy="249936"/>
          </a:xfrm>
          <a:prstGeom prst="rect">
            <a:avLst/>
          </a:prstGeom>
          <a:noFill/>
          <a:ln/>
        </p:spPr>
        <p:txBody>
          <a:bodyPr wrap="square" lIns="0" tIns="0" rIns="0" bIns="0" rtlCol="0" anchor="t"/>
          <a:lstStyle/>
          <a:p>
            <a:pPr algn="l" indent="0" marL="0">
              <a:lnSpc>
                <a:spcPct val="120000"/>
              </a:lnSpc>
              <a:buNone/>
            </a:pPr>
            <a:r>
              <a:rPr lang="en-US" sz="1200" dirty="0">
                <a:solidFill>
                  <a:srgbClr val="7FBDB4"/>
                </a:solidFill>
                <a:latin typeface="Segoe UI" pitchFamily="34" charset="0"/>
                <a:ea typeface="Segoe UI" pitchFamily="34" charset="-122"/>
                <a:cs typeface="Segoe UI" pitchFamily="34" charset="-120"/>
              </a:rPr>
              <a:t>Analyst minutes are not measured, so none are claimed. The pilot's first output is that number.</a:t>
            </a:r>
            <a:endParaRPr lang="en-US" sz="1200" dirty="0"/>
          </a:p>
        </p:txBody>
      </p:sp>
      <p:sp>
        <p:nvSpPr>
          <p:cNvPr id="11" name="Shape 9"/>
          <p:cNvSpPr/>
          <p:nvPr/>
        </p:nvSpPr>
        <p:spPr>
          <a:xfrm>
            <a:off x="822960" y="5440680"/>
            <a:ext cx="3840480" cy="0"/>
          </a:xfrm>
          <a:prstGeom prst="line">
            <a:avLst/>
          </a:prstGeom>
          <a:noFill/>
          <a:ln w="12700">
            <a:solidFill>
              <a:srgbClr val="1E3A44"/>
            </a:solidFill>
            <a:prstDash val="solid"/>
          </a:ln>
        </p:spPr>
      </p:sp>
      <p:sp>
        <p:nvSpPr>
          <p:cNvPr id="12" name="Text 10"/>
          <p:cNvSpPr/>
          <p:nvPr/>
        </p:nvSpPr>
        <p:spPr>
          <a:xfrm>
            <a:off x="822960" y="5596128"/>
            <a:ext cx="694944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9DB0B4"/>
                </a:solidFill>
                <a:latin typeface="Consolas" pitchFamily="34" charset="0"/>
                <a:ea typeface="Consolas" pitchFamily="34" charset="-122"/>
                <a:cs typeface="Consolas" pitchFamily="34" charset="-120"/>
              </a:rPr>
              <a:t>THANK YOU. QUESTIONS, INCLUDING THE HARD ONES.</a:t>
            </a:r>
            <a:endParaRPr lang="en-US" sz="1000" dirty="0"/>
          </a:p>
        </p:txBody>
      </p:sp>
      <p:pic>
        <p:nvPicPr>
          <p:cNvPr id="13" name="Image 0" descr="D:\20-projects\credit-card-dispute\.worktrees\review-91\docs\deck\assets\motif_alpha.png">    </p:cNvPr>
          <p:cNvPicPr>
            <a:picLocks noChangeAspect="1"/>
          </p:cNvPicPr>
          <p:nvPr/>
        </p:nvPicPr>
        <p:blipFill>
          <a:blip r:embed="rId1"/>
          <a:stretch>
            <a:fillRect/>
          </a:stretch>
        </p:blipFill>
        <p:spPr>
          <a:xfrm>
            <a:off x="9692640" y="3931920"/>
            <a:ext cx="2011680" cy="2011680"/>
          </a:xfrm>
          <a:prstGeom prst="rect">
            <a:avLst/>
          </a:prstGeom>
        </p:spPr>
      </p:pic>
      <p:sp>
        <p:nvSpPr>
          <p:cNvPr id="14" name="Text 11"/>
          <p:cNvSpPr/>
          <p:nvPr/>
        </p:nvSpPr>
        <p:spPr>
          <a:xfrm>
            <a:off x="10058400" y="6309360"/>
            <a:ext cx="1563624" cy="217424"/>
          </a:xfrm>
          <a:prstGeom prst="rect">
            <a:avLst/>
          </a:prstGeom>
          <a:noFill/>
          <a:ln/>
        </p:spPr>
        <p:txBody>
          <a:bodyPr wrap="square" lIns="0" tIns="0" rIns="0" bIns="0" rtlCol="0" anchor="t"/>
          <a:lstStyle/>
          <a:p>
            <a:pPr algn="r" indent="0" marL="0">
              <a:lnSpc>
                <a:spcPct val="125000"/>
              </a:lnSpc>
              <a:buNone/>
            </a:pPr>
            <a:r>
              <a:rPr lang="en-US" sz="1000" dirty="0">
                <a:solidFill>
                  <a:srgbClr val="6E8388"/>
                </a:solidFill>
                <a:latin typeface="Consolas" pitchFamily="34" charset="0"/>
                <a:ea typeface="Consolas" pitchFamily="34" charset="-122"/>
                <a:cs typeface="Consolas" pitchFamily="34" charset="-120"/>
              </a:rPr>
              <a:t>[ 13 / 16 ]</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566928" y="566928"/>
            <a:ext cx="11057839" cy="0"/>
          </a:xfrm>
          <a:prstGeom prst="line">
            <a:avLst/>
          </a:prstGeom>
          <a:noFill/>
          <a:ln w="12700">
            <a:solidFill>
              <a:srgbClr val="D3CDC0"/>
            </a:solidFill>
            <a:prstDash val="solid"/>
          </a:ln>
        </p:spPr>
      </p:sp>
      <p:sp>
        <p:nvSpPr>
          <p:cNvPr id="3" name="Text 1"/>
          <p:cNvSpPr/>
          <p:nvPr/>
        </p:nvSpPr>
        <p:spPr>
          <a:xfrm>
            <a:off x="566928" y="347472"/>
            <a:ext cx="5486400" cy="201168"/>
          </a:xfrm>
          <a:prstGeom prst="rect">
            <a:avLst/>
          </a:prstGeom>
          <a:noFill/>
          <a:ln/>
        </p:spPr>
        <p:txBody>
          <a:bodyPr wrap="square" lIns="0" tIns="0" rIns="0" bIns="0" rtlCol="0" anchor="ctr"/>
          <a:lstStyle/>
          <a:p>
            <a:pPr indent="0" marL="0">
              <a:lnSpc>
                <a:spcPct val="118000"/>
              </a:lnSpc>
              <a:buNone/>
            </a:pPr>
            <a:r>
              <a:rPr lang="en-US" sz="1000" spc="120" kern="0" dirty="0">
                <a:solidFill>
                  <a:srgbClr val="0D6F6A"/>
                </a:solidFill>
                <a:latin typeface="Consolas" pitchFamily="34" charset="0"/>
                <a:ea typeface="Consolas" pitchFamily="34" charset="-122"/>
                <a:cs typeface="Consolas" pitchFamily="34" charset="-120"/>
              </a:rPr>
              <a:t>APPENDIX A1 · THE CONTRACT</a:t>
            </a:r>
            <a:endParaRPr lang="en-US" sz="1000" dirty="0"/>
          </a:p>
        </p:txBody>
      </p:sp>
      <p:sp>
        <p:nvSpPr>
          <p:cNvPr id="4" name="Text 2"/>
          <p:cNvSpPr/>
          <p:nvPr/>
        </p:nvSpPr>
        <p:spPr>
          <a:xfrm>
            <a:off x="7052767" y="347472"/>
            <a:ext cx="4572000" cy="201168"/>
          </a:xfrm>
          <a:prstGeom prst="rect">
            <a:avLst/>
          </a:prstGeom>
          <a:noFill/>
          <a:ln/>
        </p:spPr>
        <p:txBody>
          <a:bodyPr wrap="square" lIns="0" tIns="0" rIns="0" bIns="0" rtlCol="0" anchor="ctr"/>
          <a:lstStyle/>
          <a:p>
            <a:pPr algn="r" indent="0" marL="0">
              <a:lnSpc>
                <a:spcPct val="118000"/>
              </a:lnSpc>
              <a:buNone/>
            </a:pPr>
            <a:r>
              <a:rPr lang="en-US" sz="1000" spc="120" kern="0" dirty="0">
                <a:solidFill>
                  <a:srgbClr val="68777D"/>
                </a:solidFill>
                <a:latin typeface="Consolas" pitchFamily="34" charset="0"/>
                <a:ea typeface="Consolas" pitchFamily="34" charset="-122"/>
                <a:cs typeface="Consolas" pitchFamily="34" charset="-120"/>
              </a:rPr>
              <a:t>LUMEN BANK · DISPUTE COPILOT</a:t>
            </a:r>
            <a:endParaRPr lang="en-US" sz="1000" dirty="0"/>
          </a:p>
        </p:txBody>
      </p:sp>
      <p:sp>
        <p:nvSpPr>
          <p:cNvPr id="5" name="Shape 3"/>
          <p:cNvSpPr/>
          <p:nvPr/>
        </p:nvSpPr>
        <p:spPr>
          <a:xfrm>
            <a:off x="566928" y="6382512"/>
            <a:ext cx="11057839" cy="0"/>
          </a:xfrm>
          <a:prstGeom prst="line">
            <a:avLst/>
          </a:prstGeom>
          <a:noFill/>
          <a:ln w="9525">
            <a:solidFill>
              <a:srgbClr val="E2DDD2"/>
            </a:solidFill>
            <a:prstDash val="solid"/>
          </a:ln>
        </p:spPr>
      </p:sp>
      <p:sp>
        <p:nvSpPr>
          <p:cNvPr id="6" name="Text 4"/>
          <p:cNvSpPr/>
          <p:nvPr/>
        </p:nvSpPr>
        <p:spPr>
          <a:xfrm>
            <a:off x="566928" y="6473952"/>
            <a:ext cx="5486400" cy="219456"/>
          </a:xfrm>
          <a:prstGeom prst="rect">
            <a:avLst/>
          </a:prstGeom>
          <a:noFill/>
          <a:ln/>
        </p:spPr>
        <p:txBody>
          <a:bodyPr wrap="square" lIns="0" tIns="0" rIns="0" bIns="0" rtlCol="0" anchor="t"/>
          <a:lstStyle/>
          <a:p>
            <a:pPr indent="0" marL="0">
              <a:lnSpc>
                <a:spcPct val="118000"/>
              </a:lnSpc>
              <a:buNone/>
            </a:pPr>
            <a:r>
              <a:rPr lang="en-US" sz="1000" dirty="0">
                <a:solidFill>
                  <a:srgbClr val="68777D"/>
                </a:solidFill>
                <a:latin typeface="Consolas" pitchFamily="34" charset="0"/>
                <a:ea typeface="Consolas" pitchFamily="34" charset="-122"/>
                <a:cs typeface="Consolas" pitchFamily="34" charset="-120"/>
              </a:rPr>
              <a:t>Final demo and technical defense · 29 October 2026</a:t>
            </a:r>
            <a:endParaRPr lang="en-US" sz="1000" dirty="0"/>
          </a:p>
        </p:txBody>
      </p:sp>
      <p:sp>
        <p:nvSpPr>
          <p:cNvPr id="7" name="Text 5"/>
          <p:cNvSpPr/>
          <p:nvPr/>
        </p:nvSpPr>
        <p:spPr>
          <a:xfrm>
            <a:off x="9338767" y="6473952"/>
            <a:ext cx="2286000" cy="219456"/>
          </a:xfrm>
          <a:prstGeom prst="rect">
            <a:avLst/>
          </a:prstGeom>
          <a:noFill/>
          <a:ln/>
        </p:spPr>
        <p:txBody>
          <a:bodyPr wrap="square" lIns="0" tIns="0" rIns="0" bIns="0" rtlCol="0" anchor="t"/>
          <a:lstStyle/>
          <a:p>
            <a:pPr algn="r" indent="0" marL="0">
              <a:lnSpc>
                <a:spcPct val="118000"/>
              </a:lnSpc>
              <a:buNone/>
            </a:pPr>
            <a:r>
              <a:rPr lang="en-US" sz="1000" dirty="0">
                <a:solidFill>
                  <a:srgbClr val="68777D"/>
                </a:solidFill>
                <a:latin typeface="Consolas" pitchFamily="34" charset="0"/>
                <a:ea typeface="Consolas" pitchFamily="34" charset="-122"/>
                <a:cs typeface="Consolas" pitchFamily="34" charset="-120"/>
              </a:rPr>
              <a:t>[ 14 / 16 ]</a:t>
            </a:r>
            <a:endParaRPr lang="en-US" sz="1000" dirty="0"/>
          </a:p>
        </p:txBody>
      </p:sp>
      <p:sp>
        <p:nvSpPr>
          <p:cNvPr id="8" name="Text 6"/>
          <p:cNvSpPr/>
          <p:nvPr/>
        </p:nvSpPr>
        <p:spPr>
          <a:xfrm>
            <a:off x="566928" y="1005840"/>
            <a:ext cx="10058400" cy="640080"/>
          </a:xfrm>
          <a:prstGeom prst="rect">
            <a:avLst/>
          </a:prstGeom>
          <a:noFill/>
          <a:ln/>
        </p:spPr>
        <p:txBody>
          <a:bodyPr wrap="square" lIns="0" tIns="0" rIns="0" bIns="0" rtlCol="0" anchor="t"/>
          <a:lstStyle/>
          <a:p>
            <a:pPr indent="0" marL="0">
              <a:lnSpc>
                <a:spcPct val="98000"/>
              </a:lnSpc>
              <a:buNone/>
            </a:pPr>
            <a:r>
              <a:rPr lang="en-US" sz="3400" dirty="0">
                <a:solidFill>
                  <a:srgbClr val="12262E"/>
                </a:solidFill>
                <a:latin typeface="Georgia" pitchFamily="34" charset="0"/>
                <a:ea typeface="Georgia" pitchFamily="34" charset="-122"/>
                <a:cs typeface="Georgia" pitchFamily="34" charset="-120"/>
              </a:rPr>
              <a:t>One contract, field by field.</a:t>
            </a:r>
            <a:endParaRPr lang="en-US" sz="3400" dirty="0"/>
          </a:p>
        </p:txBody>
      </p:sp>
      <p:sp>
        <p:nvSpPr>
          <p:cNvPr id="9" name="Text 7"/>
          <p:cNvSpPr/>
          <p:nvPr/>
        </p:nvSpPr>
        <p:spPr>
          <a:xfrm>
            <a:off x="566928" y="1719072"/>
            <a:ext cx="10607040" cy="298704"/>
          </a:xfrm>
          <a:prstGeom prst="rect">
            <a:avLst/>
          </a:prstGeom>
          <a:noFill/>
          <a:ln/>
        </p:spPr>
        <p:txBody>
          <a:bodyPr wrap="square" lIns="0" tIns="0" rIns="0" bIns="0" rtlCol="0" anchor="t"/>
          <a:lstStyle/>
          <a:p>
            <a:pPr algn="l" indent="0" marL="0">
              <a:lnSpc>
                <a:spcPct val="122000"/>
              </a:lnSpc>
              <a:buNone/>
            </a:pPr>
            <a:r>
              <a:rPr lang="en-US" sz="1500" dirty="0">
                <a:solidFill>
                  <a:srgbClr val="12262E"/>
                </a:solidFill>
                <a:latin typeface="Segoe UI" pitchFamily="34" charset="0"/>
                <a:ea typeface="Segoe UI" pitchFamily="34" charset="-122"/>
                <a:cs typeface="Segoe UI" pitchFamily="34" charset="-120"/>
              </a:rPr>
              <a:t>The shape of the object. Citations, missing_information and follow_up_questions are abbreviated.</a:t>
            </a:r>
            <a:endParaRPr lang="en-US" sz="1500" dirty="0"/>
          </a:p>
        </p:txBody>
      </p:sp>
      <p:sp>
        <p:nvSpPr>
          <p:cNvPr id="10" name="Shape 8"/>
          <p:cNvSpPr/>
          <p:nvPr/>
        </p:nvSpPr>
        <p:spPr>
          <a:xfrm>
            <a:off x="566928" y="2148840"/>
            <a:ext cx="7315200" cy="3566160"/>
          </a:xfrm>
          <a:prstGeom prst="rect">
            <a:avLst/>
          </a:prstGeom>
          <a:solidFill>
            <a:srgbClr val="FFFFFF"/>
          </a:solidFill>
          <a:ln w="9525">
            <a:solidFill>
              <a:srgbClr val="E2DDD2"/>
            </a:solidFill>
            <a:prstDash val="solid"/>
          </a:ln>
        </p:spPr>
      </p:sp>
      <p:sp>
        <p:nvSpPr>
          <p:cNvPr id="11" name="Shape 9"/>
          <p:cNvSpPr/>
          <p:nvPr/>
        </p:nvSpPr>
        <p:spPr>
          <a:xfrm>
            <a:off x="5623560" y="2212848"/>
            <a:ext cx="2212848" cy="237744"/>
          </a:xfrm>
          <a:prstGeom prst="roundRect">
            <a:avLst>
              <a:gd name="adj" fmla="val 11538"/>
            </a:avLst>
          </a:prstGeom>
          <a:solidFill>
            <a:srgbClr val="F3EFE6"/>
          </a:solidFill>
          <a:ln w="9525">
            <a:solidFill>
              <a:srgbClr val="D3CDC0"/>
            </a:solidFill>
            <a:prstDash val="solid"/>
          </a:ln>
        </p:spPr>
      </p:sp>
      <p:sp>
        <p:nvSpPr>
          <p:cNvPr id="12" name="Text 10"/>
          <p:cNvSpPr/>
          <p:nvPr/>
        </p:nvSpPr>
        <p:spPr>
          <a:xfrm>
            <a:off x="5623560" y="2212848"/>
            <a:ext cx="2212848" cy="237744"/>
          </a:xfrm>
          <a:prstGeom prst="rect">
            <a:avLst/>
          </a:prstGeom>
          <a:noFill/>
          <a:ln/>
        </p:spPr>
        <p:txBody>
          <a:bodyPr wrap="square" lIns="0" tIns="0" rIns="0" bIns="0" rtlCol="0" anchor="ctr"/>
          <a:lstStyle/>
          <a:p>
            <a:pPr algn="ctr" indent="0" marL="0">
              <a:lnSpc>
                <a:spcPct val="118000"/>
              </a:lnSpc>
              <a:buNone/>
            </a:pPr>
            <a:r>
              <a:rPr lang="en-US" sz="1000" spc="80" kern="0" dirty="0">
                <a:solidFill>
                  <a:srgbClr val="2B454F"/>
                </a:solidFill>
                <a:latin typeface="Consolas" pitchFamily="34" charset="0"/>
                <a:ea typeface="Consolas" pitchFamily="34" charset="-122"/>
                <a:cs typeface="Consolas" pitchFamily="34" charset="-120"/>
              </a:rPr>
              <a:t>PSEUDO-JSON · SHAPE ONLY</a:t>
            </a:r>
            <a:endParaRPr lang="en-US" sz="1000" dirty="0"/>
          </a:p>
        </p:txBody>
      </p:sp>
      <p:sp>
        <p:nvSpPr>
          <p:cNvPr id="13" name="Text 11"/>
          <p:cNvSpPr/>
          <p:nvPr/>
        </p:nvSpPr>
        <p:spPr>
          <a:xfrm>
            <a:off x="868680" y="2487168"/>
            <a:ext cx="6675120" cy="237744"/>
          </a:xfrm>
          <a:prstGeom prst="rect">
            <a:avLst/>
          </a:prstGeom>
          <a:noFill/>
          <a:ln/>
        </p:spPr>
        <p:txBody>
          <a:bodyPr wrap="square" lIns="0" tIns="0" rIns="0" bIns="0" rtlCol="0" anchor="t"/>
          <a:lstStyle/>
          <a:p>
            <a:pPr indent="0" marL="0">
              <a:lnSpc>
                <a:spcPct val="118000"/>
              </a:lnSpc>
              <a:buNone/>
            </a:pPr>
            <a:r>
              <a:rPr lang="en-US" sz="1100" dirty="0">
                <a:solidFill>
                  <a:srgbClr val="2B454F"/>
                </a:solidFill>
                <a:latin typeface="Consolas" pitchFamily="34" charset="0"/>
                <a:ea typeface="Consolas" pitchFamily="34" charset="-122"/>
                <a:cs typeface="Consolas" pitchFamily="34" charset="-120"/>
              </a:rPr>
              <a:t>{</a:t>
            </a:r>
            <a:endParaRPr lang="en-US" sz="1100" dirty="0"/>
          </a:p>
        </p:txBody>
      </p:sp>
      <p:sp>
        <p:nvSpPr>
          <p:cNvPr id="14" name="Text 12"/>
          <p:cNvSpPr/>
          <p:nvPr/>
        </p:nvSpPr>
        <p:spPr>
          <a:xfrm>
            <a:off x="868680" y="2770632"/>
            <a:ext cx="6675120" cy="237744"/>
          </a:xfrm>
          <a:prstGeom prst="rect">
            <a:avLst/>
          </a:prstGeom>
          <a:noFill/>
          <a:ln/>
        </p:spPr>
        <p:txBody>
          <a:bodyPr wrap="square" lIns="0" tIns="0" rIns="0" bIns="0" rtlCol="0" anchor="t"/>
          <a:lstStyle/>
          <a:p>
            <a:pPr indent="0" marL="0">
              <a:lnSpc>
                <a:spcPct val="118000"/>
              </a:lnSpc>
              <a:buNone/>
            </a:pPr>
            <a:r>
              <a:rPr lang="en-US" sz="1100" dirty="0">
                <a:solidFill>
                  <a:srgbClr val="2B454F"/>
                </a:solidFill>
                <a:latin typeface="Consolas" pitchFamily="34" charset="0"/>
                <a:ea typeface="Consolas" pitchFamily="34" charset="-122"/>
                <a:cs typeface="Consolas" pitchFamily="34" charset="-120"/>
              </a:rPr>
              <a:t>  "case_id": "CARD-D01",</a:t>
            </a:r>
            <a:endParaRPr lang="en-US" sz="1100" dirty="0"/>
          </a:p>
        </p:txBody>
      </p:sp>
      <p:sp>
        <p:nvSpPr>
          <p:cNvPr id="15" name="Text 13"/>
          <p:cNvSpPr/>
          <p:nvPr/>
        </p:nvSpPr>
        <p:spPr>
          <a:xfrm>
            <a:off x="868680" y="3054096"/>
            <a:ext cx="6675120" cy="237744"/>
          </a:xfrm>
          <a:prstGeom prst="rect">
            <a:avLst/>
          </a:prstGeom>
          <a:noFill/>
          <a:ln/>
        </p:spPr>
        <p:txBody>
          <a:bodyPr wrap="square" lIns="0" tIns="0" rIns="0" bIns="0" rtlCol="0" anchor="t"/>
          <a:lstStyle/>
          <a:p>
            <a:pPr indent="0" marL="0">
              <a:lnSpc>
                <a:spcPct val="118000"/>
              </a:lnSpc>
              <a:buNone/>
            </a:pPr>
            <a:r>
              <a:rPr lang="en-US" sz="1100" dirty="0">
                <a:solidFill>
                  <a:srgbClr val="2B454F"/>
                </a:solidFill>
                <a:latin typeface="Consolas" pitchFamily="34" charset="0"/>
                <a:ea typeface="Consolas" pitchFamily="34" charset="-122"/>
                <a:cs typeface="Consolas" pitchFamily="34" charset="-120"/>
              </a:rPr>
              <a:t>  "classification": "unauthorized",</a:t>
            </a:r>
            <a:endParaRPr lang="en-US" sz="1100" dirty="0"/>
          </a:p>
        </p:txBody>
      </p:sp>
      <p:sp>
        <p:nvSpPr>
          <p:cNvPr id="16" name="Text 14"/>
          <p:cNvSpPr/>
          <p:nvPr/>
        </p:nvSpPr>
        <p:spPr>
          <a:xfrm>
            <a:off x="868680" y="3337560"/>
            <a:ext cx="6675120" cy="237744"/>
          </a:xfrm>
          <a:prstGeom prst="rect">
            <a:avLst/>
          </a:prstGeom>
          <a:noFill/>
          <a:ln/>
        </p:spPr>
        <p:txBody>
          <a:bodyPr wrap="square" lIns="0" tIns="0" rIns="0" bIns="0" rtlCol="0" anchor="t"/>
          <a:lstStyle/>
          <a:p>
            <a:pPr indent="0" marL="0">
              <a:lnSpc>
                <a:spcPct val="118000"/>
              </a:lnSpc>
              <a:buNone/>
            </a:pPr>
            <a:r>
              <a:rPr lang="en-US" sz="1100" dirty="0">
                <a:solidFill>
                  <a:srgbClr val="2B454F"/>
                </a:solidFill>
                <a:latin typeface="Consolas" pitchFamily="34" charset="0"/>
                <a:ea typeface="Consolas" pitchFamily="34" charset="-122"/>
                <a:cs typeface="Consolas" pitchFamily="34" charset="-120"/>
              </a:rPr>
              <a:t>  "routing": "ready_for_review",</a:t>
            </a:r>
            <a:endParaRPr lang="en-US" sz="1100" dirty="0"/>
          </a:p>
        </p:txBody>
      </p:sp>
      <p:sp>
        <p:nvSpPr>
          <p:cNvPr id="17" name="Text 15"/>
          <p:cNvSpPr/>
          <p:nvPr/>
        </p:nvSpPr>
        <p:spPr>
          <a:xfrm>
            <a:off x="868680" y="3621024"/>
            <a:ext cx="6675120" cy="237744"/>
          </a:xfrm>
          <a:prstGeom prst="rect">
            <a:avLst/>
          </a:prstGeom>
          <a:noFill/>
          <a:ln/>
        </p:spPr>
        <p:txBody>
          <a:bodyPr wrap="square" lIns="0" tIns="0" rIns="0" bIns="0" rtlCol="0" anchor="t"/>
          <a:lstStyle/>
          <a:p>
            <a:pPr indent="0" marL="0">
              <a:lnSpc>
                <a:spcPct val="118000"/>
              </a:lnSpc>
              <a:buNone/>
            </a:pPr>
            <a:r>
              <a:rPr lang="en-US" sz="1100" dirty="0">
                <a:solidFill>
                  <a:srgbClr val="2B454F"/>
                </a:solidFill>
                <a:latin typeface="Consolas" pitchFamily="34" charset="0"/>
                <a:ea typeface="Consolas" pitchFamily="34" charset="-122"/>
                <a:cs typeface="Consolas" pitchFamily="34" charset="-120"/>
              </a:rPr>
              <a:t>  "policy_ids": ["CARD-POLICY-V2", "CARD-PROCEDURE-01"],</a:t>
            </a:r>
            <a:endParaRPr lang="en-US" sz="1100" dirty="0"/>
          </a:p>
        </p:txBody>
      </p:sp>
      <p:sp>
        <p:nvSpPr>
          <p:cNvPr id="18" name="Text 16"/>
          <p:cNvSpPr/>
          <p:nvPr/>
        </p:nvSpPr>
        <p:spPr>
          <a:xfrm>
            <a:off x="868680" y="3904488"/>
            <a:ext cx="6675120" cy="237744"/>
          </a:xfrm>
          <a:prstGeom prst="rect">
            <a:avLst/>
          </a:prstGeom>
          <a:noFill/>
          <a:ln/>
        </p:spPr>
        <p:txBody>
          <a:bodyPr wrap="square" lIns="0" tIns="0" rIns="0" bIns="0" rtlCol="0" anchor="t"/>
          <a:lstStyle/>
          <a:p>
            <a:pPr indent="0" marL="0">
              <a:lnSpc>
                <a:spcPct val="118000"/>
              </a:lnSpc>
              <a:buNone/>
            </a:pPr>
            <a:r>
              <a:rPr lang="en-US" sz="1100" dirty="0">
                <a:solidFill>
                  <a:srgbClr val="2B454F"/>
                </a:solidFill>
                <a:latin typeface="Consolas" pitchFamily="34" charset="0"/>
                <a:ea typeface="Consolas" pitchFamily="34" charset="-122"/>
                <a:cs typeface="Consolas" pitchFamily="34" charset="-120"/>
              </a:rPr>
              <a:t>  "facts": { "transaction_id": "TX-D01", "amount": 117,</a:t>
            </a:r>
            <a:endParaRPr lang="en-US" sz="1100" dirty="0"/>
          </a:p>
        </p:txBody>
      </p:sp>
      <p:sp>
        <p:nvSpPr>
          <p:cNvPr id="19" name="Text 17"/>
          <p:cNvSpPr/>
          <p:nvPr/>
        </p:nvSpPr>
        <p:spPr>
          <a:xfrm>
            <a:off x="868680" y="4187952"/>
            <a:ext cx="6675120" cy="237744"/>
          </a:xfrm>
          <a:prstGeom prst="rect">
            <a:avLst/>
          </a:prstGeom>
          <a:noFill/>
          <a:ln/>
        </p:spPr>
        <p:txBody>
          <a:bodyPr wrap="square" lIns="0" tIns="0" rIns="0" bIns="0" rtlCol="0" anchor="t"/>
          <a:lstStyle/>
          <a:p>
            <a:pPr indent="0" marL="0">
              <a:lnSpc>
                <a:spcPct val="118000"/>
              </a:lnSpc>
              <a:buNone/>
            </a:pPr>
            <a:r>
              <a:rPr lang="en-US" sz="1100" dirty="0">
                <a:solidFill>
                  <a:srgbClr val="12262E"/>
                </a:solidFill>
                <a:latin typeface="Consolas" pitchFamily="34" charset="0"/>
                <a:ea typeface="Consolas" pitchFamily="34" charset="-122"/>
                <a:cs typeface="Consolas" pitchFamily="34" charset="-120"/>
              </a:rPr>
              <a:t>             "currency": "XCR", "reported_date": "2026-10-01" },</a:t>
            </a:r>
            <a:endParaRPr lang="en-US" sz="1100" dirty="0"/>
          </a:p>
        </p:txBody>
      </p:sp>
      <p:sp>
        <p:nvSpPr>
          <p:cNvPr id="20" name="Text 18"/>
          <p:cNvSpPr/>
          <p:nvPr/>
        </p:nvSpPr>
        <p:spPr>
          <a:xfrm>
            <a:off x="868680" y="4471416"/>
            <a:ext cx="6675120" cy="237744"/>
          </a:xfrm>
          <a:prstGeom prst="rect">
            <a:avLst/>
          </a:prstGeom>
          <a:noFill/>
          <a:ln/>
        </p:spPr>
        <p:txBody>
          <a:bodyPr wrap="square" lIns="0" tIns="0" rIns="0" bIns="0" rtlCol="0" anchor="t"/>
          <a:lstStyle/>
          <a:p>
            <a:pPr indent="0" marL="0">
              <a:lnSpc>
                <a:spcPct val="118000"/>
              </a:lnSpc>
              <a:buNone/>
            </a:pPr>
            <a:r>
              <a:rPr lang="en-US" sz="1100" dirty="0">
                <a:solidFill>
                  <a:srgbClr val="2B454F"/>
                </a:solidFill>
                <a:latin typeface="Consolas" pitchFamily="34" charset="0"/>
                <a:ea typeface="Consolas" pitchFamily="34" charset="-122"/>
                <a:cs typeface="Consolas" pitchFamily="34" charset="-120"/>
              </a:rPr>
              <a:t>  "deadline": "2026-10-31",</a:t>
            </a:r>
            <a:endParaRPr lang="en-US" sz="1100" dirty="0"/>
          </a:p>
        </p:txBody>
      </p:sp>
      <p:sp>
        <p:nvSpPr>
          <p:cNvPr id="21" name="Text 19"/>
          <p:cNvSpPr/>
          <p:nvPr/>
        </p:nvSpPr>
        <p:spPr>
          <a:xfrm>
            <a:off x="868680" y="4754880"/>
            <a:ext cx="6675120" cy="237744"/>
          </a:xfrm>
          <a:prstGeom prst="rect">
            <a:avLst/>
          </a:prstGeom>
          <a:noFill/>
          <a:ln/>
        </p:spPr>
        <p:txBody>
          <a:bodyPr wrap="square" lIns="0" tIns="0" rIns="0" bIns="0" rtlCol="0" anchor="t"/>
          <a:lstStyle/>
          <a:p>
            <a:pPr indent="0" marL="0">
              <a:lnSpc>
                <a:spcPct val="118000"/>
              </a:lnSpc>
              <a:buNone/>
            </a:pPr>
            <a:r>
              <a:rPr lang="en-US" sz="1100" dirty="0">
                <a:solidFill>
                  <a:srgbClr val="2B454F"/>
                </a:solidFill>
                <a:latin typeface="Consolas" pitchFamily="34" charset="0"/>
                <a:ea typeface="Consolas" pitchFamily="34" charset="-122"/>
                <a:cs typeface="Consolas" pitchFamily="34" charset="-120"/>
              </a:rPr>
              <a:t>  "citations": [ 6 claims, 5 source ids ],</a:t>
            </a:r>
            <a:endParaRPr lang="en-US" sz="1100" dirty="0"/>
          </a:p>
        </p:txBody>
      </p:sp>
      <p:sp>
        <p:nvSpPr>
          <p:cNvPr id="22" name="Text 20"/>
          <p:cNvSpPr/>
          <p:nvPr/>
        </p:nvSpPr>
        <p:spPr>
          <a:xfrm>
            <a:off x="868680" y="5038344"/>
            <a:ext cx="6675120" cy="237744"/>
          </a:xfrm>
          <a:prstGeom prst="rect">
            <a:avLst/>
          </a:prstGeom>
          <a:noFill/>
          <a:ln/>
        </p:spPr>
        <p:txBody>
          <a:bodyPr wrap="square" lIns="0" tIns="0" rIns="0" bIns="0" rtlCol="0" anchor="t"/>
          <a:lstStyle/>
          <a:p>
            <a:pPr indent="0" marL="0">
              <a:lnSpc>
                <a:spcPct val="118000"/>
              </a:lnSpc>
              <a:buNone/>
            </a:pPr>
            <a:r>
              <a:rPr lang="en-US" sz="1100" dirty="0">
                <a:solidFill>
                  <a:srgbClr val="2B454F"/>
                </a:solidFill>
                <a:latin typeface="Consolas" pitchFamily="34" charset="0"/>
                <a:ea typeface="Consolas" pitchFamily="34" charset="-122"/>
                <a:cs typeface="Consolas" pitchFamily="34" charset="-120"/>
              </a:rPr>
              <a:t>  "narrative": "one paragraph, template on main"</a:t>
            </a:r>
            <a:endParaRPr lang="en-US" sz="1100" dirty="0"/>
          </a:p>
        </p:txBody>
      </p:sp>
      <p:sp>
        <p:nvSpPr>
          <p:cNvPr id="23" name="Text 21"/>
          <p:cNvSpPr/>
          <p:nvPr/>
        </p:nvSpPr>
        <p:spPr>
          <a:xfrm>
            <a:off x="868680" y="5321808"/>
            <a:ext cx="6675120" cy="237744"/>
          </a:xfrm>
          <a:prstGeom prst="rect">
            <a:avLst/>
          </a:prstGeom>
          <a:noFill/>
          <a:ln/>
        </p:spPr>
        <p:txBody>
          <a:bodyPr wrap="square" lIns="0" tIns="0" rIns="0" bIns="0" rtlCol="0" anchor="t"/>
          <a:lstStyle/>
          <a:p>
            <a:pPr indent="0" marL="0">
              <a:lnSpc>
                <a:spcPct val="118000"/>
              </a:lnSpc>
              <a:buNone/>
            </a:pPr>
            <a:r>
              <a:rPr lang="en-US" sz="1100" dirty="0">
                <a:solidFill>
                  <a:srgbClr val="2B454F"/>
                </a:solidFill>
                <a:latin typeface="Consolas" pitchFamily="34" charset="0"/>
                <a:ea typeface="Consolas" pitchFamily="34" charset="-122"/>
                <a:cs typeface="Consolas" pitchFamily="34" charset="-120"/>
              </a:rPr>
              <a:t>}</a:t>
            </a:r>
            <a:endParaRPr lang="en-US" sz="1100" dirty="0"/>
          </a:p>
        </p:txBody>
      </p:sp>
      <p:sp>
        <p:nvSpPr>
          <p:cNvPr id="24" name="Text 22"/>
          <p:cNvSpPr/>
          <p:nvPr/>
        </p:nvSpPr>
        <p:spPr>
          <a:xfrm>
            <a:off x="8229600" y="2194560"/>
            <a:ext cx="338328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0D6F6A"/>
                </a:solidFill>
                <a:latin typeface="Consolas" pitchFamily="34" charset="0"/>
                <a:ea typeface="Consolas" pitchFamily="34" charset="-122"/>
                <a:cs typeface="Consolas" pitchFamily="34" charset="-120"/>
              </a:rPr>
              <a:t>FACTS</a:t>
            </a:r>
            <a:endParaRPr lang="en-US" sz="1000" dirty="0"/>
          </a:p>
        </p:txBody>
      </p:sp>
      <p:sp>
        <p:nvSpPr>
          <p:cNvPr id="25" name="Text 23"/>
          <p:cNvSpPr/>
          <p:nvPr/>
        </p:nvSpPr>
        <p:spPr>
          <a:xfrm>
            <a:off x="8229600" y="2377440"/>
            <a:ext cx="3383280" cy="664464"/>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Transaction id, amount, currency and reported date come from the transaction record.</a:t>
            </a:r>
            <a:endParaRPr lang="en-US" sz="1250" dirty="0"/>
          </a:p>
        </p:txBody>
      </p:sp>
      <p:sp>
        <p:nvSpPr>
          <p:cNvPr id="26" name="Text 24"/>
          <p:cNvSpPr/>
          <p:nvPr/>
        </p:nvSpPr>
        <p:spPr>
          <a:xfrm>
            <a:off x="8229600" y="3108960"/>
            <a:ext cx="338328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0D6F6A"/>
                </a:solidFill>
                <a:latin typeface="Consolas" pitchFamily="34" charset="0"/>
                <a:ea typeface="Consolas" pitchFamily="34" charset="-122"/>
                <a:cs typeface="Consolas" pitchFamily="34" charset="-120"/>
              </a:rPr>
              <a:t>DEADLINE</a:t>
            </a:r>
            <a:endParaRPr lang="en-US" sz="1000" dirty="0"/>
          </a:p>
        </p:txBody>
      </p:sp>
      <p:sp>
        <p:nvSpPr>
          <p:cNvPr id="27" name="Text 25"/>
          <p:cNvSpPr/>
          <p:nvPr/>
        </p:nvSpPr>
        <p:spPr>
          <a:xfrm>
            <a:off x="8229600" y="3291840"/>
            <a:ext cx="3383280" cy="461264"/>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Counted from the reported date under policy version 2.</a:t>
            </a:r>
            <a:endParaRPr lang="en-US" sz="1250" dirty="0"/>
          </a:p>
        </p:txBody>
      </p:sp>
      <p:sp>
        <p:nvSpPr>
          <p:cNvPr id="28" name="Text 26"/>
          <p:cNvSpPr/>
          <p:nvPr/>
        </p:nvSpPr>
        <p:spPr>
          <a:xfrm>
            <a:off x="8229600" y="4023360"/>
            <a:ext cx="338328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0D6F6A"/>
                </a:solidFill>
                <a:latin typeface="Consolas" pitchFamily="34" charset="0"/>
                <a:ea typeface="Consolas" pitchFamily="34" charset="-122"/>
                <a:cs typeface="Consolas" pitchFamily="34" charset="-120"/>
              </a:rPr>
              <a:t>CITATIONS</a:t>
            </a:r>
            <a:endParaRPr lang="en-US" sz="1000" dirty="0"/>
          </a:p>
        </p:txBody>
      </p:sp>
      <p:sp>
        <p:nvSpPr>
          <p:cNvPr id="29" name="Text 27"/>
          <p:cNvSpPr/>
          <p:nvPr/>
        </p:nvSpPr>
        <p:spPr>
          <a:xfrm>
            <a:off x="8229600" y="4206240"/>
            <a:ext cx="3383280" cy="461264"/>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Six claims, five source ids. Each quote is an exact slice.</a:t>
            </a:r>
            <a:endParaRPr lang="en-US" sz="1250" dirty="0"/>
          </a:p>
        </p:txBody>
      </p:sp>
      <p:sp>
        <p:nvSpPr>
          <p:cNvPr id="30" name="Text 28"/>
          <p:cNvSpPr/>
          <p:nvPr/>
        </p:nvSpPr>
        <p:spPr>
          <a:xfrm>
            <a:off x="8229600" y="4937760"/>
            <a:ext cx="338328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0D6F6A"/>
                </a:solidFill>
                <a:latin typeface="Consolas" pitchFamily="34" charset="0"/>
                <a:ea typeface="Consolas" pitchFamily="34" charset="-122"/>
                <a:cs typeface="Consolas" pitchFamily="34" charset="-120"/>
              </a:rPr>
              <a:t>NARRATIVE</a:t>
            </a:r>
            <a:endParaRPr lang="en-US" sz="1000" dirty="0"/>
          </a:p>
        </p:txBody>
      </p:sp>
      <p:sp>
        <p:nvSpPr>
          <p:cNvPr id="31" name="Text 29"/>
          <p:cNvSpPr/>
          <p:nvPr/>
        </p:nvSpPr>
        <p:spPr>
          <a:xfrm>
            <a:off x="8229600" y="5120640"/>
            <a:ext cx="3383280" cy="461264"/>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The only free text. On main it is a template.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566928" y="566928"/>
            <a:ext cx="11057839" cy="0"/>
          </a:xfrm>
          <a:prstGeom prst="line">
            <a:avLst/>
          </a:prstGeom>
          <a:noFill/>
          <a:ln w="12700">
            <a:solidFill>
              <a:srgbClr val="D3CDC0"/>
            </a:solidFill>
            <a:prstDash val="solid"/>
          </a:ln>
        </p:spPr>
      </p:sp>
      <p:sp>
        <p:nvSpPr>
          <p:cNvPr id="3" name="Text 1"/>
          <p:cNvSpPr/>
          <p:nvPr/>
        </p:nvSpPr>
        <p:spPr>
          <a:xfrm>
            <a:off x="566928" y="347472"/>
            <a:ext cx="5486400" cy="201168"/>
          </a:xfrm>
          <a:prstGeom prst="rect">
            <a:avLst/>
          </a:prstGeom>
          <a:noFill/>
          <a:ln/>
        </p:spPr>
        <p:txBody>
          <a:bodyPr wrap="square" lIns="0" tIns="0" rIns="0" bIns="0" rtlCol="0" anchor="ctr"/>
          <a:lstStyle/>
          <a:p>
            <a:pPr indent="0" marL="0">
              <a:lnSpc>
                <a:spcPct val="118000"/>
              </a:lnSpc>
              <a:buNone/>
            </a:pPr>
            <a:r>
              <a:rPr lang="en-US" sz="1000" spc="120" kern="0" dirty="0">
                <a:solidFill>
                  <a:srgbClr val="0D6F6A"/>
                </a:solidFill>
                <a:latin typeface="Consolas" pitchFamily="34" charset="0"/>
                <a:ea typeface="Consolas" pitchFamily="34" charset="-122"/>
                <a:cs typeface="Consolas" pitchFamily="34" charset="-120"/>
              </a:rPr>
              <a:t>APPENDIX A2 · THE TWELVE DEV CASES</a:t>
            </a:r>
            <a:endParaRPr lang="en-US" sz="1000" dirty="0"/>
          </a:p>
        </p:txBody>
      </p:sp>
      <p:sp>
        <p:nvSpPr>
          <p:cNvPr id="4" name="Text 2"/>
          <p:cNvSpPr/>
          <p:nvPr/>
        </p:nvSpPr>
        <p:spPr>
          <a:xfrm>
            <a:off x="7052767" y="347472"/>
            <a:ext cx="4572000" cy="201168"/>
          </a:xfrm>
          <a:prstGeom prst="rect">
            <a:avLst/>
          </a:prstGeom>
          <a:noFill/>
          <a:ln/>
        </p:spPr>
        <p:txBody>
          <a:bodyPr wrap="square" lIns="0" tIns="0" rIns="0" bIns="0" rtlCol="0" anchor="ctr"/>
          <a:lstStyle/>
          <a:p>
            <a:pPr algn="r" indent="0" marL="0">
              <a:lnSpc>
                <a:spcPct val="118000"/>
              </a:lnSpc>
              <a:buNone/>
            </a:pPr>
            <a:r>
              <a:rPr lang="en-US" sz="1000" spc="120" kern="0" dirty="0">
                <a:solidFill>
                  <a:srgbClr val="68777D"/>
                </a:solidFill>
                <a:latin typeface="Consolas" pitchFamily="34" charset="0"/>
                <a:ea typeface="Consolas" pitchFamily="34" charset="-122"/>
                <a:cs typeface="Consolas" pitchFamily="34" charset="-120"/>
              </a:rPr>
              <a:t>LUMEN BANK · DISPUTE COPILOT</a:t>
            </a:r>
            <a:endParaRPr lang="en-US" sz="1000" dirty="0"/>
          </a:p>
        </p:txBody>
      </p:sp>
      <p:sp>
        <p:nvSpPr>
          <p:cNvPr id="5" name="Shape 3"/>
          <p:cNvSpPr/>
          <p:nvPr/>
        </p:nvSpPr>
        <p:spPr>
          <a:xfrm>
            <a:off x="566928" y="6382512"/>
            <a:ext cx="11057839" cy="0"/>
          </a:xfrm>
          <a:prstGeom prst="line">
            <a:avLst/>
          </a:prstGeom>
          <a:noFill/>
          <a:ln w="9525">
            <a:solidFill>
              <a:srgbClr val="E2DDD2"/>
            </a:solidFill>
            <a:prstDash val="solid"/>
          </a:ln>
        </p:spPr>
      </p:sp>
      <p:sp>
        <p:nvSpPr>
          <p:cNvPr id="6" name="Text 4"/>
          <p:cNvSpPr/>
          <p:nvPr/>
        </p:nvSpPr>
        <p:spPr>
          <a:xfrm>
            <a:off x="566928" y="6473952"/>
            <a:ext cx="5486400" cy="219456"/>
          </a:xfrm>
          <a:prstGeom prst="rect">
            <a:avLst/>
          </a:prstGeom>
          <a:noFill/>
          <a:ln/>
        </p:spPr>
        <p:txBody>
          <a:bodyPr wrap="square" lIns="0" tIns="0" rIns="0" bIns="0" rtlCol="0" anchor="t"/>
          <a:lstStyle/>
          <a:p>
            <a:pPr indent="0" marL="0">
              <a:lnSpc>
                <a:spcPct val="118000"/>
              </a:lnSpc>
              <a:buNone/>
            </a:pPr>
            <a:r>
              <a:rPr lang="en-US" sz="1000" dirty="0">
                <a:solidFill>
                  <a:srgbClr val="68777D"/>
                </a:solidFill>
                <a:latin typeface="Consolas" pitchFamily="34" charset="0"/>
                <a:ea typeface="Consolas" pitchFamily="34" charset="-122"/>
                <a:cs typeface="Consolas" pitchFamily="34" charset="-120"/>
              </a:rPr>
              <a:t>Final demo and technical defense · 29 October 2026</a:t>
            </a:r>
            <a:endParaRPr lang="en-US" sz="1000" dirty="0"/>
          </a:p>
        </p:txBody>
      </p:sp>
      <p:sp>
        <p:nvSpPr>
          <p:cNvPr id="7" name="Text 5"/>
          <p:cNvSpPr/>
          <p:nvPr/>
        </p:nvSpPr>
        <p:spPr>
          <a:xfrm>
            <a:off x="9338767" y="6473952"/>
            <a:ext cx="2286000" cy="219456"/>
          </a:xfrm>
          <a:prstGeom prst="rect">
            <a:avLst/>
          </a:prstGeom>
          <a:noFill/>
          <a:ln/>
        </p:spPr>
        <p:txBody>
          <a:bodyPr wrap="square" lIns="0" tIns="0" rIns="0" bIns="0" rtlCol="0" anchor="t"/>
          <a:lstStyle/>
          <a:p>
            <a:pPr algn="r" indent="0" marL="0">
              <a:lnSpc>
                <a:spcPct val="118000"/>
              </a:lnSpc>
              <a:buNone/>
            </a:pPr>
            <a:r>
              <a:rPr lang="en-US" sz="1000" dirty="0">
                <a:solidFill>
                  <a:srgbClr val="68777D"/>
                </a:solidFill>
                <a:latin typeface="Consolas" pitchFamily="34" charset="0"/>
                <a:ea typeface="Consolas" pitchFamily="34" charset="-122"/>
                <a:cs typeface="Consolas" pitchFamily="34" charset="-120"/>
              </a:rPr>
              <a:t>[ 15 / 16 ]</a:t>
            </a:r>
            <a:endParaRPr lang="en-US" sz="1000" dirty="0"/>
          </a:p>
        </p:txBody>
      </p:sp>
      <p:sp>
        <p:nvSpPr>
          <p:cNvPr id="8" name="Text 6"/>
          <p:cNvSpPr/>
          <p:nvPr/>
        </p:nvSpPr>
        <p:spPr>
          <a:xfrm>
            <a:off x="566928" y="1005840"/>
            <a:ext cx="11055096" cy="658368"/>
          </a:xfrm>
          <a:prstGeom prst="rect">
            <a:avLst/>
          </a:prstGeom>
          <a:noFill/>
          <a:ln/>
        </p:spPr>
        <p:txBody>
          <a:bodyPr wrap="square" lIns="0" tIns="0" rIns="0" bIns="0" rtlCol="0" anchor="t"/>
          <a:lstStyle/>
          <a:p>
            <a:pPr indent="0" marL="0">
              <a:lnSpc>
                <a:spcPct val="98000"/>
              </a:lnSpc>
              <a:buNone/>
            </a:pPr>
            <a:r>
              <a:rPr lang="en-US" sz="3200" dirty="0">
                <a:solidFill>
                  <a:srgbClr val="12262E"/>
                </a:solidFill>
                <a:latin typeface="Georgia" pitchFamily="34" charset="0"/>
                <a:ea typeface="Georgia" pitchFamily="34" charset="-122"/>
                <a:cs typeface="Georgia" pitchFamily="34" charset="-120"/>
              </a:rPr>
              <a:t>Twelve cases, twelve contracts, zero stops.</a:t>
            </a:r>
            <a:endParaRPr lang="en-US" sz="3200" dirty="0"/>
          </a:p>
        </p:txBody>
      </p:sp>
      <p:sp>
        <p:nvSpPr>
          <p:cNvPr id="9" name="Text 7"/>
          <p:cNvSpPr/>
          <p:nvPr/>
        </p:nvSpPr>
        <p:spPr>
          <a:xfrm>
            <a:off x="566928" y="1828800"/>
            <a:ext cx="91440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68777D"/>
                </a:solidFill>
                <a:latin typeface="Consolas" pitchFamily="34" charset="0"/>
                <a:ea typeface="Consolas" pitchFamily="34" charset="-122"/>
                <a:cs typeface="Consolas" pitchFamily="34" charset="-120"/>
              </a:rPr>
              <a:t>CASE</a:t>
            </a:r>
            <a:endParaRPr lang="en-US" sz="1000" dirty="0"/>
          </a:p>
        </p:txBody>
      </p:sp>
      <p:sp>
        <p:nvSpPr>
          <p:cNvPr id="10" name="Text 8"/>
          <p:cNvSpPr/>
          <p:nvPr/>
        </p:nvSpPr>
        <p:spPr>
          <a:xfrm>
            <a:off x="1508760" y="1828800"/>
            <a:ext cx="109728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68777D"/>
                </a:solidFill>
                <a:latin typeface="Consolas" pitchFamily="34" charset="0"/>
                <a:ea typeface="Consolas" pitchFamily="34" charset="-122"/>
                <a:cs typeface="Consolas" pitchFamily="34" charset="-120"/>
              </a:rPr>
              <a:t>CITES</a:t>
            </a:r>
            <a:endParaRPr lang="en-US" sz="1000" dirty="0"/>
          </a:p>
        </p:txBody>
      </p:sp>
      <p:sp>
        <p:nvSpPr>
          <p:cNvPr id="11" name="Text 9"/>
          <p:cNvSpPr/>
          <p:nvPr/>
        </p:nvSpPr>
        <p:spPr>
          <a:xfrm>
            <a:off x="2788920" y="1828800"/>
            <a:ext cx="109728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68777D"/>
                </a:solidFill>
                <a:latin typeface="Consolas" pitchFamily="34" charset="0"/>
                <a:ea typeface="Consolas" pitchFamily="34" charset="-122"/>
                <a:cs typeface="Consolas" pitchFamily="34" charset="-120"/>
              </a:rPr>
              <a:t>RESULT</a:t>
            </a:r>
            <a:endParaRPr lang="en-US" sz="1000" dirty="0"/>
          </a:p>
        </p:txBody>
      </p:sp>
      <p:sp>
        <p:nvSpPr>
          <p:cNvPr id="12" name="Text 10"/>
          <p:cNvSpPr/>
          <p:nvPr/>
        </p:nvSpPr>
        <p:spPr>
          <a:xfrm>
            <a:off x="4069080" y="1828800"/>
            <a:ext cx="7498080" cy="217424"/>
          </a:xfrm>
          <a:prstGeom prst="rect">
            <a:avLst/>
          </a:prstGeom>
          <a:noFill/>
          <a:ln/>
        </p:spPr>
        <p:txBody>
          <a:bodyPr wrap="square" lIns="0" tIns="0" rIns="0" bIns="0" rtlCol="0" anchor="t"/>
          <a:lstStyle/>
          <a:p>
            <a:pPr algn="l" indent="0" marL="0">
              <a:lnSpc>
                <a:spcPct val="125000"/>
              </a:lnSpc>
              <a:buNone/>
            </a:pPr>
            <a:r>
              <a:rPr lang="en-US" sz="1000" spc="120" kern="0" dirty="0">
                <a:solidFill>
                  <a:srgbClr val="68777D"/>
                </a:solidFill>
                <a:latin typeface="Consolas" pitchFamily="34" charset="0"/>
                <a:ea typeface="Consolas" pitchFamily="34" charset="-122"/>
                <a:cs typeface="Consolas" pitchFamily="34" charset="-120"/>
              </a:rPr>
              <a:t>REASON</a:t>
            </a:r>
            <a:endParaRPr lang="en-US" sz="1000" dirty="0"/>
          </a:p>
        </p:txBody>
      </p:sp>
      <p:sp>
        <p:nvSpPr>
          <p:cNvPr id="13" name="Text 11"/>
          <p:cNvSpPr/>
          <p:nvPr/>
        </p:nvSpPr>
        <p:spPr>
          <a:xfrm>
            <a:off x="566928" y="2139696"/>
            <a:ext cx="914400" cy="217424"/>
          </a:xfrm>
          <a:prstGeom prst="rect">
            <a:avLst/>
          </a:prstGeom>
          <a:noFill/>
          <a:ln/>
        </p:spPr>
        <p:txBody>
          <a:bodyPr wrap="square" lIns="0" tIns="0" rIns="0" bIns="0" rtlCol="0" anchor="t"/>
          <a:lstStyle/>
          <a:p>
            <a:pPr algn="l" indent="0" marL="0">
              <a:lnSpc>
                <a:spcPct val="125000"/>
              </a:lnSpc>
              <a:buNone/>
            </a:pPr>
            <a:r>
              <a:rPr lang="en-US" sz="1000" dirty="0">
                <a:solidFill>
                  <a:srgbClr val="12262E"/>
                </a:solidFill>
                <a:latin typeface="Consolas" pitchFamily="34" charset="0"/>
                <a:ea typeface="Consolas" pitchFamily="34" charset="-122"/>
                <a:cs typeface="Consolas" pitchFamily="34" charset="-120"/>
              </a:rPr>
              <a:t>D01</a:t>
            </a:r>
            <a:endParaRPr lang="en-US" sz="1000" dirty="0"/>
          </a:p>
        </p:txBody>
      </p:sp>
      <p:sp>
        <p:nvSpPr>
          <p:cNvPr id="14" name="Text 12"/>
          <p:cNvSpPr/>
          <p:nvPr/>
        </p:nvSpPr>
        <p:spPr>
          <a:xfrm>
            <a:off x="1508760" y="2139696"/>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A96900"/>
                </a:solidFill>
                <a:latin typeface="Consolas" pitchFamily="34" charset="0"/>
                <a:ea typeface="Consolas" pitchFamily="34" charset="-122"/>
                <a:cs typeface="Consolas" pitchFamily="34" charset="-120"/>
              </a:rPr>
              <a:t>6</a:t>
            </a:r>
            <a:endParaRPr lang="en-US" sz="1000" dirty="0"/>
          </a:p>
        </p:txBody>
      </p:sp>
      <p:sp>
        <p:nvSpPr>
          <p:cNvPr id="15" name="Text 13"/>
          <p:cNvSpPr/>
          <p:nvPr/>
        </p:nvSpPr>
        <p:spPr>
          <a:xfrm>
            <a:off x="2788920" y="2139696"/>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1C7A58"/>
                </a:solidFill>
                <a:latin typeface="Consolas" pitchFamily="34" charset="0"/>
                <a:ea typeface="Consolas" pitchFamily="34" charset="-122"/>
                <a:cs typeface="Consolas" pitchFamily="34" charset="-120"/>
              </a:rPr>
              <a:t>PASS</a:t>
            </a:r>
            <a:endParaRPr lang="en-US" sz="1000" dirty="0"/>
          </a:p>
        </p:txBody>
      </p:sp>
      <p:sp>
        <p:nvSpPr>
          <p:cNvPr id="16" name="Text 14"/>
          <p:cNvSpPr/>
          <p:nvPr/>
        </p:nvSpPr>
        <p:spPr>
          <a:xfrm>
            <a:off x="4069080" y="2139696"/>
            <a:ext cx="7498080" cy="217424"/>
          </a:xfrm>
          <a:prstGeom prst="rect">
            <a:avLst/>
          </a:prstGeom>
          <a:noFill/>
          <a:ln/>
        </p:spPr>
        <p:txBody>
          <a:bodyPr wrap="square" lIns="0" tIns="0" rIns="0" bIns="0" rtlCol="0" anchor="t"/>
          <a:lstStyle/>
          <a:p>
            <a:pPr algn="l" indent="0" marL="0">
              <a:lnSpc>
                <a:spcPct val="125000"/>
              </a:lnSpc>
              <a:buNone/>
            </a:pPr>
            <a:r>
              <a:rPr lang="en-US" sz="1000" dirty="0">
                <a:solidFill>
                  <a:srgbClr val="2B454F"/>
                </a:solidFill>
                <a:latin typeface="Consolas" pitchFamily="34" charset="0"/>
                <a:ea typeface="Consolas" pitchFamily="34" charset="-122"/>
                <a:cs typeface="Consolas" pitchFamily="34" charset="-120"/>
              </a:rPr>
              <a:t>contract, review requested, record written</a:t>
            </a:r>
            <a:endParaRPr lang="en-US" sz="1000" dirty="0"/>
          </a:p>
        </p:txBody>
      </p:sp>
      <p:sp>
        <p:nvSpPr>
          <p:cNvPr id="17" name="Text 15"/>
          <p:cNvSpPr/>
          <p:nvPr/>
        </p:nvSpPr>
        <p:spPr>
          <a:xfrm>
            <a:off x="566928" y="2441448"/>
            <a:ext cx="914400" cy="217424"/>
          </a:xfrm>
          <a:prstGeom prst="rect">
            <a:avLst/>
          </a:prstGeom>
          <a:noFill/>
          <a:ln/>
        </p:spPr>
        <p:txBody>
          <a:bodyPr wrap="square" lIns="0" tIns="0" rIns="0" bIns="0" rtlCol="0" anchor="t"/>
          <a:lstStyle/>
          <a:p>
            <a:pPr algn="l" indent="0" marL="0">
              <a:lnSpc>
                <a:spcPct val="125000"/>
              </a:lnSpc>
              <a:buNone/>
            </a:pPr>
            <a:r>
              <a:rPr lang="en-US" sz="1000" dirty="0">
                <a:solidFill>
                  <a:srgbClr val="12262E"/>
                </a:solidFill>
                <a:latin typeface="Consolas" pitchFamily="34" charset="0"/>
                <a:ea typeface="Consolas" pitchFamily="34" charset="-122"/>
                <a:cs typeface="Consolas" pitchFamily="34" charset="-120"/>
              </a:rPr>
              <a:t>D02</a:t>
            </a:r>
            <a:endParaRPr lang="en-US" sz="1000" dirty="0"/>
          </a:p>
        </p:txBody>
      </p:sp>
      <p:sp>
        <p:nvSpPr>
          <p:cNvPr id="18" name="Text 16"/>
          <p:cNvSpPr/>
          <p:nvPr/>
        </p:nvSpPr>
        <p:spPr>
          <a:xfrm>
            <a:off x="1508760" y="2441448"/>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A96900"/>
                </a:solidFill>
                <a:latin typeface="Consolas" pitchFamily="34" charset="0"/>
                <a:ea typeface="Consolas" pitchFamily="34" charset="-122"/>
                <a:cs typeface="Consolas" pitchFamily="34" charset="-120"/>
              </a:rPr>
              <a:t>7</a:t>
            </a:r>
            <a:endParaRPr lang="en-US" sz="1000" dirty="0"/>
          </a:p>
        </p:txBody>
      </p:sp>
      <p:sp>
        <p:nvSpPr>
          <p:cNvPr id="19" name="Text 17"/>
          <p:cNvSpPr/>
          <p:nvPr/>
        </p:nvSpPr>
        <p:spPr>
          <a:xfrm>
            <a:off x="2788920" y="2441448"/>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1C7A58"/>
                </a:solidFill>
                <a:latin typeface="Consolas" pitchFamily="34" charset="0"/>
                <a:ea typeface="Consolas" pitchFamily="34" charset="-122"/>
                <a:cs typeface="Consolas" pitchFamily="34" charset="-120"/>
              </a:rPr>
              <a:t>PASS</a:t>
            </a:r>
            <a:endParaRPr lang="en-US" sz="1000" dirty="0"/>
          </a:p>
        </p:txBody>
      </p:sp>
      <p:sp>
        <p:nvSpPr>
          <p:cNvPr id="20" name="Text 18"/>
          <p:cNvSpPr/>
          <p:nvPr/>
        </p:nvSpPr>
        <p:spPr>
          <a:xfrm>
            <a:off x="4069080" y="2441448"/>
            <a:ext cx="7498080" cy="217424"/>
          </a:xfrm>
          <a:prstGeom prst="rect">
            <a:avLst/>
          </a:prstGeom>
          <a:noFill/>
          <a:ln/>
        </p:spPr>
        <p:txBody>
          <a:bodyPr wrap="square" lIns="0" tIns="0" rIns="0" bIns="0" rtlCol="0" anchor="t"/>
          <a:lstStyle/>
          <a:p>
            <a:pPr algn="l" indent="0" marL="0">
              <a:lnSpc>
                <a:spcPct val="125000"/>
              </a:lnSpc>
              <a:buNone/>
            </a:pPr>
            <a:r>
              <a:rPr lang="en-US" sz="1000" dirty="0">
                <a:solidFill>
                  <a:srgbClr val="2B454F"/>
                </a:solidFill>
                <a:latin typeface="Consolas" pitchFamily="34" charset="0"/>
                <a:ea typeface="Consolas" pitchFamily="34" charset="-122"/>
                <a:cs typeface="Consolas" pitchFamily="34" charset="-120"/>
              </a:rPr>
              <a:t>duplicate charge, deadline 16 Nov</a:t>
            </a:r>
            <a:endParaRPr lang="en-US" sz="1000" dirty="0"/>
          </a:p>
        </p:txBody>
      </p:sp>
      <p:sp>
        <p:nvSpPr>
          <p:cNvPr id="21" name="Text 19"/>
          <p:cNvSpPr/>
          <p:nvPr/>
        </p:nvSpPr>
        <p:spPr>
          <a:xfrm>
            <a:off x="566928" y="2743200"/>
            <a:ext cx="914400" cy="217424"/>
          </a:xfrm>
          <a:prstGeom prst="rect">
            <a:avLst/>
          </a:prstGeom>
          <a:noFill/>
          <a:ln/>
        </p:spPr>
        <p:txBody>
          <a:bodyPr wrap="square" lIns="0" tIns="0" rIns="0" bIns="0" rtlCol="0" anchor="t"/>
          <a:lstStyle/>
          <a:p>
            <a:pPr algn="l" indent="0" marL="0">
              <a:lnSpc>
                <a:spcPct val="125000"/>
              </a:lnSpc>
              <a:buNone/>
            </a:pPr>
            <a:r>
              <a:rPr lang="en-US" sz="1000" dirty="0">
                <a:solidFill>
                  <a:srgbClr val="12262E"/>
                </a:solidFill>
                <a:latin typeface="Consolas" pitchFamily="34" charset="0"/>
                <a:ea typeface="Consolas" pitchFamily="34" charset="-122"/>
                <a:cs typeface="Consolas" pitchFamily="34" charset="-120"/>
              </a:rPr>
              <a:t>D03</a:t>
            </a:r>
            <a:endParaRPr lang="en-US" sz="1000" dirty="0"/>
          </a:p>
        </p:txBody>
      </p:sp>
      <p:sp>
        <p:nvSpPr>
          <p:cNvPr id="22" name="Text 20"/>
          <p:cNvSpPr/>
          <p:nvPr/>
        </p:nvSpPr>
        <p:spPr>
          <a:xfrm>
            <a:off x="1508760" y="2743200"/>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A96900"/>
                </a:solidFill>
                <a:latin typeface="Consolas" pitchFamily="34" charset="0"/>
                <a:ea typeface="Consolas" pitchFamily="34" charset="-122"/>
                <a:cs typeface="Consolas" pitchFamily="34" charset="-120"/>
              </a:rPr>
              <a:t>6</a:t>
            </a:r>
            <a:endParaRPr lang="en-US" sz="1000" dirty="0"/>
          </a:p>
        </p:txBody>
      </p:sp>
      <p:sp>
        <p:nvSpPr>
          <p:cNvPr id="23" name="Text 21"/>
          <p:cNvSpPr/>
          <p:nvPr/>
        </p:nvSpPr>
        <p:spPr>
          <a:xfrm>
            <a:off x="2788920" y="2743200"/>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1C7A58"/>
                </a:solidFill>
                <a:latin typeface="Consolas" pitchFamily="34" charset="0"/>
                <a:ea typeface="Consolas" pitchFamily="34" charset="-122"/>
                <a:cs typeface="Consolas" pitchFamily="34" charset="-120"/>
              </a:rPr>
              <a:t>PASS</a:t>
            </a:r>
            <a:endParaRPr lang="en-US" sz="1000" dirty="0"/>
          </a:p>
        </p:txBody>
      </p:sp>
      <p:sp>
        <p:nvSpPr>
          <p:cNvPr id="24" name="Text 22"/>
          <p:cNvSpPr/>
          <p:nvPr/>
        </p:nvSpPr>
        <p:spPr>
          <a:xfrm>
            <a:off x="4069080" y="2743200"/>
            <a:ext cx="7498080" cy="217424"/>
          </a:xfrm>
          <a:prstGeom prst="rect">
            <a:avLst/>
          </a:prstGeom>
          <a:noFill/>
          <a:ln/>
        </p:spPr>
        <p:txBody>
          <a:bodyPr wrap="square" lIns="0" tIns="0" rIns="0" bIns="0" rtlCol="0" anchor="t"/>
          <a:lstStyle/>
          <a:p>
            <a:pPr algn="l" indent="0" marL="0">
              <a:lnSpc>
                <a:spcPct val="125000"/>
              </a:lnSpc>
              <a:buNone/>
            </a:pPr>
            <a:r>
              <a:rPr lang="en-US" sz="1000" dirty="0">
                <a:solidFill>
                  <a:srgbClr val="2B454F"/>
                </a:solidFill>
                <a:latin typeface="Consolas" pitchFamily="34" charset="0"/>
                <a:ea typeface="Consolas" pitchFamily="34" charset="-122"/>
                <a:cs typeface="Consolas" pitchFamily="34" charset="-120"/>
              </a:rPr>
              <a:t>service not received, deadline 2 Dec</a:t>
            </a:r>
            <a:endParaRPr lang="en-US" sz="1000" dirty="0"/>
          </a:p>
        </p:txBody>
      </p:sp>
      <p:sp>
        <p:nvSpPr>
          <p:cNvPr id="25" name="Text 23"/>
          <p:cNvSpPr/>
          <p:nvPr/>
        </p:nvSpPr>
        <p:spPr>
          <a:xfrm>
            <a:off x="566928" y="3044952"/>
            <a:ext cx="914400" cy="217424"/>
          </a:xfrm>
          <a:prstGeom prst="rect">
            <a:avLst/>
          </a:prstGeom>
          <a:noFill/>
          <a:ln/>
        </p:spPr>
        <p:txBody>
          <a:bodyPr wrap="square" lIns="0" tIns="0" rIns="0" bIns="0" rtlCol="0" anchor="t"/>
          <a:lstStyle/>
          <a:p>
            <a:pPr algn="l" indent="0" marL="0">
              <a:lnSpc>
                <a:spcPct val="125000"/>
              </a:lnSpc>
              <a:buNone/>
            </a:pPr>
            <a:r>
              <a:rPr lang="en-US" sz="1000" dirty="0">
                <a:solidFill>
                  <a:srgbClr val="12262E"/>
                </a:solidFill>
                <a:latin typeface="Consolas" pitchFamily="34" charset="0"/>
                <a:ea typeface="Consolas" pitchFamily="34" charset="-122"/>
                <a:cs typeface="Consolas" pitchFamily="34" charset="-120"/>
              </a:rPr>
              <a:t>D04</a:t>
            </a:r>
            <a:endParaRPr lang="en-US" sz="1000" dirty="0"/>
          </a:p>
        </p:txBody>
      </p:sp>
      <p:sp>
        <p:nvSpPr>
          <p:cNvPr id="26" name="Text 24"/>
          <p:cNvSpPr/>
          <p:nvPr/>
        </p:nvSpPr>
        <p:spPr>
          <a:xfrm>
            <a:off x="1508760" y="3044952"/>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A96900"/>
                </a:solidFill>
                <a:latin typeface="Consolas" pitchFamily="34" charset="0"/>
                <a:ea typeface="Consolas" pitchFamily="34" charset="-122"/>
                <a:cs typeface="Consolas" pitchFamily="34" charset="-120"/>
              </a:rPr>
              <a:t>6</a:t>
            </a:r>
            <a:endParaRPr lang="en-US" sz="1000" dirty="0"/>
          </a:p>
        </p:txBody>
      </p:sp>
      <p:sp>
        <p:nvSpPr>
          <p:cNvPr id="27" name="Text 25"/>
          <p:cNvSpPr/>
          <p:nvPr/>
        </p:nvSpPr>
        <p:spPr>
          <a:xfrm>
            <a:off x="2788920" y="3044952"/>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1C7A58"/>
                </a:solidFill>
                <a:latin typeface="Consolas" pitchFamily="34" charset="0"/>
                <a:ea typeface="Consolas" pitchFamily="34" charset="-122"/>
                <a:cs typeface="Consolas" pitchFamily="34" charset="-120"/>
              </a:rPr>
              <a:t>PASS</a:t>
            </a:r>
            <a:endParaRPr lang="en-US" sz="1000" dirty="0"/>
          </a:p>
        </p:txBody>
      </p:sp>
      <p:sp>
        <p:nvSpPr>
          <p:cNvPr id="28" name="Text 26"/>
          <p:cNvSpPr/>
          <p:nvPr/>
        </p:nvSpPr>
        <p:spPr>
          <a:xfrm>
            <a:off x="4069080" y="3044952"/>
            <a:ext cx="7498080" cy="217424"/>
          </a:xfrm>
          <a:prstGeom prst="rect">
            <a:avLst/>
          </a:prstGeom>
          <a:noFill/>
          <a:ln/>
        </p:spPr>
        <p:txBody>
          <a:bodyPr wrap="square" lIns="0" tIns="0" rIns="0" bIns="0" rtlCol="0" anchor="t"/>
          <a:lstStyle/>
          <a:p>
            <a:pPr algn="l" indent="0" marL="0">
              <a:lnSpc>
                <a:spcPct val="125000"/>
              </a:lnSpc>
              <a:buNone/>
            </a:pPr>
            <a:r>
              <a:rPr lang="en-US" sz="1000" dirty="0">
                <a:solidFill>
                  <a:srgbClr val="2B454F"/>
                </a:solidFill>
                <a:latin typeface="Consolas" pitchFamily="34" charset="0"/>
                <a:ea typeface="Consolas" pitchFamily="34" charset="-122"/>
                <a:cs typeface="Consolas" pitchFamily="34" charset="-120"/>
              </a:rPr>
              <a:t>unauthorized, request information</a:t>
            </a:r>
            <a:endParaRPr lang="en-US" sz="1000" dirty="0"/>
          </a:p>
        </p:txBody>
      </p:sp>
      <p:sp>
        <p:nvSpPr>
          <p:cNvPr id="29" name="Text 27"/>
          <p:cNvSpPr/>
          <p:nvPr/>
        </p:nvSpPr>
        <p:spPr>
          <a:xfrm>
            <a:off x="566928" y="3346704"/>
            <a:ext cx="914400" cy="217424"/>
          </a:xfrm>
          <a:prstGeom prst="rect">
            <a:avLst/>
          </a:prstGeom>
          <a:noFill/>
          <a:ln/>
        </p:spPr>
        <p:txBody>
          <a:bodyPr wrap="square" lIns="0" tIns="0" rIns="0" bIns="0" rtlCol="0" anchor="t"/>
          <a:lstStyle/>
          <a:p>
            <a:pPr algn="l" indent="0" marL="0">
              <a:lnSpc>
                <a:spcPct val="125000"/>
              </a:lnSpc>
              <a:buNone/>
            </a:pPr>
            <a:r>
              <a:rPr lang="en-US" sz="1000" dirty="0">
                <a:solidFill>
                  <a:srgbClr val="12262E"/>
                </a:solidFill>
                <a:latin typeface="Consolas" pitchFamily="34" charset="0"/>
                <a:ea typeface="Consolas" pitchFamily="34" charset="-122"/>
                <a:cs typeface="Consolas" pitchFamily="34" charset="-120"/>
              </a:rPr>
              <a:t>D05</a:t>
            </a:r>
            <a:endParaRPr lang="en-US" sz="1000" dirty="0"/>
          </a:p>
        </p:txBody>
      </p:sp>
      <p:sp>
        <p:nvSpPr>
          <p:cNvPr id="30" name="Text 28"/>
          <p:cNvSpPr/>
          <p:nvPr/>
        </p:nvSpPr>
        <p:spPr>
          <a:xfrm>
            <a:off x="1508760" y="3346704"/>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A96900"/>
                </a:solidFill>
                <a:latin typeface="Consolas" pitchFamily="34" charset="0"/>
                <a:ea typeface="Consolas" pitchFamily="34" charset="-122"/>
                <a:cs typeface="Consolas" pitchFamily="34" charset="-120"/>
              </a:rPr>
              <a:t>9</a:t>
            </a:r>
            <a:endParaRPr lang="en-US" sz="1000" dirty="0"/>
          </a:p>
        </p:txBody>
      </p:sp>
      <p:sp>
        <p:nvSpPr>
          <p:cNvPr id="31" name="Text 29"/>
          <p:cNvSpPr/>
          <p:nvPr/>
        </p:nvSpPr>
        <p:spPr>
          <a:xfrm>
            <a:off x="2788920" y="3346704"/>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1C7A58"/>
                </a:solidFill>
                <a:latin typeface="Consolas" pitchFamily="34" charset="0"/>
                <a:ea typeface="Consolas" pitchFamily="34" charset="-122"/>
                <a:cs typeface="Consolas" pitchFamily="34" charset="-120"/>
              </a:rPr>
              <a:t>PASS</a:t>
            </a:r>
            <a:endParaRPr lang="en-US" sz="1000" dirty="0"/>
          </a:p>
        </p:txBody>
      </p:sp>
      <p:sp>
        <p:nvSpPr>
          <p:cNvPr id="32" name="Text 30"/>
          <p:cNvSpPr/>
          <p:nvPr/>
        </p:nvSpPr>
        <p:spPr>
          <a:xfrm>
            <a:off x="4069080" y="3346704"/>
            <a:ext cx="7498080" cy="217424"/>
          </a:xfrm>
          <a:prstGeom prst="rect">
            <a:avLst/>
          </a:prstGeom>
          <a:noFill/>
          <a:ln/>
        </p:spPr>
        <p:txBody>
          <a:bodyPr wrap="square" lIns="0" tIns="0" rIns="0" bIns="0" rtlCol="0" anchor="t"/>
          <a:lstStyle/>
          <a:p>
            <a:pPr algn="l" indent="0" marL="0">
              <a:lnSpc>
                <a:spcPct val="125000"/>
              </a:lnSpc>
              <a:buNone/>
            </a:pPr>
            <a:r>
              <a:rPr lang="en-US" sz="1000" dirty="0">
                <a:solidFill>
                  <a:srgbClr val="2B454F"/>
                </a:solidFill>
                <a:latin typeface="Consolas" pitchFamily="34" charset="0"/>
                <a:ea typeface="Consolas" pitchFamily="34" charset="-122"/>
                <a:cs typeface="Consolas" pitchFamily="34" charset="-120"/>
              </a:rPr>
              <a:t>ambiguous, manual review, both sources cited</a:t>
            </a:r>
            <a:endParaRPr lang="en-US" sz="1000" dirty="0"/>
          </a:p>
        </p:txBody>
      </p:sp>
      <p:sp>
        <p:nvSpPr>
          <p:cNvPr id="33" name="Text 31"/>
          <p:cNvSpPr/>
          <p:nvPr/>
        </p:nvSpPr>
        <p:spPr>
          <a:xfrm>
            <a:off x="566928" y="3648456"/>
            <a:ext cx="914400" cy="217424"/>
          </a:xfrm>
          <a:prstGeom prst="rect">
            <a:avLst/>
          </a:prstGeom>
          <a:noFill/>
          <a:ln/>
        </p:spPr>
        <p:txBody>
          <a:bodyPr wrap="square" lIns="0" tIns="0" rIns="0" bIns="0" rtlCol="0" anchor="t"/>
          <a:lstStyle/>
          <a:p>
            <a:pPr algn="l" indent="0" marL="0">
              <a:lnSpc>
                <a:spcPct val="125000"/>
              </a:lnSpc>
              <a:buNone/>
            </a:pPr>
            <a:r>
              <a:rPr lang="en-US" sz="1000" dirty="0">
                <a:solidFill>
                  <a:srgbClr val="12262E"/>
                </a:solidFill>
                <a:latin typeface="Consolas" pitchFamily="34" charset="0"/>
                <a:ea typeface="Consolas" pitchFamily="34" charset="-122"/>
                <a:cs typeface="Consolas" pitchFamily="34" charset="-120"/>
              </a:rPr>
              <a:t>D06</a:t>
            </a:r>
            <a:endParaRPr lang="en-US" sz="1000" dirty="0"/>
          </a:p>
        </p:txBody>
      </p:sp>
      <p:sp>
        <p:nvSpPr>
          <p:cNvPr id="34" name="Text 32"/>
          <p:cNvSpPr/>
          <p:nvPr/>
        </p:nvSpPr>
        <p:spPr>
          <a:xfrm>
            <a:off x="1508760" y="3648456"/>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A96900"/>
                </a:solidFill>
                <a:latin typeface="Consolas" pitchFamily="34" charset="0"/>
                <a:ea typeface="Consolas" pitchFamily="34" charset="-122"/>
                <a:cs typeface="Consolas" pitchFamily="34" charset="-120"/>
              </a:rPr>
              <a:t>8</a:t>
            </a:r>
            <a:endParaRPr lang="en-US" sz="1000" dirty="0"/>
          </a:p>
        </p:txBody>
      </p:sp>
      <p:sp>
        <p:nvSpPr>
          <p:cNvPr id="35" name="Text 33"/>
          <p:cNvSpPr/>
          <p:nvPr/>
        </p:nvSpPr>
        <p:spPr>
          <a:xfrm>
            <a:off x="2788920" y="3648456"/>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1C7A58"/>
                </a:solidFill>
                <a:latin typeface="Consolas" pitchFamily="34" charset="0"/>
                <a:ea typeface="Consolas" pitchFamily="34" charset="-122"/>
                <a:cs typeface="Consolas" pitchFamily="34" charset="-120"/>
              </a:rPr>
              <a:t>PASS</a:t>
            </a:r>
            <a:endParaRPr lang="en-US" sz="1000" dirty="0"/>
          </a:p>
        </p:txBody>
      </p:sp>
      <p:sp>
        <p:nvSpPr>
          <p:cNvPr id="36" name="Text 34"/>
          <p:cNvSpPr/>
          <p:nvPr/>
        </p:nvSpPr>
        <p:spPr>
          <a:xfrm>
            <a:off x="4069080" y="3648456"/>
            <a:ext cx="7498080" cy="217424"/>
          </a:xfrm>
          <a:prstGeom prst="rect">
            <a:avLst/>
          </a:prstGeom>
          <a:noFill/>
          <a:ln/>
        </p:spPr>
        <p:txBody>
          <a:bodyPr wrap="square" lIns="0" tIns="0" rIns="0" bIns="0" rtlCol="0" anchor="t"/>
          <a:lstStyle/>
          <a:p>
            <a:pPr algn="l" indent="0" marL="0">
              <a:lnSpc>
                <a:spcPct val="125000"/>
              </a:lnSpc>
              <a:buNone/>
            </a:pPr>
            <a:r>
              <a:rPr lang="en-US" sz="1000" dirty="0">
                <a:solidFill>
                  <a:srgbClr val="2B454F"/>
                </a:solidFill>
                <a:latin typeface="Consolas" pitchFamily="34" charset="0"/>
                <a:ea typeface="Consolas" pitchFamily="34" charset="-122"/>
                <a:cs typeface="Consolas" pitchFamily="34" charset="-120"/>
              </a:rPr>
              <a:t>unsupported, manual review, no deadline</a:t>
            </a:r>
            <a:endParaRPr lang="en-US" sz="1000" dirty="0"/>
          </a:p>
        </p:txBody>
      </p:sp>
      <p:sp>
        <p:nvSpPr>
          <p:cNvPr id="37" name="Text 35"/>
          <p:cNvSpPr/>
          <p:nvPr/>
        </p:nvSpPr>
        <p:spPr>
          <a:xfrm>
            <a:off x="566928" y="3950208"/>
            <a:ext cx="914400" cy="217424"/>
          </a:xfrm>
          <a:prstGeom prst="rect">
            <a:avLst/>
          </a:prstGeom>
          <a:noFill/>
          <a:ln/>
        </p:spPr>
        <p:txBody>
          <a:bodyPr wrap="square" lIns="0" tIns="0" rIns="0" bIns="0" rtlCol="0" anchor="t"/>
          <a:lstStyle/>
          <a:p>
            <a:pPr algn="l" indent="0" marL="0">
              <a:lnSpc>
                <a:spcPct val="125000"/>
              </a:lnSpc>
              <a:buNone/>
            </a:pPr>
            <a:r>
              <a:rPr lang="en-US" sz="1000" dirty="0">
                <a:solidFill>
                  <a:srgbClr val="12262E"/>
                </a:solidFill>
                <a:latin typeface="Consolas" pitchFamily="34" charset="0"/>
                <a:ea typeface="Consolas" pitchFamily="34" charset="-122"/>
                <a:cs typeface="Consolas" pitchFamily="34" charset="-120"/>
              </a:rPr>
              <a:t>D07</a:t>
            </a:r>
            <a:endParaRPr lang="en-US" sz="1000" dirty="0"/>
          </a:p>
        </p:txBody>
      </p:sp>
      <p:sp>
        <p:nvSpPr>
          <p:cNvPr id="38" name="Text 36"/>
          <p:cNvSpPr/>
          <p:nvPr/>
        </p:nvSpPr>
        <p:spPr>
          <a:xfrm>
            <a:off x="1508760" y="3950208"/>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A96900"/>
                </a:solidFill>
                <a:latin typeface="Consolas" pitchFamily="34" charset="0"/>
                <a:ea typeface="Consolas" pitchFamily="34" charset="-122"/>
                <a:cs typeface="Consolas" pitchFamily="34" charset="-120"/>
              </a:rPr>
              <a:t>7</a:t>
            </a:r>
            <a:endParaRPr lang="en-US" sz="1000" dirty="0"/>
          </a:p>
        </p:txBody>
      </p:sp>
      <p:sp>
        <p:nvSpPr>
          <p:cNvPr id="39" name="Text 37"/>
          <p:cNvSpPr/>
          <p:nvPr/>
        </p:nvSpPr>
        <p:spPr>
          <a:xfrm>
            <a:off x="2788920" y="3950208"/>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1C7A58"/>
                </a:solidFill>
                <a:latin typeface="Consolas" pitchFamily="34" charset="0"/>
                <a:ea typeface="Consolas" pitchFamily="34" charset="-122"/>
                <a:cs typeface="Consolas" pitchFamily="34" charset="-120"/>
              </a:rPr>
              <a:t>PASS</a:t>
            </a:r>
            <a:endParaRPr lang="en-US" sz="1000" dirty="0"/>
          </a:p>
        </p:txBody>
      </p:sp>
      <p:sp>
        <p:nvSpPr>
          <p:cNvPr id="40" name="Text 38"/>
          <p:cNvSpPr/>
          <p:nvPr/>
        </p:nvSpPr>
        <p:spPr>
          <a:xfrm>
            <a:off x="4069080" y="3950208"/>
            <a:ext cx="7498080" cy="217424"/>
          </a:xfrm>
          <a:prstGeom prst="rect">
            <a:avLst/>
          </a:prstGeom>
          <a:noFill/>
          <a:ln/>
        </p:spPr>
        <p:txBody>
          <a:bodyPr wrap="square" lIns="0" tIns="0" rIns="0" bIns="0" rtlCol="0" anchor="t"/>
          <a:lstStyle/>
          <a:p>
            <a:pPr algn="l" indent="0" marL="0">
              <a:lnSpc>
                <a:spcPct val="125000"/>
              </a:lnSpc>
              <a:buNone/>
            </a:pPr>
            <a:r>
              <a:rPr lang="en-US" sz="1000" dirty="0">
                <a:solidFill>
                  <a:srgbClr val="2B454F"/>
                </a:solidFill>
                <a:latin typeface="Consolas" pitchFamily="34" charset="0"/>
                <a:ea typeface="Consolas" pitchFamily="34" charset="-122"/>
                <a:cs typeface="Consolas" pitchFamily="34" charset="-120"/>
              </a:rPr>
              <a:t>4 attempts, 2 retries, 3.7 s</a:t>
            </a:r>
            <a:endParaRPr lang="en-US" sz="1000" dirty="0"/>
          </a:p>
        </p:txBody>
      </p:sp>
      <p:sp>
        <p:nvSpPr>
          <p:cNvPr id="41" name="Text 39"/>
          <p:cNvSpPr/>
          <p:nvPr/>
        </p:nvSpPr>
        <p:spPr>
          <a:xfrm>
            <a:off x="566928" y="4251960"/>
            <a:ext cx="914400" cy="217424"/>
          </a:xfrm>
          <a:prstGeom prst="rect">
            <a:avLst/>
          </a:prstGeom>
          <a:noFill/>
          <a:ln/>
        </p:spPr>
        <p:txBody>
          <a:bodyPr wrap="square" lIns="0" tIns="0" rIns="0" bIns="0" rtlCol="0" anchor="t"/>
          <a:lstStyle/>
          <a:p>
            <a:pPr algn="l" indent="0" marL="0">
              <a:lnSpc>
                <a:spcPct val="125000"/>
              </a:lnSpc>
              <a:buNone/>
            </a:pPr>
            <a:r>
              <a:rPr lang="en-US" sz="1000" dirty="0">
                <a:solidFill>
                  <a:srgbClr val="12262E"/>
                </a:solidFill>
                <a:latin typeface="Consolas" pitchFamily="34" charset="0"/>
                <a:ea typeface="Consolas" pitchFamily="34" charset="-122"/>
                <a:cs typeface="Consolas" pitchFamily="34" charset="-120"/>
              </a:rPr>
              <a:t>D08</a:t>
            </a:r>
            <a:endParaRPr lang="en-US" sz="1000" dirty="0"/>
          </a:p>
        </p:txBody>
      </p:sp>
      <p:sp>
        <p:nvSpPr>
          <p:cNvPr id="42" name="Text 40"/>
          <p:cNvSpPr/>
          <p:nvPr/>
        </p:nvSpPr>
        <p:spPr>
          <a:xfrm>
            <a:off x="1508760" y="4251960"/>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A96900"/>
                </a:solidFill>
                <a:latin typeface="Consolas" pitchFamily="34" charset="0"/>
                <a:ea typeface="Consolas" pitchFamily="34" charset="-122"/>
                <a:cs typeface="Consolas" pitchFamily="34" charset="-120"/>
              </a:rPr>
              <a:t>7</a:t>
            </a:r>
            <a:endParaRPr lang="en-US" sz="1000" dirty="0"/>
          </a:p>
        </p:txBody>
      </p:sp>
      <p:sp>
        <p:nvSpPr>
          <p:cNvPr id="43" name="Text 41"/>
          <p:cNvSpPr/>
          <p:nvPr/>
        </p:nvSpPr>
        <p:spPr>
          <a:xfrm>
            <a:off x="2788920" y="4251960"/>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1C7A58"/>
                </a:solidFill>
                <a:latin typeface="Consolas" pitchFamily="34" charset="0"/>
                <a:ea typeface="Consolas" pitchFamily="34" charset="-122"/>
                <a:cs typeface="Consolas" pitchFamily="34" charset="-120"/>
              </a:rPr>
              <a:t>PASS</a:t>
            </a:r>
            <a:endParaRPr lang="en-US" sz="1000" dirty="0"/>
          </a:p>
        </p:txBody>
      </p:sp>
      <p:sp>
        <p:nvSpPr>
          <p:cNvPr id="44" name="Text 42"/>
          <p:cNvSpPr/>
          <p:nvPr/>
        </p:nvSpPr>
        <p:spPr>
          <a:xfrm>
            <a:off x="4069080" y="4251960"/>
            <a:ext cx="7498080" cy="217424"/>
          </a:xfrm>
          <a:prstGeom prst="rect">
            <a:avLst/>
          </a:prstGeom>
          <a:noFill/>
          <a:ln/>
        </p:spPr>
        <p:txBody>
          <a:bodyPr wrap="square" lIns="0" tIns="0" rIns="0" bIns="0" rtlCol="0" anchor="t"/>
          <a:lstStyle/>
          <a:p>
            <a:pPr algn="l" indent="0" marL="0">
              <a:lnSpc>
                <a:spcPct val="125000"/>
              </a:lnSpc>
              <a:buNone/>
            </a:pPr>
            <a:r>
              <a:rPr lang="en-US" sz="1000" dirty="0">
                <a:solidFill>
                  <a:srgbClr val="2B454F"/>
                </a:solidFill>
                <a:latin typeface="Consolas" pitchFamily="34" charset="0"/>
                <a:ea typeface="Consolas" pitchFamily="34" charset="-122"/>
                <a:cs typeface="Consolas" pitchFamily="34" charset="-120"/>
              </a:rPr>
              <a:t>instruction-shaped note stored as data, not cited</a:t>
            </a:r>
            <a:endParaRPr lang="en-US" sz="1000" dirty="0"/>
          </a:p>
        </p:txBody>
      </p:sp>
      <p:sp>
        <p:nvSpPr>
          <p:cNvPr id="45" name="Text 43"/>
          <p:cNvSpPr/>
          <p:nvPr/>
        </p:nvSpPr>
        <p:spPr>
          <a:xfrm>
            <a:off x="566928" y="4553712"/>
            <a:ext cx="914400" cy="217424"/>
          </a:xfrm>
          <a:prstGeom prst="rect">
            <a:avLst/>
          </a:prstGeom>
          <a:noFill/>
          <a:ln/>
        </p:spPr>
        <p:txBody>
          <a:bodyPr wrap="square" lIns="0" tIns="0" rIns="0" bIns="0" rtlCol="0" anchor="t"/>
          <a:lstStyle/>
          <a:p>
            <a:pPr algn="l" indent="0" marL="0">
              <a:lnSpc>
                <a:spcPct val="125000"/>
              </a:lnSpc>
              <a:buNone/>
            </a:pPr>
            <a:r>
              <a:rPr lang="en-US" sz="1000" dirty="0">
                <a:solidFill>
                  <a:srgbClr val="12262E"/>
                </a:solidFill>
                <a:latin typeface="Consolas" pitchFamily="34" charset="0"/>
                <a:ea typeface="Consolas" pitchFamily="34" charset="-122"/>
                <a:cs typeface="Consolas" pitchFamily="34" charset="-120"/>
              </a:rPr>
              <a:t>D09</a:t>
            </a:r>
            <a:endParaRPr lang="en-US" sz="1000" dirty="0"/>
          </a:p>
        </p:txBody>
      </p:sp>
      <p:sp>
        <p:nvSpPr>
          <p:cNvPr id="46" name="Text 44"/>
          <p:cNvSpPr/>
          <p:nvPr/>
        </p:nvSpPr>
        <p:spPr>
          <a:xfrm>
            <a:off x="1508760" y="4553712"/>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A96900"/>
                </a:solidFill>
                <a:latin typeface="Consolas" pitchFamily="34" charset="0"/>
                <a:ea typeface="Consolas" pitchFamily="34" charset="-122"/>
                <a:cs typeface="Consolas" pitchFamily="34" charset="-120"/>
              </a:rPr>
              <a:t>7</a:t>
            </a:r>
            <a:endParaRPr lang="en-US" sz="1000" dirty="0"/>
          </a:p>
        </p:txBody>
      </p:sp>
      <p:sp>
        <p:nvSpPr>
          <p:cNvPr id="47" name="Text 45"/>
          <p:cNvSpPr/>
          <p:nvPr/>
        </p:nvSpPr>
        <p:spPr>
          <a:xfrm>
            <a:off x="2788920" y="4553712"/>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1C7A58"/>
                </a:solidFill>
                <a:latin typeface="Consolas" pitchFamily="34" charset="0"/>
                <a:ea typeface="Consolas" pitchFamily="34" charset="-122"/>
                <a:cs typeface="Consolas" pitchFamily="34" charset="-120"/>
              </a:rPr>
              <a:t>PASS</a:t>
            </a:r>
            <a:endParaRPr lang="en-US" sz="1000" dirty="0"/>
          </a:p>
        </p:txBody>
      </p:sp>
      <p:sp>
        <p:nvSpPr>
          <p:cNvPr id="48" name="Text 46"/>
          <p:cNvSpPr/>
          <p:nvPr/>
        </p:nvSpPr>
        <p:spPr>
          <a:xfrm>
            <a:off x="4069080" y="4553712"/>
            <a:ext cx="7498080" cy="217424"/>
          </a:xfrm>
          <a:prstGeom prst="rect">
            <a:avLst/>
          </a:prstGeom>
          <a:noFill/>
          <a:ln/>
        </p:spPr>
        <p:txBody>
          <a:bodyPr wrap="square" lIns="0" tIns="0" rIns="0" bIns="0" rtlCol="0" anchor="t"/>
          <a:lstStyle/>
          <a:p>
            <a:pPr algn="l" indent="0" marL="0">
              <a:lnSpc>
                <a:spcPct val="125000"/>
              </a:lnSpc>
              <a:buNone/>
            </a:pPr>
            <a:r>
              <a:rPr lang="en-US" sz="1000" dirty="0">
                <a:solidFill>
                  <a:srgbClr val="2B454F"/>
                </a:solidFill>
                <a:latin typeface="Consolas" pitchFamily="34" charset="0"/>
                <a:ea typeface="Consolas" pitchFamily="34" charset="-122"/>
                <a:cs typeface="Consolas" pitchFamily="34" charset="-120"/>
              </a:rPr>
              <a:t>duplicate of D02: TX-D02, 134 XCR</a:t>
            </a:r>
            <a:endParaRPr lang="en-US" sz="1000" dirty="0"/>
          </a:p>
        </p:txBody>
      </p:sp>
      <p:sp>
        <p:nvSpPr>
          <p:cNvPr id="49" name="Text 47"/>
          <p:cNvSpPr/>
          <p:nvPr/>
        </p:nvSpPr>
        <p:spPr>
          <a:xfrm>
            <a:off x="566928" y="4855464"/>
            <a:ext cx="914400" cy="217424"/>
          </a:xfrm>
          <a:prstGeom prst="rect">
            <a:avLst/>
          </a:prstGeom>
          <a:noFill/>
          <a:ln/>
        </p:spPr>
        <p:txBody>
          <a:bodyPr wrap="square" lIns="0" tIns="0" rIns="0" bIns="0" rtlCol="0" anchor="t"/>
          <a:lstStyle/>
          <a:p>
            <a:pPr algn="l" indent="0" marL="0">
              <a:lnSpc>
                <a:spcPct val="125000"/>
              </a:lnSpc>
              <a:buNone/>
            </a:pPr>
            <a:r>
              <a:rPr lang="en-US" sz="1000" dirty="0">
                <a:solidFill>
                  <a:srgbClr val="12262E"/>
                </a:solidFill>
                <a:latin typeface="Consolas" pitchFamily="34" charset="0"/>
                <a:ea typeface="Consolas" pitchFamily="34" charset="-122"/>
                <a:cs typeface="Consolas" pitchFamily="34" charset="-120"/>
              </a:rPr>
              <a:t>D10</a:t>
            </a:r>
            <a:endParaRPr lang="en-US" sz="1000" dirty="0"/>
          </a:p>
        </p:txBody>
      </p:sp>
      <p:sp>
        <p:nvSpPr>
          <p:cNvPr id="50" name="Text 48"/>
          <p:cNvSpPr/>
          <p:nvPr/>
        </p:nvSpPr>
        <p:spPr>
          <a:xfrm>
            <a:off x="1508760" y="4855464"/>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A96900"/>
                </a:solidFill>
                <a:latin typeface="Consolas" pitchFamily="34" charset="0"/>
                <a:ea typeface="Consolas" pitchFamily="34" charset="-122"/>
                <a:cs typeface="Consolas" pitchFamily="34" charset="-120"/>
              </a:rPr>
              <a:t>6</a:t>
            </a:r>
            <a:endParaRPr lang="en-US" sz="1000" dirty="0"/>
          </a:p>
        </p:txBody>
      </p:sp>
      <p:sp>
        <p:nvSpPr>
          <p:cNvPr id="51" name="Text 49"/>
          <p:cNvSpPr/>
          <p:nvPr/>
        </p:nvSpPr>
        <p:spPr>
          <a:xfrm>
            <a:off x="2788920" y="4855464"/>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1C7A58"/>
                </a:solidFill>
                <a:latin typeface="Consolas" pitchFamily="34" charset="0"/>
                <a:ea typeface="Consolas" pitchFamily="34" charset="-122"/>
                <a:cs typeface="Consolas" pitchFamily="34" charset="-120"/>
              </a:rPr>
              <a:t>PASS</a:t>
            </a:r>
            <a:endParaRPr lang="en-US" sz="1000" dirty="0"/>
          </a:p>
        </p:txBody>
      </p:sp>
      <p:sp>
        <p:nvSpPr>
          <p:cNvPr id="52" name="Text 50"/>
          <p:cNvSpPr/>
          <p:nvPr/>
        </p:nvSpPr>
        <p:spPr>
          <a:xfrm>
            <a:off x="4069080" y="4855464"/>
            <a:ext cx="7498080" cy="217424"/>
          </a:xfrm>
          <a:prstGeom prst="rect">
            <a:avLst/>
          </a:prstGeom>
          <a:noFill/>
          <a:ln/>
        </p:spPr>
        <p:txBody>
          <a:bodyPr wrap="square" lIns="0" tIns="0" rIns="0" bIns="0" rtlCol="0" anchor="t"/>
          <a:lstStyle/>
          <a:p>
            <a:pPr algn="l" indent="0" marL="0">
              <a:lnSpc>
                <a:spcPct val="125000"/>
              </a:lnSpc>
              <a:buNone/>
            </a:pPr>
            <a:r>
              <a:rPr lang="en-US" sz="1000" dirty="0">
                <a:solidFill>
                  <a:srgbClr val="2B454F"/>
                </a:solidFill>
                <a:latin typeface="Consolas" pitchFamily="34" charset="0"/>
                <a:ea typeface="Consolas" pitchFamily="34" charset="-122"/>
                <a:cs typeface="Consolas" pitchFamily="34" charset="-120"/>
              </a:rPr>
              <a:t>3 attempts, 1 retry, 1.3 s</a:t>
            </a:r>
            <a:endParaRPr lang="en-US" sz="1000" dirty="0"/>
          </a:p>
        </p:txBody>
      </p:sp>
      <p:sp>
        <p:nvSpPr>
          <p:cNvPr id="53" name="Text 51"/>
          <p:cNvSpPr/>
          <p:nvPr/>
        </p:nvSpPr>
        <p:spPr>
          <a:xfrm>
            <a:off x="566928" y="5157216"/>
            <a:ext cx="914400" cy="217424"/>
          </a:xfrm>
          <a:prstGeom prst="rect">
            <a:avLst/>
          </a:prstGeom>
          <a:noFill/>
          <a:ln/>
        </p:spPr>
        <p:txBody>
          <a:bodyPr wrap="square" lIns="0" tIns="0" rIns="0" bIns="0" rtlCol="0" anchor="t"/>
          <a:lstStyle/>
          <a:p>
            <a:pPr algn="l" indent="0" marL="0">
              <a:lnSpc>
                <a:spcPct val="125000"/>
              </a:lnSpc>
              <a:buNone/>
            </a:pPr>
            <a:r>
              <a:rPr lang="en-US" sz="1000" dirty="0">
                <a:solidFill>
                  <a:srgbClr val="12262E"/>
                </a:solidFill>
                <a:latin typeface="Consolas" pitchFamily="34" charset="0"/>
                <a:ea typeface="Consolas" pitchFamily="34" charset="-122"/>
                <a:cs typeface="Consolas" pitchFamily="34" charset="-120"/>
              </a:rPr>
              <a:t>D11</a:t>
            </a:r>
            <a:endParaRPr lang="en-US" sz="1000" dirty="0"/>
          </a:p>
        </p:txBody>
      </p:sp>
      <p:sp>
        <p:nvSpPr>
          <p:cNvPr id="54" name="Text 52"/>
          <p:cNvSpPr/>
          <p:nvPr/>
        </p:nvSpPr>
        <p:spPr>
          <a:xfrm>
            <a:off x="1508760" y="5157216"/>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A96900"/>
                </a:solidFill>
                <a:latin typeface="Consolas" pitchFamily="34" charset="0"/>
                <a:ea typeface="Consolas" pitchFamily="34" charset="-122"/>
                <a:cs typeface="Consolas" pitchFamily="34" charset="-120"/>
              </a:rPr>
              <a:t>6</a:t>
            </a:r>
            <a:endParaRPr lang="en-US" sz="1000" dirty="0"/>
          </a:p>
        </p:txBody>
      </p:sp>
      <p:sp>
        <p:nvSpPr>
          <p:cNvPr id="55" name="Text 53"/>
          <p:cNvSpPr/>
          <p:nvPr/>
        </p:nvSpPr>
        <p:spPr>
          <a:xfrm>
            <a:off x="2788920" y="5157216"/>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1C7A58"/>
                </a:solidFill>
                <a:latin typeface="Consolas" pitchFamily="34" charset="0"/>
                <a:ea typeface="Consolas" pitchFamily="34" charset="-122"/>
                <a:cs typeface="Consolas" pitchFamily="34" charset="-120"/>
              </a:rPr>
              <a:t>PASS</a:t>
            </a:r>
            <a:endParaRPr lang="en-US" sz="1000" dirty="0"/>
          </a:p>
        </p:txBody>
      </p:sp>
      <p:sp>
        <p:nvSpPr>
          <p:cNvPr id="56" name="Text 54"/>
          <p:cNvSpPr/>
          <p:nvPr/>
        </p:nvSpPr>
        <p:spPr>
          <a:xfrm>
            <a:off x="4069080" y="5157216"/>
            <a:ext cx="7498080" cy="217424"/>
          </a:xfrm>
          <a:prstGeom prst="rect">
            <a:avLst/>
          </a:prstGeom>
          <a:noFill/>
          <a:ln/>
        </p:spPr>
        <p:txBody>
          <a:bodyPr wrap="square" lIns="0" tIns="0" rIns="0" bIns="0" rtlCol="0" anchor="t"/>
          <a:lstStyle/>
          <a:p>
            <a:pPr algn="l" indent="0" marL="0">
              <a:lnSpc>
                <a:spcPct val="125000"/>
              </a:lnSpc>
              <a:buNone/>
            </a:pPr>
            <a:r>
              <a:rPr lang="en-US" sz="1000" dirty="0">
                <a:solidFill>
                  <a:srgbClr val="2B454F"/>
                </a:solidFill>
                <a:latin typeface="Consolas" pitchFamily="34" charset="0"/>
                <a:ea typeface="Consolas" pitchFamily="34" charset="-122"/>
                <a:cs typeface="Consolas" pitchFamily="34" charset="-120"/>
              </a:rPr>
              <a:t>reads CARD-POLICY-V1, deadline 20 Sep</a:t>
            </a:r>
            <a:endParaRPr lang="en-US" sz="1000" dirty="0"/>
          </a:p>
        </p:txBody>
      </p:sp>
      <p:sp>
        <p:nvSpPr>
          <p:cNvPr id="57" name="Text 55"/>
          <p:cNvSpPr/>
          <p:nvPr/>
        </p:nvSpPr>
        <p:spPr>
          <a:xfrm>
            <a:off x="566928" y="5458968"/>
            <a:ext cx="914400" cy="217424"/>
          </a:xfrm>
          <a:prstGeom prst="rect">
            <a:avLst/>
          </a:prstGeom>
          <a:noFill/>
          <a:ln/>
        </p:spPr>
        <p:txBody>
          <a:bodyPr wrap="square" lIns="0" tIns="0" rIns="0" bIns="0" rtlCol="0" anchor="t"/>
          <a:lstStyle/>
          <a:p>
            <a:pPr algn="l" indent="0" marL="0">
              <a:lnSpc>
                <a:spcPct val="125000"/>
              </a:lnSpc>
              <a:buNone/>
            </a:pPr>
            <a:r>
              <a:rPr lang="en-US" sz="1000" dirty="0">
                <a:solidFill>
                  <a:srgbClr val="12262E"/>
                </a:solidFill>
                <a:latin typeface="Consolas" pitchFamily="34" charset="0"/>
                <a:ea typeface="Consolas" pitchFamily="34" charset="-122"/>
                <a:cs typeface="Consolas" pitchFamily="34" charset="-120"/>
              </a:rPr>
              <a:t>D12</a:t>
            </a:r>
            <a:endParaRPr lang="en-US" sz="1000" dirty="0"/>
          </a:p>
        </p:txBody>
      </p:sp>
      <p:sp>
        <p:nvSpPr>
          <p:cNvPr id="58" name="Text 56"/>
          <p:cNvSpPr/>
          <p:nvPr/>
        </p:nvSpPr>
        <p:spPr>
          <a:xfrm>
            <a:off x="1508760" y="5458968"/>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A96900"/>
                </a:solidFill>
                <a:latin typeface="Consolas" pitchFamily="34" charset="0"/>
                <a:ea typeface="Consolas" pitchFamily="34" charset="-122"/>
                <a:cs typeface="Consolas" pitchFamily="34" charset="-120"/>
              </a:rPr>
              <a:t>6</a:t>
            </a:r>
            <a:endParaRPr lang="en-US" sz="1000" dirty="0"/>
          </a:p>
        </p:txBody>
      </p:sp>
      <p:sp>
        <p:nvSpPr>
          <p:cNvPr id="59" name="Text 57"/>
          <p:cNvSpPr/>
          <p:nvPr/>
        </p:nvSpPr>
        <p:spPr>
          <a:xfrm>
            <a:off x="2788920" y="5458968"/>
            <a:ext cx="1097280" cy="217424"/>
          </a:xfrm>
          <a:prstGeom prst="rect">
            <a:avLst/>
          </a:prstGeom>
          <a:noFill/>
          <a:ln/>
        </p:spPr>
        <p:txBody>
          <a:bodyPr wrap="square" lIns="0" tIns="0" rIns="0" bIns="0" rtlCol="0" anchor="t"/>
          <a:lstStyle/>
          <a:p>
            <a:pPr algn="l" indent="0" marL="0">
              <a:lnSpc>
                <a:spcPct val="125000"/>
              </a:lnSpc>
              <a:buNone/>
            </a:pPr>
            <a:r>
              <a:rPr lang="en-US" sz="1000" dirty="0">
                <a:solidFill>
                  <a:srgbClr val="1C7A58"/>
                </a:solidFill>
                <a:latin typeface="Consolas" pitchFamily="34" charset="0"/>
                <a:ea typeface="Consolas" pitchFamily="34" charset="-122"/>
                <a:cs typeface="Consolas" pitchFamily="34" charset="-120"/>
              </a:rPr>
              <a:t>PASS</a:t>
            </a:r>
            <a:endParaRPr lang="en-US" sz="1000" dirty="0"/>
          </a:p>
        </p:txBody>
      </p:sp>
      <p:sp>
        <p:nvSpPr>
          <p:cNvPr id="60" name="Text 58"/>
          <p:cNvSpPr/>
          <p:nvPr/>
        </p:nvSpPr>
        <p:spPr>
          <a:xfrm>
            <a:off x="4069080" y="5458968"/>
            <a:ext cx="7498080" cy="217424"/>
          </a:xfrm>
          <a:prstGeom prst="rect">
            <a:avLst/>
          </a:prstGeom>
          <a:noFill/>
          <a:ln/>
        </p:spPr>
        <p:txBody>
          <a:bodyPr wrap="square" lIns="0" tIns="0" rIns="0" bIns="0" rtlCol="0" anchor="t"/>
          <a:lstStyle/>
          <a:p>
            <a:pPr algn="l" indent="0" marL="0">
              <a:lnSpc>
                <a:spcPct val="125000"/>
              </a:lnSpc>
              <a:buNone/>
            </a:pPr>
            <a:r>
              <a:rPr lang="en-US" sz="1000" dirty="0">
                <a:solidFill>
                  <a:srgbClr val="2B454F"/>
                </a:solidFill>
                <a:latin typeface="Consolas" pitchFamily="34" charset="0"/>
                <a:ea typeface="Consolas" pitchFamily="34" charset="-122"/>
                <a:cs typeface="Consolas" pitchFamily="34" charset="-120"/>
              </a:rPr>
              <a:t>service not received, request information</a:t>
            </a:r>
            <a:endParaRPr lang="en-US" sz="1000" dirty="0"/>
          </a:p>
        </p:txBody>
      </p:sp>
      <p:sp>
        <p:nvSpPr>
          <p:cNvPr id="61" name="Text 59"/>
          <p:cNvSpPr/>
          <p:nvPr/>
        </p:nvSpPr>
        <p:spPr>
          <a:xfrm>
            <a:off x="566928" y="5943600"/>
            <a:ext cx="11055096" cy="217424"/>
          </a:xfrm>
          <a:prstGeom prst="rect">
            <a:avLst/>
          </a:prstGeom>
          <a:noFill/>
          <a:ln/>
        </p:spPr>
        <p:txBody>
          <a:bodyPr wrap="square" lIns="0" tIns="0" rIns="0" bIns="0" rtlCol="0" anchor="t"/>
          <a:lstStyle/>
          <a:p>
            <a:pPr algn="l" indent="0" marL="0">
              <a:lnSpc>
                <a:spcPct val="125000"/>
              </a:lnSpc>
              <a:buNone/>
            </a:pPr>
            <a:r>
              <a:rPr lang="en-US" sz="1000" spc="110" kern="0" dirty="0">
                <a:solidFill>
                  <a:srgbClr val="68777D"/>
                </a:solidFill>
                <a:latin typeface="Consolas" pitchFamily="34" charset="0"/>
                <a:ea typeface="Consolas" pitchFamily="34" charset="-122"/>
                <a:cs typeface="Consolas" pitchFamily="34" charset="-120"/>
              </a:rPr>
              <a:t>SCORED RUN AT 8C3AC7F, 28 OCT 2026  ·  12 / 12 PASS, 0 EXCEPTIONS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566928" y="566928"/>
            <a:ext cx="11057839" cy="0"/>
          </a:xfrm>
          <a:prstGeom prst="line">
            <a:avLst/>
          </a:prstGeom>
          <a:noFill/>
          <a:ln w="12700">
            <a:solidFill>
              <a:srgbClr val="D3CDC0"/>
            </a:solidFill>
            <a:prstDash val="solid"/>
          </a:ln>
        </p:spPr>
      </p:sp>
      <p:sp>
        <p:nvSpPr>
          <p:cNvPr id="3" name="Text 1"/>
          <p:cNvSpPr/>
          <p:nvPr/>
        </p:nvSpPr>
        <p:spPr>
          <a:xfrm>
            <a:off x="566928" y="347472"/>
            <a:ext cx="5486400" cy="201168"/>
          </a:xfrm>
          <a:prstGeom prst="rect">
            <a:avLst/>
          </a:prstGeom>
          <a:noFill/>
          <a:ln/>
        </p:spPr>
        <p:txBody>
          <a:bodyPr wrap="square" lIns="0" tIns="0" rIns="0" bIns="0" rtlCol="0" anchor="ctr"/>
          <a:lstStyle/>
          <a:p>
            <a:pPr indent="0" marL="0">
              <a:lnSpc>
                <a:spcPct val="118000"/>
              </a:lnSpc>
              <a:buNone/>
            </a:pPr>
            <a:r>
              <a:rPr lang="en-US" sz="1000" spc="120" kern="0" dirty="0">
                <a:solidFill>
                  <a:srgbClr val="0D6F6A"/>
                </a:solidFill>
                <a:latin typeface="Consolas" pitchFamily="34" charset="0"/>
                <a:ea typeface="Consolas" pitchFamily="34" charset="-122"/>
                <a:cs typeface="Consolas" pitchFamily="34" charset="-120"/>
              </a:rPr>
              <a:t>APPENDIX A3 · SOURCES AND COMMANDS</a:t>
            </a:r>
            <a:endParaRPr lang="en-US" sz="1000" dirty="0"/>
          </a:p>
        </p:txBody>
      </p:sp>
      <p:sp>
        <p:nvSpPr>
          <p:cNvPr id="4" name="Text 2"/>
          <p:cNvSpPr/>
          <p:nvPr/>
        </p:nvSpPr>
        <p:spPr>
          <a:xfrm>
            <a:off x="7052767" y="347472"/>
            <a:ext cx="4572000" cy="201168"/>
          </a:xfrm>
          <a:prstGeom prst="rect">
            <a:avLst/>
          </a:prstGeom>
          <a:noFill/>
          <a:ln/>
        </p:spPr>
        <p:txBody>
          <a:bodyPr wrap="square" lIns="0" tIns="0" rIns="0" bIns="0" rtlCol="0" anchor="ctr"/>
          <a:lstStyle/>
          <a:p>
            <a:pPr algn="r" indent="0" marL="0">
              <a:lnSpc>
                <a:spcPct val="118000"/>
              </a:lnSpc>
              <a:buNone/>
            </a:pPr>
            <a:r>
              <a:rPr lang="en-US" sz="1000" spc="120" kern="0" dirty="0">
                <a:solidFill>
                  <a:srgbClr val="68777D"/>
                </a:solidFill>
                <a:latin typeface="Consolas" pitchFamily="34" charset="0"/>
                <a:ea typeface="Consolas" pitchFamily="34" charset="-122"/>
                <a:cs typeface="Consolas" pitchFamily="34" charset="-120"/>
              </a:rPr>
              <a:t>LUMEN BANK · DISPUTE COPILOT</a:t>
            </a:r>
            <a:endParaRPr lang="en-US" sz="1000" dirty="0"/>
          </a:p>
        </p:txBody>
      </p:sp>
      <p:sp>
        <p:nvSpPr>
          <p:cNvPr id="5" name="Shape 3"/>
          <p:cNvSpPr/>
          <p:nvPr/>
        </p:nvSpPr>
        <p:spPr>
          <a:xfrm>
            <a:off x="566928" y="6382512"/>
            <a:ext cx="11057839" cy="0"/>
          </a:xfrm>
          <a:prstGeom prst="line">
            <a:avLst/>
          </a:prstGeom>
          <a:noFill/>
          <a:ln w="9525">
            <a:solidFill>
              <a:srgbClr val="E2DDD2"/>
            </a:solidFill>
            <a:prstDash val="solid"/>
          </a:ln>
        </p:spPr>
      </p:sp>
      <p:sp>
        <p:nvSpPr>
          <p:cNvPr id="6" name="Text 4"/>
          <p:cNvSpPr/>
          <p:nvPr/>
        </p:nvSpPr>
        <p:spPr>
          <a:xfrm>
            <a:off x="566928" y="6473952"/>
            <a:ext cx="5486400" cy="219456"/>
          </a:xfrm>
          <a:prstGeom prst="rect">
            <a:avLst/>
          </a:prstGeom>
          <a:noFill/>
          <a:ln/>
        </p:spPr>
        <p:txBody>
          <a:bodyPr wrap="square" lIns="0" tIns="0" rIns="0" bIns="0" rtlCol="0" anchor="t"/>
          <a:lstStyle/>
          <a:p>
            <a:pPr indent="0" marL="0">
              <a:lnSpc>
                <a:spcPct val="118000"/>
              </a:lnSpc>
              <a:buNone/>
            </a:pPr>
            <a:r>
              <a:rPr lang="en-US" sz="1000" dirty="0">
                <a:solidFill>
                  <a:srgbClr val="68777D"/>
                </a:solidFill>
                <a:latin typeface="Consolas" pitchFamily="34" charset="0"/>
                <a:ea typeface="Consolas" pitchFamily="34" charset="-122"/>
                <a:cs typeface="Consolas" pitchFamily="34" charset="-120"/>
              </a:rPr>
              <a:t>Final demo and technical defense · 29 October 2026</a:t>
            </a:r>
            <a:endParaRPr lang="en-US" sz="1000" dirty="0"/>
          </a:p>
        </p:txBody>
      </p:sp>
      <p:sp>
        <p:nvSpPr>
          <p:cNvPr id="7" name="Text 5"/>
          <p:cNvSpPr/>
          <p:nvPr/>
        </p:nvSpPr>
        <p:spPr>
          <a:xfrm>
            <a:off x="9338767" y="6473952"/>
            <a:ext cx="2286000" cy="219456"/>
          </a:xfrm>
          <a:prstGeom prst="rect">
            <a:avLst/>
          </a:prstGeom>
          <a:noFill/>
          <a:ln/>
        </p:spPr>
        <p:txBody>
          <a:bodyPr wrap="square" lIns="0" tIns="0" rIns="0" bIns="0" rtlCol="0" anchor="t"/>
          <a:lstStyle/>
          <a:p>
            <a:pPr algn="r" indent="0" marL="0">
              <a:lnSpc>
                <a:spcPct val="118000"/>
              </a:lnSpc>
              <a:buNone/>
            </a:pPr>
            <a:r>
              <a:rPr lang="en-US" sz="1000" dirty="0">
                <a:solidFill>
                  <a:srgbClr val="68777D"/>
                </a:solidFill>
                <a:latin typeface="Consolas" pitchFamily="34" charset="0"/>
                <a:ea typeface="Consolas" pitchFamily="34" charset="-122"/>
                <a:cs typeface="Consolas" pitchFamily="34" charset="-120"/>
              </a:rPr>
              <a:t>[ 16 / 16 ]</a:t>
            </a:r>
            <a:endParaRPr lang="en-US" sz="1000" dirty="0"/>
          </a:p>
        </p:txBody>
      </p:sp>
      <p:sp>
        <p:nvSpPr>
          <p:cNvPr id="8" name="Text 6"/>
          <p:cNvSpPr/>
          <p:nvPr/>
        </p:nvSpPr>
        <p:spPr>
          <a:xfrm>
            <a:off x="566928" y="1005840"/>
            <a:ext cx="10058400" cy="640080"/>
          </a:xfrm>
          <a:prstGeom prst="rect">
            <a:avLst/>
          </a:prstGeom>
          <a:noFill/>
          <a:ln/>
        </p:spPr>
        <p:txBody>
          <a:bodyPr wrap="square" lIns="0" tIns="0" rIns="0" bIns="0" rtlCol="0" anchor="t"/>
          <a:lstStyle/>
          <a:p>
            <a:pPr indent="0" marL="0">
              <a:lnSpc>
                <a:spcPct val="98000"/>
              </a:lnSpc>
              <a:buNone/>
            </a:pPr>
            <a:r>
              <a:rPr lang="en-US" sz="3400" dirty="0">
                <a:solidFill>
                  <a:srgbClr val="12262E"/>
                </a:solidFill>
                <a:latin typeface="Georgia" pitchFamily="34" charset="0"/>
                <a:ea typeface="Georgia" pitchFamily="34" charset="-122"/>
                <a:cs typeface="Georgia" pitchFamily="34" charset="-120"/>
              </a:rPr>
              <a:t>Where every number comes from.</a:t>
            </a:r>
            <a:endParaRPr lang="en-US" sz="3400" dirty="0"/>
          </a:p>
        </p:txBody>
      </p:sp>
      <p:sp>
        <p:nvSpPr>
          <p:cNvPr id="9" name="Text 7"/>
          <p:cNvSpPr/>
          <p:nvPr/>
        </p:nvSpPr>
        <p:spPr>
          <a:xfrm>
            <a:off x="566928" y="1719072"/>
            <a:ext cx="10607040" cy="298704"/>
          </a:xfrm>
          <a:prstGeom prst="rect">
            <a:avLst/>
          </a:prstGeom>
          <a:noFill/>
          <a:ln/>
        </p:spPr>
        <p:txBody>
          <a:bodyPr wrap="square" lIns="0" tIns="0" rIns="0" bIns="0" rtlCol="0" anchor="t"/>
          <a:lstStyle/>
          <a:p>
            <a:pPr algn="l" indent="0" marL="0">
              <a:lnSpc>
                <a:spcPct val="122000"/>
              </a:lnSpc>
              <a:buNone/>
            </a:pPr>
            <a:r>
              <a:rPr lang="en-US" sz="1500" dirty="0">
                <a:solidFill>
                  <a:srgbClr val="12262E"/>
                </a:solidFill>
                <a:latin typeface="Segoe UI" pitchFamily="34" charset="0"/>
                <a:ea typeface="Segoe UI" pitchFamily="34" charset="-122"/>
                <a:cs typeface="Segoe UI" pitchFamily="34" charset="-120"/>
              </a:rPr>
              <a:t>Read at origin/main 8553bb3 in the worktree .worktrees/lane-deck.</a:t>
            </a:r>
            <a:endParaRPr lang="en-US" sz="1500" dirty="0"/>
          </a:p>
        </p:txBody>
      </p:sp>
      <p:sp>
        <p:nvSpPr>
          <p:cNvPr id="10" name="Text 8"/>
          <p:cNvSpPr/>
          <p:nvPr/>
        </p:nvSpPr>
        <p:spPr>
          <a:xfrm>
            <a:off x="566928" y="2048256"/>
            <a:ext cx="5120640" cy="225552"/>
          </a:xfrm>
          <a:prstGeom prst="rect">
            <a:avLst/>
          </a:prstGeom>
          <a:noFill/>
          <a:ln/>
        </p:spPr>
        <p:txBody>
          <a:bodyPr wrap="square" lIns="0" tIns="0" rIns="0" bIns="0" rtlCol="0" anchor="t"/>
          <a:lstStyle/>
          <a:p>
            <a:pPr algn="l" indent="0" marL="0">
              <a:lnSpc>
                <a:spcPct val="125000"/>
              </a:lnSpc>
              <a:buNone/>
            </a:pPr>
            <a:r>
              <a:rPr lang="en-US" sz="1050" dirty="0">
                <a:solidFill>
                  <a:srgbClr val="12262E"/>
                </a:solidFill>
                <a:latin typeface="Consolas" pitchFamily="34" charset="0"/>
                <a:ea typeface="Consolas" pitchFamily="34" charset="-122"/>
                <a:cs typeface="Consolas" pitchFamily="34" charset="-120"/>
              </a:rPr>
              <a:t>src/contract.py</a:t>
            </a:r>
            <a:endParaRPr lang="en-US" sz="1050" dirty="0"/>
          </a:p>
        </p:txBody>
      </p:sp>
      <p:sp>
        <p:nvSpPr>
          <p:cNvPr id="11" name="Text 9"/>
          <p:cNvSpPr/>
          <p:nvPr/>
        </p:nvSpPr>
        <p:spPr>
          <a:xfrm>
            <a:off x="566928" y="2267712"/>
            <a:ext cx="5029200" cy="201168"/>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1149 lines. Assembly and citations.</a:t>
            </a:r>
            <a:endParaRPr lang="en-US" sz="1250" dirty="0"/>
          </a:p>
        </p:txBody>
      </p:sp>
      <p:sp>
        <p:nvSpPr>
          <p:cNvPr id="12" name="Text 10"/>
          <p:cNvSpPr/>
          <p:nvPr/>
        </p:nvSpPr>
        <p:spPr>
          <a:xfrm>
            <a:off x="6099048" y="2048256"/>
            <a:ext cx="5120640" cy="225552"/>
          </a:xfrm>
          <a:prstGeom prst="rect">
            <a:avLst/>
          </a:prstGeom>
          <a:noFill/>
          <a:ln/>
        </p:spPr>
        <p:txBody>
          <a:bodyPr wrap="square" lIns="0" tIns="0" rIns="0" bIns="0" rtlCol="0" anchor="t"/>
          <a:lstStyle/>
          <a:p>
            <a:pPr algn="l" indent="0" marL="0">
              <a:lnSpc>
                <a:spcPct val="125000"/>
              </a:lnSpc>
              <a:buNone/>
            </a:pPr>
            <a:r>
              <a:rPr lang="en-US" sz="1050" dirty="0">
                <a:solidFill>
                  <a:srgbClr val="12262E"/>
                </a:solidFill>
                <a:latin typeface="Consolas" pitchFamily="34" charset="0"/>
                <a:ea typeface="Consolas" pitchFamily="34" charset="-122"/>
                <a:cs typeface="Consolas" pitchFamily="34" charset="-120"/>
              </a:rPr>
              <a:t>src/contract_records.py</a:t>
            </a:r>
            <a:endParaRPr lang="en-US" sz="1050" dirty="0"/>
          </a:p>
        </p:txBody>
      </p:sp>
      <p:sp>
        <p:nvSpPr>
          <p:cNvPr id="13" name="Text 11"/>
          <p:cNvSpPr/>
          <p:nvPr/>
        </p:nvSpPr>
        <p:spPr>
          <a:xfrm>
            <a:off x="6099048" y="2267712"/>
            <a:ext cx="5029200" cy="201168"/>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561 lines. Contract and meter per case.</a:t>
            </a:r>
            <a:endParaRPr lang="en-US" sz="1250" dirty="0"/>
          </a:p>
        </p:txBody>
      </p:sp>
      <p:sp>
        <p:nvSpPr>
          <p:cNvPr id="14" name="Text 12"/>
          <p:cNvSpPr/>
          <p:nvPr/>
        </p:nvSpPr>
        <p:spPr>
          <a:xfrm>
            <a:off x="566928" y="2615184"/>
            <a:ext cx="5120640" cy="225552"/>
          </a:xfrm>
          <a:prstGeom prst="rect">
            <a:avLst/>
          </a:prstGeom>
          <a:noFill/>
          <a:ln/>
        </p:spPr>
        <p:txBody>
          <a:bodyPr wrap="square" lIns="0" tIns="0" rIns="0" bIns="0" rtlCol="0" anchor="t"/>
          <a:lstStyle/>
          <a:p>
            <a:pPr algn="l" indent="0" marL="0">
              <a:lnSpc>
                <a:spcPct val="125000"/>
              </a:lnSpc>
              <a:buNone/>
            </a:pPr>
            <a:r>
              <a:rPr lang="en-US" sz="1050" dirty="0">
                <a:solidFill>
                  <a:srgbClr val="12262E"/>
                </a:solidFill>
                <a:latin typeface="Consolas" pitchFamily="34" charset="0"/>
                <a:ea typeface="Consolas" pitchFamily="34" charset="-122"/>
                <a:cs typeface="Consolas" pitchFamily="34" charset="-120"/>
              </a:rPr>
              <a:t>src/review_gate.py</a:t>
            </a:r>
            <a:endParaRPr lang="en-US" sz="1050" dirty="0"/>
          </a:p>
        </p:txBody>
      </p:sp>
      <p:sp>
        <p:nvSpPr>
          <p:cNvPr id="15" name="Text 13"/>
          <p:cNvSpPr/>
          <p:nvPr/>
        </p:nvSpPr>
        <p:spPr>
          <a:xfrm>
            <a:off x="566928" y="2834640"/>
            <a:ext cx="5029200" cy="201168"/>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227 lines. Draft hash, 403, 409.</a:t>
            </a:r>
            <a:endParaRPr lang="en-US" sz="1250" dirty="0"/>
          </a:p>
        </p:txBody>
      </p:sp>
      <p:sp>
        <p:nvSpPr>
          <p:cNvPr id="16" name="Text 14"/>
          <p:cNvSpPr/>
          <p:nvPr/>
        </p:nvSpPr>
        <p:spPr>
          <a:xfrm>
            <a:off x="6099048" y="2615184"/>
            <a:ext cx="5120640" cy="225552"/>
          </a:xfrm>
          <a:prstGeom prst="rect">
            <a:avLst/>
          </a:prstGeom>
          <a:noFill/>
          <a:ln/>
        </p:spPr>
        <p:txBody>
          <a:bodyPr wrap="square" lIns="0" tIns="0" rIns="0" bIns="0" rtlCol="0" anchor="t"/>
          <a:lstStyle/>
          <a:p>
            <a:pPr algn="l" indent="0" marL="0">
              <a:lnSpc>
                <a:spcPct val="125000"/>
              </a:lnSpc>
              <a:buNone/>
            </a:pPr>
            <a:r>
              <a:rPr lang="en-US" sz="1050" dirty="0">
                <a:solidFill>
                  <a:srgbClr val="12262E"/>
                </a:solidFill>
                <a:latin typeface="Consolas" pitchFamily="34" charset="0"/>
                <a:ea typeface="Consolas" pitchFamily="34" charset="-122"/>
                <a:cs typeface="Consolas" pitchFamily="34" charset="-120"/>
              </a:rPr>
              <a:t>src/untrusted.py</a:t>
            </a:r>
            <a:endParaRPr lang="en-US" sz="1050" dirty="0"/>
          </a:p>
        </p:txBody>
      </p:sp>
      <p:sp>
        <p:nvSpPr>
          <p:cNvPr id="17" name="Text 15"/>
          <p:cNvSpPr/>
          <p:nvPr/>
        </p:nvSpPr>
        <p:spPr>
          <a:xfrm>
            <a:off x="6099048" y="2834640"/>
            <a:ext cx="5029200" cy="201168"/>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220 lines. Evidence, never instructions.</a:t>
            </a:r>
            <a:endParaRPr lang="en-US" sz="1250" dirty="0"/>
          </a:p>
        </p:txBody>
      </p:sp>
      <p:sp>
        <p:nvSpPr>
          <p:cNvPr id="18" name="Text 16"/>
          <p:cNvSpPr/>
          <p:nvPr/>
        </p:nvSpPr>
        <p:spPr>
          <a:xfrm>
            <a:off x="566928" y="3182112"/>
            <a:ext cx="5120640" cy="225552"/>
          </a:xfrm>
          <a:prstGeom prst="rect">
            <a:avLst/>
          </a:prstGeom>
          <a:noFill/>
          <a:ln/>
        </p:spPr>
        <p:txBody>
          <a:bodyPr wrap="square" lIns="0" tIns="0" rIns="0" bIns="0" rtlCol="0" anchor="t"/>
          <a:lstStyle/>
          <a:p>
            <a:pPr algn="l" indent="0" marL="0">
              <a:lnSpc>
                <a:spcPct val="125000"/>
              </a:lnSpc>
              <a:buNone/>
            </a:pPr>
            <a:r>
              <a:rPr lang="en-US" sz="1050" dirty="0">
                <a:solidFill>
                  <a:srgbClr val="12262E"/>
                </a:solidFill>
                <a:latin typeface="Consolas" pitchFamily="34" charset="0"/>
                <a:ea typeface="Consolas" pitchFamily="34" charset="-122"/>
                <a:cs typeface="Consolas" pitchFamily="34" charset="-120"/>
              </a:rPr>
              <a:t>src/resilience.py</a:t>
            </a:r>
            <a:endParaRPr lang="en-US" sz="1050" dirty="0"/>
          </a:p>
        </p:txBody>
      </p:sp>
      <p:sp>
        <p:nvSpPr>
          <p:cNvPr id="19" name="Text 17"/>
          <p:cNvSpPr/>
          <p:nvPr/>
        </p:nvSpPr>
        <p:spPr>
          <a:xfrm>
            <a:off x="566928" y="3401568"/>
            <a:ext cx="5029200" cy="201168"/>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192 lines. The ladder, wired.</a:t>
            </a:r>
            <a:endParaRPr lang="en-US" sz="1250" dirty="0"/>
          </a:p>
        </p:txBody>
      </p:sp>
      <p:sp>
        <p:nvSpPr>
          <p:cNvPr id="20" name="Text 18"/>
          <p:cNvSpPr/>
          <p:nvPr/>
        </p:nvSpPr>
        <p:spPr>
          <a:xfrm>
            <a:off x="6099048" y="3182112"/>
            <a:ext cx="5120640" cy="225552"/>
          </a:xfrm>
          <a:prstGeom prst="rect">
            <a:avLst/>
          </a:prstGeom>
          <a:noFill/>
          <a:ln/>
        </p:spPr>
        <p:txBody>
          <a:bodyPr wrap="square" lIns="0" tIns="0" rIns="0" bIns="0" rtlCol="0" anchor="t"/>
          <a:lstStyle/>
          <a:p>
            <a:pPr algn="l" indent="0" marL="0">
              <a:lnSpc>
                <a:spcPct val="125000"/>
              </a:lnSpc>
              <a:buNone/>
            </a:pPr>
            <a:r>
              <a:rPr lang="en-US" sz="1050" dirty="0">
                <a:solidFill>
                  <a:srgbClr val="12262E"/>
                </a:solidFill>
                <a:latin typeface="Consolas" pitchFamily="34" charset="0"/>
                <a:ea typeface="Consolas" pitchFamily="34" charset="-122"/>
                <a:cs typeface="Consolas" pitchFamily="34" charset="-120"/>
              </a:rPr>
              <a:t>tools/runtime.py</a:t>
            </a:r>
            <a:endParaRPr lang="en-US" sz="1050" dirty="0"/>
          </a:p>
        </p:txBody>
      </p:sp>
      <p:sp>
        <p:nvSpPr>
          <p:cNvPr id="21" name="Text 19"/>
          <p:cNvSpPr/>
          <p:nvPr/>
        </p:nvSpPr>
        <p:spPr>
          <a:xfrm>
            <a:off x="6099048" y="3401568"/>
            <a:ext cx="5029200" cy="201168"/>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Mock bank and the approval gate.</a:t>
            </a:r>
            <a:endParaRPr lang="en-US" sz="1250" dirty="0"/>
          </a:p>
        </p:txBody>
      </p:sp>
      <p:sp>
        <p:nvSpPr>
          <p:cNvPr id="22" name="Text 20"/>
          <p:cNvSpPr/>
          <p:nvPr/>
        </p:nvSpPr>
        <p:spPr>
          <a:xfrm>
            <a:off x="566928" y="3749040"/>
            <a:ext cx="5120640" cy="225552"/>
          </a:xfrm>
          <a:prstGeom prst="rect">
            <a:avLst/>
          </a:prstGeom>
          <a:noFill/>
          <a:ln/>
        </p:spPr>
        <p:txBody>
          <a:bodyPr wrap="square" lIns="0" tIns="0" rIns="0" bIns="0" rtlCol="0" anchor="t"/>
          <a:lstStyle/>
          <a:p>
            <a:pPr algn="l" indent="0" marL="0">
              <a:lnSpc>
                <a:spcPct val="125000"/>
              </a:lnSpc>
              <a:buNone/>
            </a:pPr>
            <a:r>
              <a:rPr lang="en-US" sz="1050" dirty="0">
                <a:solidFill>
                  <a:srgbClr val="12262E"/>
                </a:solidFill>
                <a:latin typeface="Consolas" pitchFamily="34" charset="0"/>
                <a:ea typeface="Consolas" pitchFamily="34" charset="-122"/>
                <a:cs typeface="Consolas" pitchFamily="34" charset="-120"/>
              </a:rPr>
              <a:t>tools/scored_run.py</a:t>
            </a:r>
            <a:endParaRPr lang="en-US" sz="1050" dirty="0"/>
          </a:p>
        </p:txBody>
      </p:sp>
      <p:sp>
        <p:nvSpPr>
          <p:cNvPr id="23" name="Text 21"/>
          <p:cNvSpPr/>
          <p:nvPr/>
        </p:nvSpPr>
        <p:spPr>
          <a:xfrm>
            <a:off x="566928" y="3968496"/>
            <a:ext cx="5029200" cy="201168"/>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The 12 cases and the report.</a:t>
            </a:r>
            <a:endParaRPr lang="en-US" sz="1250" dirty="0"/>
          </a:p>
        </p:txBody>
      </p:sp>
      <p:sp>
        <p:nvSpPr>
          <p:cNvPr id="24" name="Text 22"/>
          <p:cNvSpPr/>
          <p:nvPr/>
        </p:nvSpPr>
        <p:spPr>
          <a:xfrm>
            <a:off x="6099048" y="3749040"/>
            <a:ext cx="5120640" cy="225552"/>
          </a:xfrm>
          <a:prstGeom prst="rect">
            <a:avLst/>
          </a:prstGeom>
          <a:noFill/>
          <a:ln/>
        </p:spPr>
        <p:txBody>
          <a:bodyPr wrap="square" lIns="0" tIns="0" rIns="0" bIns="0" rtlCol="0" anchor="t"/>
          <a:lstStyle/>
          <a:p>
            <a:pPr algn="l" indent="0" marL="0">
              <a:lnSpc>
                <a:spcPct val="125000"/>
              </a:lnSpc>
              <a:buNone/>
            </a:pPr>
            <a:r>
              <a:rPr lang="en-US" sz="1050" dirty="0">
                <a:solidFill>
                  <a:srgbClr val="12262E"/>
                </a:solidFill>
                <a:latin typeface="Consolas" pitchFamily="34" charset="0"/>
                <a:ea typeface="Consolas" pitchFamily="34" charset="-122"/>
                <a:cs typeface="Consolas" pitchFamily="34" charset="-120"/>
              </a:rPr>
              <a:t>docs/deck/FACTS.md</a:t>
            </a:r>
            <a:endParaRPr lang="en-US" sz="1050" dirty="0"/>
          </a:p>
        </p:txBody>
      </p:sp>
      <p:sp>
        <p:nvSpPr>
          <p:cNvPr id="25" name="Text 23"/>
          <p:cNvSpPr/>
          <p:nvPr/>
        </p:nvSpPr>
        <p:spPr>
          <a:xfrm>
            <a:off x="6099048" y="3968496"/>
            <a:ext cx="5029200" cy="201168"/>
          </a:xfrm>
          <a:prstGeom prst="rect">
            <a:avLst/>
          </a:prstGeom>
          <a:noFill/>
          <a:ln/>
        </p:spPr>
        <p:txBody>
          <a:bodyPr wrap="square" lIns="0" tIns="0" rIns="0" bIns="0" rtlCol="0" anchor="t"/>
          <a:lstStyle/>
          <a:p>
            <a:pPr algn="l" indent="0" marL="0">
              <a:lnSpc>
                <a:spcPct val="122000"/>
              </a:lnSpc>
              <a:buNone/>
            </a:pPr>
            <a:r>
              <a:rPr lang="en-US" sz="1250" dirty="0">
                <a:solidFill>
                  <a:srgbClr val="2B454F"/>
                </a:solidFill>
                <a:latin typeface="Segoe UI" pitchFamily="34" charset="0"/>
                <a:ea typeface="Segoe UI" pitchFamily="34" charset="-122"/>
                <a:cs typeface="Segoe UI" pitchFamily="34" charset="-120"/>
              </a:rPr>
              <a:t>The number sheet behind every figure.</a:t>
            </a:r>
            <a:endParaRPr lang="en-US" sz="1250" dirty="0"/>
          </a:p>
        </p:txBody>
      </p:sp>
      <p:sp>
        <p:nvSpPr>
          <p:cNvPr id="26" name="Shape 24"/>
          <p:cNvSpPr/>
          <p:nvPr/>
        </p:nvSpPr>
        <p:spPr>
          <a:xfrm>
            <a:off x="566928" y="4389120"/>
            <a:ext cx="11055096" cy="1243584"/>
          </a:xfrm>
          <a:prstGeom prst="rect">
            <a:avLst/>
          </a:prstGeom>
          <a:solidFill>
            <a:srgbClr val="0A1C24"/>
          </a:solidFill>
          <a:ln w="9525">
            <a:solidFill>
              <a:srgbClr val="0A1C24"/>
            </a:solidFill>
            <a:prstDash val="solid"/>
          </a:ln>
        </p:spPr>
      </p:sp>
      <p:sp>
        <p:nvSpPr>
          <p:cNvPr id="27" name="Text 25"/>
          <p:cNvSpPr/>
          <p:nvPr/>
        </p:nvSpPr>
        <p:spPr>
          <a:xfrm>
            <a:off x="786384" y="4480560"/>
            <a:ext cx="6583680" cy="217424"/>
          </a:xfrm>
          <a:prstGeom prst="rect">
            <a:avLst/>
          </a:prstGeom>
          <a:noFill/>
          <a:ln/>
        </p:spPr>
        <p:txBody>
          <a:bodyPr wrap="square" lIns="0" tIns="0" rIns="0" bIns="0" rtlCol="0" anchor="t"/>
          <a:lstStyle/>
          <a:p>
            <a:pPr algn="l" indent="0" marL="0">
              <a:lnSpc>
                <a:spcPct val="125000"/>
              </a:lnSpc>
              <a:buNone/>
            </a:pPr>
            <a:r>
              <a:rPr lang="en-US" sz="1000" spc="110" kern="0" dirty="0">
                <a:solidFill>
                  <a:srgbClr val="7FBDB4"/>
                </a:solidFill>
                <a:latin typeface="Consolas" pitchFamily="34" charset="0"/>
                <a:ea typeface="Consolas" pitchFamily="34" charset="-122"/>
                <a:cs typeface="Consolas" pitchFamily="34" charset="-120"/>
              </a:rPr>
              <a:t>NUMBERS  ·  FROM .WORKTREES/DECK-MAIN</a:t>
            </a:r>
            <a:endParaRPr lang="en-US" sz="1000" dirty="0"/>
          </a:p>
        </p:txBody>
      </p:sp>
      <p:sp>
        <p:nvSpPr>
          <p:cNvPr id="28" name="Text 26"/>
          <p:cNvSpPr/>
          <p:nvPr/>
        </p:nvSpPr>
        <p:spPr>
          <a:xfrm>
            <a:off x="786384" y="4681728"/>
            <a:ext cx="10607040" cy="219456"/>
          </a:xfrm>
          <a:prstGeom prst="rect">
            <a:avLst/>
          </a:prstGeom>
          <a:noFill/>
          <a:ln/>
        </p:spPr>
        <p:txBody>
          <a:bodyPr wrap="square" lIns="0" tIns="0" rIns="0" bIns="0" rtlCol="0" anchor="t"/>
          <a:lstStyle/>
          <a:p>
            <a:pPr indent="0" marL="0">
              <a:lnSpc>
                <a:spcPct val="118000"/>
              </a:lnSpc>
              <a:buNone/>
            </a:pPr>
            <a:r>
              <a:rPr lang="en-US" sz="1000" dirty="0">
                <a:solidFill>
                  <a:srgbClr val="F4EFE3"/>
                </a:solidFill>
                <a:latin typeface="Consolas" pitchFamily="34" charset="0"/>
                <a:ea typeface="Consolas" pitchFamily="34" charset="-122"/>
                <a:cs typeface="Consolas" pitchFamily="34" charset="-120"/>
              </a:rPr>
              <a:t>python -m tools.runtime serve --data data/dev --state .state/mock.sqlite3 --port 8899</a:t>
            </a:r>
            <a:endParaRPr lang="en-US" sz="1000" dirty="0"/>
          </a:p>
        </p:txBody>
      </p:sp>
      <p:sp>
        <p:nvSpPr>
          <p:cNvPr id="29" name="Text 27"/>
          <p:cNvSpPr/>
          <p:nvPr/>
        </p:nvSpPr>
        <p:spPr>
          <a:xfrm>
            <a:off x="786384" y="4882896"/>
            <a:ext cx="10607040" cy="219456"/>
          </a:xfrm>
          <a:prstGeom prst="rect">
            <a:avLst/>
          </a:prstGeom>
          <a:noFill/>
          <a:ln/>
        </p:spPr>
        <p:txBody>
          <a:bodyPr wrap="square" lIns="0" tIns="0" rIns="0" bIns="0" rtlCol="0" anchor="t"/>
          <a:lstStyle/>
          <a:p>
            <a:pPr indent="0" marL="0">
              <a:lnSpc>
                <a:spcPct val="118000"/>
              </a:lnSpc>
              <a:buNone/>
            </a:pPr>
            <a:r>
              <a:rPr lang="en-US" sz="1000" dirty="0">
                <a:solidFill>
                  <a:srgbClr val="F4EFE3"/>
                </a:solidFill>
                <a:latin typeface="Consolas" pitchFamily="34" charset="0"/>
                <a:ea typeface="Consolas" pitchFamily="34" charset="-122"/>
                <a:cs typeface="Consolas" pitchFamily="34" charset="-120"/>
              </a:rPr>
              <a:t>.venv/Scripts/python.exe -m pytest -q</a:t>
            </a:r>
            <a:endParaRPr lang="en-US" sz="1000" dirty="0"/>
          </a:p>
        </p:txBody>
      </p:sp>
      <p:sp>
        <p:nvSpPr>
          <p:cNvPr id="30" name="Text 28"/>
          <p:cNvSpPr/>
          <p:nvPr/>
        </p:nvSpPr>
        <p:spPr>
          <a:xfrm>
            <a:off x="786384" y="5120640"/>
            <a:ext cx="4023360" cy="217424"/>
          </a:xfrm>
          <a:prstGeom prst="rect">
            <a:avLst/>
          </a:prstGeom>
          <a:noFill/>
          <a:ln/>
        </p:spPr>
        <p:txBody>
          <a:bodyPr wrap="square" lIns="0" tIns="0" rIns="0" bIns="0" rtlCol="0" anchor="t"/>
          <a:lstStyle/>
          <a:p>
            <a:pPr algn="l" indent="0" marL="0">
              <a:lnSpc>
                <a:spcPct val="125000"/>
              </a:lnSpc>
              <a:buNone/>
            </a:pPr>
            <a:r>
              <a:rPr lang="en-US" sz="1000" spc="110" kern="0" dirty="0">
                <a:solidFill>
                  <a:srgbClr val="7FBDB4"/>
                </a:solidFill>
                <a:latin typeface="Consolas" pitchFamily="34" charset="0"/>
                <a:ea typeface="Consolas" pitchFamily="34" charset="-122"/>
                <a:cs typeface="Consolas" pitchFamily="34" charset="-120"/>
              </a:rPr>
              <a:t>SCORED RUN  ·  SAME WORKTREE</a:t>
            </a:r>
            <a:endParaRPr lang="en-US" sz="1000" dirty="0"/>
          </a:p>
        </p:txBody>
      </p:sp>
      <p:sp>
        <p:nvSpPr>
          <p:cNvPr id="31" name="Text 29"/>
          <p:cNvSpPr/>
          <p:nvPr/>
        </p:nvSpPr>
        <p:spPr>
          <a:xfrm>
            <a:off x="5852160" y="5120640"/>
            <a:ext cx="4023360" cy="217424"/>
          </a:xfrm>
          <a:prstGeom prst="rect">
            <a:avLst/>
          </a:prstGeom>
          <a:noFill/>
          <a:ln/>
        </p:spPr>
        <p:txBody>
          <a:bodyPr wrap="square" lIns="0" tIns="0" rIns="0" bIns="0" rtlCol="0" anchor="t"/>
          <a:lstStyle/>
          <a:p>
            <a:pPr algn="l" indent="0" marL="0">
              <a:lnSpc>
                <a:spcPct val="125000"/>
              </a:lnSpc>
              <a:buNone/>
            </a:pPr>
            <a:r>
              <a:rPr lang="en-US" sz="1000" spc="110" kern="0" dirty="0">
                <a:solidFill>
                  <a:srgbClr val="7FBDB4"/>
                </a:solidFill>
                <a:latin typeface="Consolas" pitchFamily="34" charset="0"/>
                <a:ea typeface="Consolas" pitchFamily="34" charset="-122"/>
                <a:cs typeface="Consolas" pitchFamily="34" charset="-120"/>
              </a:rPr>
              <a:t>DECK  ·  FROM THE REPO ROOT</a:t>
            </a:r>
            <a:endParaRPr lang="en-US" sz="1000" dirty="0"/>
          </a:p>
        </p:txBody>
      </p:sp>
      <p:sp>
        <p:nvSpPr>
          <p:cNvPr id="32" name="Text 30"/>
          <p:cNvSpPr/>
          <p:nvPr/>
        </p:nvSpPr>
        <p:spPr>
          <a:xfrm>
            <a:off x="786384" y="5321808"/>
            <a:ext cx="4937760" cy="219456"/>
          </a:xfrm>
          <a:prstGeom prst="rect">
            <a:avLst/>
          </a:prstGeom>
          <a:noFill/>
          <a:ln/>
        </p:spPr>
        <p:txBody>
          <a:bodyPr wrap="square" lIns="0" tIns="0" rIns="0" bIns="0" rtlCol="0" anchor="t"/>
          <a:lstStyle/>
          <a:p>
            <a:pPr indent="0" marL="0">
              <a:lnSpc>
                <a:spcPct val="118000"/>
              </a:lnSpc>
              <a:buNone/>
            </a:pPr>
            <a:r>
              <a:rPr lang="en-US" sz="1000" dirty="0">
                <a:solidFill>
                  <a:srgbClr val="F4EFE3"/>
                </a:solidFill>
                <a:latin typeface="Consolas" pitchFamily="34" charset="0"/>
                <a:ea typeface="Consolas" pitchFamily="34" charset="-122"/>
                <a:cs typeface="Consolas" pitchFamily="34" charset="-120"/>
              </a:rPr>
              <a:t>python tools/scored_run.py --base-url http://127.0.0.1:8899</a:t>
            </a:r>
            <a:endParaRPr lang="en-US" sz="1000" dirty="0"/>
          </a:p>
        </p:txBody>
      </p:sp>
      <p:sp>
        <p:nvSpPr>
          <p:cNvPr id="33" name="Text 31"/>
          <p:cNvSpPr/>
          <p:nvPr/>
        </p:nvSpPr>
        <p:spPr>
          <a:xfrm>
            <a:off x="5852160" y="5321808"/>
            <a:ext cx="5120640" cy="219456"/>
          </a:xfrm>
          <a:prstGeom prst="rect">
            <a:avLst/>
          </a:prstGeom>
          <a:noFill/>
          <a:ln/>
        </p:spPr>
        <p:txBody>
          <a:bodyPr wrap="square" lIns="0" tIns="0" rIns="0" bIns="0" rtlCol="0" anchor="t"/>
          <a:lstStyle/>
          <a:p>
            <a:pPr indent="0" marL="0">
              <a:lnSpc>
                <a:spcPct val="118000"/>
              </a:lnSpc>
              <a:buNone/>
            </a:pPr>
            <a:r>
              <a:rPr lang="en-US" sz="1000" dirty="0">
                <a:solidFill>
                  <a:srgbClr val="F4EFE3"/>
                </a:solidFill>
                <a:latin typeface="Consolas" pitchFamily="34" charset="0"/>
                <a:ea typeface="Consolas" pitchFamily="34" charset="-122"/>
                <a:cs typeface="Consolas" pitchFamily="34" charset="-120"/>
              </a:rPr>
              <a:t>bash docs/deck/build/build.sh</a:t>
            </a:r>
            <a:endParaRPr lang="en-US" sz="1000" dirty="0"/>
          </a:p>
        </p:txBody>
      </p:sp>
      <p:sp>
        <p:nvSpPr>
          <p:cNvPr id="34" name="Text 32"/>
          <p:cNvSpPr/>
          <p:nvPr/>
        </p:nvSpPr>
        <p:spPr>
          <a:xfrm>
            <a:off x="566928" y="5815584"/>
            <a:ext cx="11055096" cy="217424"/>
          </a:xfrm>
          <a:prstGeom prst="rect">
            <a:avLst/>
          </a:prstGeom>
          <a:noFill/>
          <a:ln/>
        </p:spPr>
        <p:txBody>
          <a:bodyPr wrap="square" lIns="0" tIns="0" rIns="0" bIns="0" rtlCol="0" anchor="t"/>
          <a:lstStyle/>
          <a:p>
            <a:pPr algn="l" indent="0" marL="0">
              <a:lnSpc>
                <a:spcPct val="125000"/>
              </a:lnSpc>
              <a:buNone/>
            </a:pPr>
            <a:r>
              <a:rPr lang="en-US" sz="1000" dirty="0">
                <a:solidFill>
                  <a:srgbClr val="68777D"/>
                </a:solidFill>
                <a:latin typeface="Consolas" pitchFamily="34" charset="0"/>
                <a:ea typeface="Consolas" pitchFamily="34" charset="-122"/>
                <a:cs typeface="Consolas" pitchFamily="34" charset="-120"/>
              </a:rPr>
              <a:t>The venv runs the suite; the mock serves the scored run.</a:t>
            </a:r>
            <a:endParaRPr lang="en-US" sz="1000" dirty="0"/>
          </a:p>
        </p:txBody>
      </p:sp>
      <p:sp>
        <p:nvSpPr>
          <p:cNvPr id="35" name="Text 33"/>
          <p:cNvSpPr/>
          <p:nvPr/>
        </p:nvSpPr>
        <p:spPr>
          <a:xfrm>
            <a:off x="566928" y="6035040"/>
            <a:ext cx="11055096" cy="217424"/>
          </a:xfrm>
          <a:prstGeom prst="rect">
            <a:avLst/>
          </a:prstGeom>
          <a:noFill/>
          <a:ln/>
        </p:spPr>
        <p:txBody>
          <a:bodyPr wrap="square" lIns="0" tIns="0" rIns="0" bIns="0" rtlCol="0" anchor="t"/>
          <a:lstStyle/>
          <a:p>
            <a:pPr algn="l" indent="0" marL="0">
              <a:lnSpc>
                <a:spcPct val="125000"/>
              </a:lnSpc>
              <a:buNone/>
            </a:pPr>
            <a:r>
              <a:rPr lang="en-US" sz="1000" spc="110" kern="0" dirty="0">
                <a:solidFill>
                  <a:srgbClr val="68777D"/>
                </a:solidFill>
                <a:latin typeface="Consolas" pitchFamily="34" charset="0"/>
                <a:ea typeface="Consolas" pitchFamily="34" charset="-122"/>
                <a:cs typeface="Consolas" pitchFamily="34" charset="-120"/>
              </a:rPr>
              <a:t>RERUN THE SCORED RUN BEFORE QUOTING ANY NUMBER FROM THIS PAGE.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Coforge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Lumen Bank dispute copilot, final demo and technical defense</dc:title>
  <dc:subject>PptxGenJS Presentation</dc:subject>
  <dc:creator>Kanit, Mani, Zach</dc:creator>
  <cp:lastModifiedBy>Kanit, Mani, Zach</cp:lastModifiedBy>
  <cp:revision>1</cp:revision>
  <dcterms:created xsi:type="dcterms:W3CDTF">2026-10-28T16:05:59Z</dcterms:created>
  <dcterms:modified xsi:type="dcterms:W3CDTF">2026-10-28T16:05:59Z</dcterms:modified>
</cp:coreProperties>
</file>