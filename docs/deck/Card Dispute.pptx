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handoutMasters/handoutMaster1.xml" ContentType="application/vnd.openxmlformats-officedocument.presentationml.handoutMaster+xml"/>
  <Override PartName="/ppt/media/image13.svg" ContentType="image/svg+xml"/>
  <Override PartName="/ppt/media/image1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86" r:id="rId3"/>
    <p:sldId id="287" r:id="rId4"/>
    <p:sldId id="290" r:id="rId5"/>
    <p:sldId id="293" r:id="rId6"/>
    <p:sldId id="288" r:id="rId7"/>
    <p:sldId id="296" r:id="rId8"/>
    <p:sldId id="298" r:id="rId9"/>
    <p:sldId id="299" r:id="rId10"/>
    <p:sldId id="307" r:id="rId11"/>
    <p:sldId id="310" r:id="rId12"/>
    <p:sldId id="311" r:id="rId13"/>
    <p:sldId id="274" r:id="rId14"/>
    <p:sldId id="312" r:id="rId25"/>
    <p:sldId id="304" r:id="rId15"/>
    <p:sldId id="280"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rk Theme" id="{853320B6-DD44-4FF8-A1D1-BE9E7E36AD2D}">
          <p14:sldIdLst>
            <p14:sldId id="256"/>
            <p14:sldId id="286"/>
            <p14:sldId id="287"/>
            <p14:sldId id="290"/>
            <p14:sldId id="293"/>
            <p14:sldId id="288"/>
            <p14:sldId id="296"/>
            <p14:sldId id="298"/>
            <p14:sldId id="299"/>
            <p14:sldId id="307"/>
            <p14:sldId id="310"/>
            <p14:sldId id="311"/>
            <p14:sldId id="274"/>
            <p14:sldId id="304"/>
            <p14:sldId id="280"/>
            <p14:sldId id="269"/>
          </p14:sldIdLst>
        </p14:section>
      </p14:sectionLst>
    </p:ext>
    <p:ext uri="{EFAFB233-063F-42B5-8137-9DF3F51BA10A}">
      <p15:sldGuideLst xmlns:p15="http://schemas.microsoft.com/office/powerpoint/2012/main">
        <p15:guide id="1" orient="horz" pos="4201" userDrawn="1">
          <p15:clr>
            <a:srgbClr val="A4A3A4"/>
          </p15:clr>
        </p15:guide>
        <p15:guide id="2"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F55"/>
    <a:srgbClr val="082340"/>
    <a:srgbClr val="3489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1" dt="2026-10-28T21:06:55.262"/>
    <p1510:client id="{5CB7AF8E-ABEC-78F6-38B2-0EE23F58F74D}" v="49" dt="2026-10-29T01:13:57.611"/>
    <p1510:client id="{64643C11-4A88-C9AC-3A40-3B6B03A51D26}" v="53" dt="2026-10-28T14:13:36.113"/>
    <p1510:client id="{77F81115-FEB9-FB80-856F-BBFC2D02D55C}" v="27" dt="2026-10-29T02:08:49.578"/>
    <p1510:client id="{9FCF49B3-2E7D-634D-A4A7-02FA02076824}" v="1297" dt="2026-10-29T01:54:09.647"/>
    <p1510:client id="{B50226EE-0082-8527-8139-F389AEBE6615}" v="6" dt="2026-10-28T21:40:35.611"/>
    <p1510:client id="{E1252C0E-4A94-063C-CF07-AF644A41673B}" v="58" dt="2026-10-28T20:26:22.852"/>
    <p1510:client id="{F0DEB0D9-7D33-2A61-A2AC-D1B79362BD27}" v="1229" dt="2026-10-28T19:33:03.8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4201"/>
        <p:guide pos="37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openxmlformats.org/officeDocument/2006/relationships/slide" Target="slides/slid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9AA8B8"/>
            </a:solidFill>
            <a:ln>
              <a:noFill/>
            </a:ln>
          </c:spPr>
          <c:invertIfNegative val="1"/>
          <c:dPt>
            <c:idx val="1"/>
            <c:invertIfNegative val="1"/>
            <c:bubble3D val="0"/>
            <c:spPr>
              <a:solidFill>
                <a:srgbClr val="FBAE40"/>
              </a:solidFill>
              <a:ln>
                <a:noFill/>
              </a:ln>
            </c:spPr>
            <c:extLst>
              <c:ext xmlns:c16="http://schemas.microsoft.com/office/drawing/2014/chart" uri="{C3380CC4-5D6E-409C-BE32-E72D297353CC}">
                <c16:uniqueId val="{00000001-A241-4042-9779-D033B0550CA2}"/>
              </c:ext>
            </c:extLst>
          </c:dPt>
          <c:dLbls>
            <c:numFmt formatCode="#,##0" sourceLinked="0"/>
            <c:spPr>
              <a:noFill/>
              <a:ln>
                <a:noFill/>
              </a:ln>
              <a:effectLst/>
            </c:spPr>
            <c:txPr>
              <a:bodyPr wrap="none"/>
              <a:lstStyle/>
              <a:p>
                <a:pPr>
                  <a:defRPr sz="1600" b="1">
                    <a:solidFill>
                      <a:srgbClr val="102E4C"/>
                    </a:solidFill>
                    <a:latin typeface="Tahoma"/>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2"/>
              <c:pt idx="0">
                <c:v>Procedure today</c:v>
              </c:pt>
              <c:pt idx="1">
                <c:v>One pipeline run</c:v>
              </c:pt>
            </c:strLit>
          </c:cat>
          <c:val>
            <c:numLit>
              <c:formatCode>General</c:formatCode>
              <c:ptCount val="2"/>
              <c:pt idx="0">
                <c:v>7</c:v>
              </c:pt>
              <c:pt idx="1">
                <c:v>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A241-4042-9779-D033B0550CA2}"/>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3CBD2"/>
            </a:solidFill>
          </a:ln>
        </c:spPr>
        <c:txPr>
          <a:bodyPr rot="0" vert="horz"/>
          <a:lstStyle/>
          <a:p>
            <a:pPr>
              <a:defRPr sz="1600" b="0">
                <a:solidFill>
                  <a:srgbClr val="102E4C"/>
                </a:solidFill>
                <a:latin typeface="Tahoma"/>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A3D31D-810B-99F7-5656-4C8B686ABE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0418C48-3907-3F44-6250-F549104013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0ED21D-057D-44DF-AB38-412652D31716}" type="datetimeFigureOut">
              <a:rPr lang="en-IN" smtClean="0"/>
              <a:t>28-10-2026</a:t>
            </a:fld>
            <a:endParaRPr lang="en-IN"/>
          </a:p>
        </p:txBody>
      </p:sp>
      <p:sp>
        <p:nvSpPr>
          <p:cNvPr id="4" name="Footer Placeholder 3">
            <a:extLst>
              <a:ext uri="{FF2B5EF4-FFF2-40B4-BE49-F238E27FC236}">
                <a16:creationId xmlns:a16="http://schemas.microsoft.com/office/drawing/2014/main" id="{CF0D6BDE-A5AB-0F17-474F-6C9335C111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77BA22C-FC0B-001C-8F65-479CB1544A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110DEB-FB5D-48B6-8981-9641A5E063E5}" type="slidenum">
              <a:rPr lang="en-IN" smtClean="0"/>
              <a:t>‹#›</a:t>
            </a:fld>
            <a:endParaRPr lang="en-IN"/>
          </a:p>
        </p:txBody>
      </p:sp>
    </p:spTree>
    <p:extLst>
      <p:ext uri="{BB962C8B-B14F-4D97-AF65-F5344CB8AC3E}">
        <p14:creationId xmlns:p14="http://schemas.microsoft.com/office/powerpoint/2010/main" val="98182534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19CC50-5BCD-4517-B246-F95FD8B24080}" type="datetimeFigureOut">
              <a:rPr lang="en-IN" smtClean="0"/>
              <a:t>28-10-2026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BBBB68-EE10-4186-AB1D-A08B47068DDF}" type="slidenum">
              <a:rPr lang="en-IN" smtClean="0"/>
              <a:t>‹#›</a:t>
            </a:fld>
            <a:endParaRPr lang="en-IN"/>
          </a:p>
        </p:txBody>
      </p:sp>
    </p:spTree>
    <p:extLst>
      <p:ext uri="{BB962C8B-B14F-4D97-AF65-F5344CB8AC3E}">
        <p14:creationId xmlns:p14="http://schemas.microsoft.com/office/powerpoint/2010/main" val="256073520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classes in, three routes out. The label does not pick the route: the checks do. D05 and D06 go to a person by design, not because anything failed. I can show the counts per route if anyone asks.</a:t>
            </a:r>
          </a:p>
        </p:txBody>
      </p:sp>
      <p:sp>
        <p:nvSpPr>
          <p:cNvPr id="4" name="Footer Placeholder 3"/>
          <p:cNvSpPr>
            <a:spLocks noGrp="1"/>
          </p:cNvSpPr>
          <p:nvPr>
            <p:ph type="ftr" sz="quarter" idx="4"/>
          </p:nvPr>
        </p:nvSpPr>
        <p:spPr/>
        <p:txBody>
          <a:bodyPr/>
          <a:lstStyle/>
          <a:p>
            <a:endParaRPr lang="en-IN"/>
          </a:p>
        </p:txBody>
      </p:sp>
      <p:sp>
        <p:nvSpPr>
          <p:cNvPr id="5" name="Slide Number Placeholder 4"/>
          <p:cNvSpPr>
            <a:spLocks noGrp="1"/>
          </p:cNvSpPr>
          <p:nvPr>
            <p:ph type="sldNum" sz="quarter" idx="5"/>
          </p:nvPr>
        </p:nvSpPr>
        <p:spPr/>
        <p:txBody>
          <a:bodyPr/>
          <a:lstStyle/>
          <a:p>
            <a:fld id="{6ABBBB68-EE10-4186-AB1D-A08B47068DDF}" type="slidenum">
              <a:rPr lang="en-IN" smtClean="0"/>
              <a:t>9</a:t>
            </a:fld>
            <a:endParaRPr lang="en-IN"/>
          </a:p>
        </p:txBody>
      </p:sp>
    </p:spTree>
    <p:extLst>
      <p:ext uri="{BB962C8B-B14F-4D97-AF65-F5344CB8AC3E}">
        <p14:creationId xmlns:p14="http://schemas.microsoft.com/office/powerpoint/2010/main" val="3662819883"/>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in one line, then frame it: a dispute arrives as text, and the work is turning that text into a cited draft a person can 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sections. The first four build the case, the fifth is the evidence: cloud, cost, results. The last is what a pilot would do next.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complaint is text. The work is finding the facts, spotting what is missing, and writing something a person can sign. The Aim on screen is the contract for the rest of the deck: we produce one cited draft, a person decides it, and nothing is approved on our word.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reads, three handoffs: the bank API, the merchant record, the policy and the case record. Two trained people can reach two different answers on the same complaint.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seven reads now happen in one run, and the run stops at a draft. The reviewer's part is one decision on that exact draft. If the draft changes, the approval is refused before anything is written.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development case, CARD-D01. The handler gets four answers back: the class, the policy and deadline, what is missing, and where each fact came from. Not a chat reply, a draft with a citation on every fact.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versions of the card policy share one procedure. The version is pinned by the complaint's reported date, never by today's date. Eleven dev cases read V2; D11 reads V1 because it was reported in August.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complaint arrives in two pieces, and both are text. The customer says 117 crowns, the bank records 117 XCR: same currency, one spoken and one coded. Neither piece can give an instruction. Text that looks like an order is read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Capture, check in code, then draft and review. Blue is code, orange is the single model call, white is a person. A clear match goes straight to a draft; only the unclear cases reach the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checks run before any model call. Each one is code, and each one quotes the procedure line it came from. On the twelve dev cases these fire zero model calls.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closed question, asked only where the rules run out. On the 66-line qualification set Luna scored 66 and Haiku 65; on twelve held-out lines, 11 and 12. Luna is chosen on cost: 6.20 against 11.19 per hundred thousand calls.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up in us-east-1 now, from the Terraform in the repo: one container, one load balancer, one public address, SQLite on a single writer. It is reachable only from an allowlisted address, so a changed laptop address locks you out until the rule is updated. Approval runs inside the same process, and no HTTP route reaches a model. Deliberately not built: a NAT gateway, RDS, a domain, WAF, S3. For the business side: AWS holds the certificates on that strip, the bank keeps the data and the keys, and this application still needs its own PCI scope.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 USD a day on the us-east-1 price list, read on 28 October. Fargate and the load balancer are 84 percent of it. The stack went up on 28 October at about five in the afternoon, so it has cost under a dollar so far, at 0.056 an hour. A demo day is 45 cents; leaving it a month is 41 dollars. The exit is one command and takes about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aim, then the live run with the model on. Rules alone pass development, and they fall off exactly where you would expect: seven of sixteen on the adversarial set. With the model on, stress goes to sixteen of sixteen and held out to eight of eight. The model is asked only where no rule matched, so it made 54 calls over 67 cases. One miss is left, SYN-S26. Model spend was 0.0023 dollars for the whole run, which is 4.24 dollars per hundred thousand decisions. 1014 tests, 100 percent of 3404 statements. IF ASKED ABOUT TOKENS: 13286 in and 1921 out across the 54 calls. The customer does not need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now, next in order, and what a pilot would measure. The one thing blocked outside us is branch protection: the GitHub plan returns 403.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The short answer to most of them is the evidence slide: all four suites measured, the model on, and every miss goes to a person.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A84BF8E-F06F-051A-669F-9866C74D55B6}"/>
              </a:ext>
            </a:extLst>
          </p:cNvPr>
          <p:cNvSpPr>
            <a:spLocks noGrp="1"/>
          </p:cNvSpPr>
          <p:nvPr>
            <p:ph type="title"/>
          </p:nvPr>
        </p:nvSpPr>
        <p:spPr>
          <a:xfrm>
            <a:off x="391160" y="2376805"/>
            <a:ext cx="10515600" cy="1325563"/>
          </a:xfrm>
          <a:prstGeom prst="rect">
            <a:avLst/>
          </a:prstGeom>
        </p:spPr>
        <p:txBody>
          <a:bodyPr anchor="ctr" anchorCtr="0"/>
          <a:lstStyle>
            <a:lvl1pPr>
              <a:defRPr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IN"/>
          </a:p>
        </p:txBody>
      </p:sp>
      <p:pic>
        <p:nvPicPr>
          <p:cNvPr id="11" name="Picture 10">
            <a:extLst>
              <a:ext uri="{FF2B5EF4-FFF2-40B4-BE49-F238E27FC236}">
                <a16:creationId xmlns:a16="http://schemas.microsoft.com/office/drawing/2014/main" id="{8845392D-0277-F9F2-C28C-BBC8BE090600}"/>
              </a:ext>
            </a:extLst>
          </p:cNvPr>
          <p:cNvPicPr>
            <a:picLocks noChangeAspect="1"/>
          </p:cNvPicPr>
          <p:nvPr userDrawn="1"/>
        </p:nvPicPr>
        <p:blipFill>
          <a:blip r:embed="rId3">
            <a:extLst>
              <a:ext uri="{28A0092B-C50C-407E-A947-70E740481C1C}">
                <a14:useLocalDpi xmlns:a14="http://schemas.microsoft.com/office/drawing/2010/main" val="0"/>
              </a:ext>
            </a:extLst>
          </a:blip>
          <a:srcRect l="5363" t="33115" r="6114" b="32454"/>
          <a:stretch>
            <a:fillRect/>
          </a:stretch>
        </p:blipFill>
        <p:spPr>
          <a:xfrm>
            <a:off x="391160" y="372398"/>
            <a:ext cx="3906520" cy="854681"/>
          </a:xfrm>
          <a:prstGeom prst="rect">
            <a:avLst/>
          </a:prstGeom>
        </p:spPr>
      </p:pic>
    </p:spTree>
    <p:extLst>
      <p:ext uri="{BB962C8B-B14F-4D97-AF65-F5344CB8AC3E}">
        <p14:creationId xmlns:p14="http://schemas.microsoft.com/office/powerpoint/2010/main" val="830957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458AF-C2D8-D531-03E8-A01F77A930B3}"/>
              </a:ext>
            </a:extLst>
          </p:cNvPr>
          <p:cNvSpPr>
            <a:spLocks noGrp="1"/>
          </p:cNvSpPr>
          <p:nvPr>
            <p:ph type="title"/>
          </p:nvPr>
        </p:nvSpPr>
        <p:spPr>
          <a:xfrm>
            <a:off x="533400" y="314325"/>
            <a:ext cx="11262360" cy="1325563"/>
          </a:xfrm>
          <a:prstGeom prst="rect">
            <a:avLst/>
          </a:prstGeom>
        </p:spPr>
        <p:txBody>
          <a:bodyPr/>
          <a:lstStyle>
            <a:lvl1pPr>
              <a:defRPr sz="3200" b="1">
                <a:solidFill>
                  <a:srgbClr val="3489CA"/>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IN"/>
          </a:p>
        </p:txBody>
      </p:sp>
      <p:sp>
        <p:nvSpPr>
          <p:cNvPr id="7" name="Freeform 1">
            <a:extLst>
              <a:ext uri="{FF2B5EF4-FFF2-40B4-BE49-F238E27FC236}">
                <a16:creationId xmlns:a16="http://schemas.microsoft.com/office/drawing/2014/main" id="{AA2E0695-8B4D-EC51-1001-9E41CA0689A0}"/>
              </a:ext>
            </a:extLst>
          </p:cNvPr>
          <p:cNvSpPr/>
          <p:nvPr userDrawn="1"/>
        </p:nvSpPr>
        <p:spPr>
          <a:xfrm flipH="1">
            <a:off x="-15263" y="155359"/>
            <a:ext cx="462326" cy="906274"/>
          </a:xfrm>
          <a:custGeom>
            <a:avLst/>
            <a:gdLst>
              <a:gd name="connsiteX0" fmla="*/ 420959 w 420958"/>
              <a:gd name="connsiteY0" fmla="*/ 825184 h 825183"/>
              <a:gd name="connsiteX1" fmla="*/ 420959 w 420958"/>
              <a:gd name="connsiteY1" fmla="*/ 632490 h 825183"/>
              <a:gd name="connsiteX2" fmla="*/ 241868 w 420958"/>
              <a:gd name="connsiteY2" fmla="*/ 412489 h 825183"/>
              <a:gd name="connsiteX3" fmla="*/ 420959 w 420958"/>
              <a:gd name="connsiteY3" fmla="*/ 192488 h 825183"/>
              <a:gd name="connsiteX4" fmla="*/ 420959 w 420958"/>
              <a:gd name="connsiteY4" fmla="*/ 0 h 825183"/>
              <a:gd name="connsiteX5" fmla="*/ 0 w 420958"/>
              <a:gd name="connsiteY5" fmla="*/ 412489 h 825183"/>
              <a:gd name="connsiteX6" fmla="*/ 420959 w 420958"/>
              <a:gd name="connsiteY6" fmla="*/ 825184 h 82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958" h="825183">
                <a:moveTo>
                  <a:pt x="420959" y="825184"/>
                </a:moveTo>
                <a:lnTo>
                  <a:pt x="420959" y="632490"/>
                </a:lnTo>
                <a:cubicBezTo>
                  <a:pt x="317220" y="619298"/>
                  <a:pt x="241868" y="539172"/>
                  <a:pt x="241868" y="412489"/>
                </a:cubicBezTo>
                <a:cubicBezTo>
                  <a:pt x="241868" y="285806"/>
                  <a:pt x="317169" y="205680"/>
                  <a:pt x="420959" y="192488"/>
                </a:cubicBezTo>
                <a:lnTo>
                  <a:pt x="420959" y="0"/>
                </a:lnTo>
                <a:cubicBezTo>
                  <a:pt x="176319" y="13910"/>
                  <a:pt x="0" y="180836"/>
                  <a:pt x="0" y="412489"/>
                </a:cubicBezTo>
                <a:cubicBezTo>
                  <a:pt x="0" y="644142"/>
                  <a:pt x="175241" y="812248"/>
                  <a:pt x="420959" y="825184"/>
                </a:cubicBezTo>
                <a:close/>
              </a:path>
            </a:pathLst>
          </a:custGeom>
          <a:solidFill>
            <a:srgbClr val="EBEBEB">
              <a:alpha val="70000"/>
            </a:srgbClr>
          </a:solidFill>
          <a:ln w="5096" cap="flat">
            <a:noFill/>
            <a:prstDash val="solid"/>
            <a:miter/>
          </a:ln>
        </p:spPr>
        <p:txBody>
          <a:bodyPr rtlCol="0" anchor="ctr"/>
          <a:lstStyle/>
          <a:p>
            <a:endParaRPr lang="en-US" sz="2397">
              <a:latin typeface="Tahoma" panose="020B0604030504040204" pitchFamily="34" charset="0"/>
            </a:endParaRPr>
          </a:p>
        </p:txBody>
      </p:sp>
      <p:sp>
        <p:nvSpPr>
          <p:cNvPr id="11" name="Footer Placeholder 4">
            <a:extLst>
              <a:ext uri="{FF2B5EF4-FFF2-40B4-BE49-F238E27FC236}">
                <a16:creationId xmlns:a16="http://schemas.microsoft.com/office/drawing/2014/main" id="{72EB732D-A56B-D8E0-096C-3F6979AB7BEC}"/>
              </a:ext>
            </a:extLst>
          </p:cNvPr>
          <p:cNvSpPr txBox="1">
            <a:spLocks/>
          </p:cNvSpPr>
          <p:nvPr userDrawn="1"/>
        </p:nvSpPr>
        <p:spPr>
          <a:xfrm>
            <a:off x="694944" y="6471289"/>
            <a:ext cx="410916" cy="365125"/>
          </a:xfrm>
          <a:prstGeom prst="rect">
            <a:avLst/>
          </a:prstGeom>
        </p:spPr>
        <p:txBody>
          <a:bodyPr vert="horz" lIns="0" tIns="45716" rIns="91431" bIns="45716"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900" b="0" smtClean="0">
                <a:solidFill>
                  <a:schemeClr val="bg1">
                    <a:lumMod val="65000"/>
                  </a:schemeClr>
                </a:solidFill>
                <a:latin typeface="Tahoma" panose="020B0604030504040204" pitchFamily="34" charset="0"/>
              </a:rPr>
              <a:pPr algn="r"/>
              <a:t>‹#›</a:t>
            </a:fld>
            <a:endParaRPr lang="en-IN" sz="900" b="0">
              <a:solidFill>
                <a:schemeClr val="bg1">
                  <a:lumMod val="65000"/>
                </a:schemeClr>
              </a:solidFill>
              <a:latin typeface="Tahoma" panose="020B0604030504040204" pitchFamily="34" charset="0"/>
            </a:endParaRPr>
          </a:p>
        </p:txBody>
      </p:sp>
      <p:sp>
        <p:nvSpPr>
          <p:cNvPr id="12" name="Footer Placeholder 4">
            <a:extLst>
              <a:ext uri="{FF2B5EF4-FFF2-40B4-BE49-F238E27FC236}">
                <a16:creationId xmlns:a16="http://schemas.microsoft.com/office/drawing/2014/main" id="{AAFBD0CD-D621-C66E-33DE-57071BEC8276}"/>
              </a:ext>
            </a:extLst>
          </p:cNvPr>
          <p:cNvSpPr txBox="1">
            <a:spLocks/>
          </p:cNvSpPr>
          <p:nvPr userDrawn="1"/>
        </p:nvSpPr>
        <p:spPr>
          <a:xfrm>
            <a:off x="1115568" y="6461156"/>
            <a:ext cx="1867663" cy="365125"/>
          </a:xfrm>
          <a:prstGeom prst="rect">
            <a:avLst/>
          </a:prstGeom>
        </p:spPr>
        <p:txBody>
          <a:bodyPr vert="horz" lIns="0" tIns="45716" rIns="91431" bIns="45716"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900">
                <a:solidFill>
                  <a:schemeClr val="bg1">
                    <a:lumMod val="65000"/>
                  </a:schemeClr>
                </a:solidFill>
                <a:latin typeface="Tahoma" panose="020B0604030504040204" pitchFamily="34" charset="0"/>
              </a:rPr>
              <a:t>|  © Coforge, 2026 </a:t>
            </a:r>
          </a:p>
        </p:txBody>
      </p:sp>
      <p:pic>
        <p:nvPicPr>
          <p:cNvPr id="20" name="Picture 19">
            <a:extLst>
              <a:ext uri="{FF2B5EF4-FFF2-40B4-BE49-F238E27FC236}">
                <a16:creationId xmlns:a16="http://schemas.microsoft.com/office/drawing/2014/main" id="{56052E99-E28E-C1A8-4A5C-58CDBAEA5384}"/>
              </a:ext>
            </a:extLst>
          </p:cNvPr>
          <p:cNvPicPr>
            <a:picLocks noChangeAspect="1"/>
          </p:cNvPicPr>
          <p:nvPr userDrawn="1"/>
        </p:nvPicPr>
        <p:blipFill>
          <a:blip r:embed="rId2">
            <a:extLst>
              <a:ext uri="{28A0092B-C50C-407E-A947-70E740481C1C}">
                <a14:useLocalDpi xmlns:a14="http://schemas.microsoft.com/office/drawing/2010/main" val="0"/>
              </a:ext>
            </a:extLst>
          </a:blip>
          <a:srcRect l="6125" t="31334" r="6125" b="32666"/>
          <a:stretch>
            <a:fillRect/>
          </a:stretch>
        </p:blipFill>
        <p:spPr>
          <a:xfrm>
            <a:off x="9543152" y="6223335"/>
            <a:ext cx="2205128" cy="508877"/>
          </a:xfrm>
          <a:prstGeom prst="rect">
            <a:avLst/>
          </a:prstGeom>
        </p:spPr>
      </p:pic>
    </p:spTree>
    <p:extLst>
      <p:ext uri="{BB962C8B-B14F-4D97-AF65-F5344CB8AC3E}">
        <p14:creationId xmlns:p14="http://schemas.microsoft.com/office/powerpoint/2010/main" val="2045822732"/>
      </p:ext>
    </p:extLst>
  </p:cSld>
  <p:clrMapOvr>
    <a:masterClrMapping/>
  </p:clrMapOvr>
  <p:extLst>
    <p:ext uri="{DCECCB84-F9BA-43D5-87BE-67443E8EF086}">
      <p15:sldGuideLst xmlns:p15="http://schemas.microsoft.com/office/powerpoint/2012/main">
        <p15:guide id="1" orient="horz" pos="4201" userDrawn="1">
          <p15:clr>
            <a:srgbClr val="FBAE40"/>
          </p15:clr>
        </p15:guide>
        <p15:guide id="2" pos="30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Option 01-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94A7A-168A-E874-214F-56C977DE26AE}"/>
              </a:ext>
            </a:extLst>
          </p:cNvPr>
          <p:cNvSpPr>
            <a:spLocks noGrp="1"/>
          </p:cNvSpPr>
          <p:nvPr>
            <p:ph type="title"/>
          </p:nvPr>
        </p:nvSpPr>
        <p:spPr>
          <a:xfrm>
            <a:off x="726440" y="2681605"/>
            <a:ext cx="5369560" cy="1325563"/>
          </a:xfrm>
          <a:prstGeom prst="rect">
            <a:avLst/>
          </a:prstGeom>
        </p:spPr>
        <p:txBody>
          <a:bodyPr/>
          <a:lstStyle>
            <a:lvl1pPr>
              <a:defRPr sz="4400"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IN"/>
          </a:p>
        </p:txBody>
      </p:sp>
      <p:pic>
        <p:nvPicPr>
          <p:cNvPr id="10" name="Picture 9">
            <a:extLst>
              <a:ext uri="{FF2B5EF4-FFF2-40B4-BE49-F238E27FC236}">
                <a16:creationId xmlns:a16="http://schemas.microsoft.com/office/drawing/2014/main" id="{BA8E2339-9251-4CCA-69CB-807E2E1AB96F}"/>
              </a:ext>
            </a:extLst>
          </p:cNvPr>
          <p:cNvPicPr>
            <a:picLocks noChangeAspect="1"/>
          </p:cNvPicPr>
          <p:nvPr userDrawn="1"/>
        </p:nvPicPr>
        <p:blipFill>
          <a:blip r:embed="rId3">
            <a:extLst>
              <a:ext uri="{28A0092B-C50C-407E-A947-70E740481C1C}">
                <a14:useLocalDpi xmlns:a14="http://schemas.microsoft.com/office/drawing/2010/main" val="0"/>
              </a:ext>
            </a:extLst>
          </a:blip>
          <a:srcRect l="5363" t="33115" r="6114" b="32454"/>
          <a:stretch>
            <a:fillRect/>
          </a:stretch>
        </p:blipFill>
        <p:spPr>
          <a:xfrm>
            <a:off x="611132" y="319666"/>
            <a:ext cx="2205128" cy="482446"/>
          </a:xfrm>
          <a:prstGeom prst="rect">
            <a:avLst/>
          </a:prstGeom>
        </p:spPr>
      </p:pic>
      <p:sp>
        <p:nvSpPr>
          <p:cNvPr id="12" name="Footer Placeholder 4">
            <a:extLst>
              <a:ext uri="{FF2B5EF4-FFF2-40B4-BE49-F238E27FC236}">
                <a16:creationId xmlns:a16="http://schemas.microsoft.com/office/drawing/2014/main" id="{14F49CC0-D185-852C-AC9F-C3E94BAEC577}"/>
              </a:ext>
            </a:extLst>
          </p:cNvPr>
          <p:cNvSpPr txBox="1">
            <a:spLocks/>
          </p:cNvSpPr>
          <p:nvPr userDrawn="1"/>
        </p:nvSpPr>
        <p:spPr>
          <a:xfrm>
            <a:off x="694944" y="6471289"/>
            <a:ext cx="410916" cy="365125"/>
          </a:xfrm>
          <a:prstGeom prst="rect">
            <a:avLst/>
          </a:prstGeom>
        </p:spPr>
        <p:txBody>
          <a:bodyPr vert="horz" lIns="0" tIns="45716" rIns="91431" bIns="45716"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900" b="0" smtClean="0">
                <a:solidFill>
                  <a:schemeClr val="bg1"/>
                </a:solidFill>
                <a:latin typeface="Tahoma" panose="020B0604030504040204" pitchFamily="34" charset="0"/>
              </a:rPr>
              <a:pPr algn="r"/>
              <a:t>‹#›</a:t>
            </a:fld>
            <a:endParaRPr lang="en-IN" sz="900" b="0">
              <a:solidFill>
                <a:schemeClr val="bg1"/>
              </a:solidFill>
              <a:latin typeface="Tahoma" panose="020B0604030504040204" pitchFamily="34" charset="0"/>
            </a:endParaRPr>
          </a:p>
        </p:txBody>
      </p:sp>
      <p:sp>
        <p:nvSpPr>
          <p:cNvPr id="14" name="Footer Placeholder 4">
            <a:extLst>
              <a:ext uri="{FF2B5EF4-FFF2-40B4-BE49-F238E27FC236}">
                <a16:creationId xmlns:a16="http://schemas.microsoft.com/office/drawing/2014/main" id="{E46B1D7E-4FA2-31A9-BC65-384CF81344CB}"/>
              </a:ext>
            </a:extLst>
          </p:cNvPr>
          <p:cNvSpPr txBox="1">
            <a:spLocks/>
          </p:cNvSpPr>
          <p:nvPr userDrawn="1"/>
        </p:nvSpPr>
        <p:spPr>
          <a:xfrm>
            <a:off x="1115568" y="6461156"/>
            <a:ext cx="1867663" cy="365125"/>
          </a:xfrm>
          <a:prstGeom prst="rect">
            <a:avLst/>
          </a:prstGeom>
        </p:spPr>
        <p:txBody>
          <a:bodyPr vert="horz" lIns="0" tIns="45716" rIns="91431" bIns="45716"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900">
                <a:solidFill>
                  <a:schemeClr val="bg1"/>
                </a:solidFill>
                <a:latin typeface="Tahoma" panose="020B0604030504040204" pitchFamily="34" charset="0"/>
              </a:rPr>
              <a:t>|  © Coforge, 2026 </a:t>
            </a:r>
          </a:p>
        </p:txBody>
      </p:sp>
    </p:spTree>
    <p:extLst>
      <p:ext uri="{BB962C8B-B14F-4D97-AF65-F5344CB8AC3E}">
        <p14:creationId xmlns:p14="http://schemas.microsoft.com/office/powerpoint/2010/main" val="16616927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9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Option 02-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8F2EF11-ACBA-C7B9-058D-6B2D53F3F976}"/>
              </a:ext>
            </a:extLst>
          </p:cNvPr>
          <p:cNvSpPr>
            <a:spLocks noGrp="1"/>
          </p:cNvSpPr>
          <p:nvPr>
            <p:ph type="title"/>
          </p:nvPr>
        </p:nvSpPr>
        <p:spPr>
          <a:xfrm>
            <a:off x="611132" y="2681605"/>
            <a:ext cx="5369560" cy="1325563"/>
          </a:xfrm>
          <a:prstGeom prst="rect">
            <a:avLst/>
          </a:prstGeom>
        </p:spPr>
        <p:txBody>
          <a:bodyPr/>
          <a:lstStyle>
            <a:lvl1pPr>
              <a:defRPr sz="4400" b="1">
                <a:solidFill>
                  <a:schemeClr val="bg1"/>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IN"/>
          </a:p>
        </p:txBody>
      </p:sp>
      <p:pic>
        <p:nvPicPr>
          <p:cNvPr id="8" name="Picture 7">
            <a:extLst>
              <a:ext uri="{FF2B5EF4-FFF2-40B4-BE49-F238E27FC236}">
                <a16:creationId xmlns:a16="http://schemas.microsoft.com/office/drawing/2014/main" id="{4CA2F47A-DCA2-10CD-8D12-C196CB11A189}"/>
              </a:ext>
            </a:extLst>
          </p:cNvPr>
          <p:cNvPicPr>
            <a:picLocks noChangeAspect="1"/>
          </p:cNvPicPr>
          <p:nvPr userDrawn="1"/>
        </p:nvPicPr>
        <p:blipFill>
          <a:blip r:embed="rId3">
            <a:extLst>
              <a:ext uri="{28A0092B-C50C-407E-A947-70E740481C1C}">
                <a14:useLocalDpi xmlns:a14="http://schemas.microsoft.com/office/drawing/2010/main" val="0"/>
              </a:ext>
            </a:extLst>
          </a:blip>
          <a:srcRect l="5363" t="33115" r="6114" b="32454"/>
          <a:stretch>
            <a:fillRect/>
          </a:stretch>
        </p:blipFill>
        <p:spPr>
          <a:xfrm>
            <a:off x="9533354" y="6242795"/>
            <a:ext cx="2205128" cy="482446"/>
          </a:xfrm>
          <a:prstGeom prst="rect">
            <a:avLst/>
          </a:prstGeom>
        </p:spPr>
      </p:pic>
      <p:pic>
        <p:nvPicPr>
          <p:cNvPr id="12" name="Picture 11">
            <a:extLst>
              <a:ext uri="{FF2B5EF4-FFF2-40B4-BE49-F238E27FC236}">
                <a16:creationId xmlns:a16="http://schemas.microsoft.com/office/drawing/2014/main" id="{AE8D5C87-29B7-7D12-447B-18C9AD02E366}"/>
              </a:ext>
            </a:extLst>
          </p:cNvPr>
          <p:cNvPicPr>
            <a:picLocks noChangeAspect="1"/>
          </p:cNvPicPr>
          <p:nvPr userDrawn="1"/>
        </p:nvPicPr>
        <p:blipFill>
          <a:blip r:embed="rId3">
            <a:extLst>
              <a:ext uri="{28A0092B-C50C-407E-A947-70E740481C1C}">
                <a14:useLocalDpi xmlns:a14="http://schemas.microsoft.com/office/drawing/2010/main" val="0"/>
              </a:ext>
            </a:extLst>
          </a:blip>
          <a:srcRect l="5363" t="33115" r="6114" b="32454"/>
          <a:stretch>
            <a:fillRect/>
          </a:stretch>
        </p:blipFill>
        <p:spPr>
          <a:xfrm>
            <a:off x="611132" y="319666"/>
            <a:ext cx="2205128" cy="482446"/>
          </a:xfrm>
          <a:prstGeom prst="rect">
            <a:avLst/>
          </a:prstGeom>
        </p:spPr>
      </p:pic>
      <p:sp>
        <p:nvSpPr>
          <p:cNvPr id="15" name="Footer Placeholder 4">
            <a:extLst>
              <a:ext uri="{FF2B5EF4-FFF2-40B4-BE49-F238E27FC236}">
                <a16:creationId xmlns:a16="http://schemas.microsoft.com/office/drawing/2014/main" id="{869061D1-4C54-4889-2C99-9E82C839F0E3}"/>
              </a:ext>
            </a:extLst>
          </p:cNvPr>
          <p:cNvSpPr txBox="1">
            <a:spLocks/>
          </p:cNvSpPr>
          <p:nvPr userDrawn="1"/>
        </p:nvSpPr>
        <p:spPr>
          <a:xfrm>
            <a:off x="156673" y="6471289"/>
            <a:ext cx="410916" cy="365125"/>
          </a:xfrm>
          <a:prstGeom prst="rect">
            <a:avLst/>
          </a:prstGeom>
        </p:spPr>
        <p:txBody>
          <a:bodyPr vert="horz" lIns="0" tIns="45716" rIns="91431" bIns="45716"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900" b="0" smtClean="0">
                <a:solidFill>
                  <a:schemeClr val="bg1"/>
                </a:solidFill>
                <a:latin typeface="Tahoma" panose="020B0604030504040204" pitchFamily="34" charset="0"/>
              </a:rPr>
              <a:pPr algn="r"/>
              <a:t>‹#›</a:t>
            </a:fld>
            <a:endParaRPr lang="en-IN" sz="900" b="0">
              <a:solidFill>
                <a:schemeClr val="bg1"/>
              </a:solidFill>
              <a:latin typeface="Tahoma" panose="020B0604030504040204" pitchFamily="34" charset="0"/>
            </a:endParaRPr>
          </a:p>
        </p:txBody>
      </p:sp>
      <p:sp>
        <p:nvSpPr>
          <p:cNvPr id="17" name="Footer Placeholder 4">
            <a:extLst>
              <a:ext uri="{FF2B5EF4-FFF2-40B4-BE49-F238E27FC236}">
                <a16:creationId xmlns:a16="http://schemas.microsoft.com/office/drawing/2014/main" id="{68723739-D256-79D0-894C-BECC35B3D026}"/>
              </a:ext>
            </a:extLst>
          </p:cNvPr>
          <p:cNvSpPr txBox="1">
            <a:spLocks/>
          </p:cNvSpPr>
          <p:nvPr userDrawn="1"/>
        </p:nvSpPr>
        <p:spPr>
          <a:xfrm>
            <a:off x="579258" y="6461156"/>
            <a:ext cx="1867663" cy="365125"/>
          </a:xfrm>
          <a:prstGeom prst="rect">
            <a:avLst/>
          </a:prstGeom>
        </p:spPr>
        <p:txBody>
          <a:bodyPr vert="horz" lIns="0" tIns="45716" rIns="91431" bIns="45716"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900">
                <a:solidFill>
                  <a:schemeClr val="bg1"/>
                </a:solidFill>
                <a:latin typeface="Tahoma" panose="020B0604030504040204" pitchFamily="34" charset="0"/>
              </a:rPr>
              <a:t>|  © Coforge, 2026 </a:t>
            </a:r>
          </a:p>
        </p:txBody>
      </p:sp>
    </p:spTree>
    <p:extLst>
      <p:ext uri="{BB962C8B-B14F-4D97-AF65-F5344CB8AC3E}">
        <p14:creationId xmlns:p14="http://schemas.microsoft.com/office/powerpoint/2010/main" val="2920209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9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DE9A-6CC8-0E1D-AA66-CB91F91E6E2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4" name="Date Placeholder 3">
            <a:extLst>
              <a:ext uri="{FF2B5EF4-FFF2-40B4-BE49-F238E27FC236}">
                <a16:creationId xmlns:a16="http://schemas.microsoft.com/office/drawing/2014/main" id="{EB34A3DB-BC3F-886F-3992-FD826A13C336}"/>
              </a:ext>
            </a:extLst>
          </p:cNvPr>
          <p:cNvSpPr>
            <a:spLocks noGrp="1"/>
          </p:cNvSpPr>
          <p:nvPr>
            <p:ph type="dt" sz="half" idx="10"/>
          </p:nvPr>
        </p:nvSpPr>
        <p:spPr/>
        <p:txBody>
          <a:bodyPr/>
          <a:lstStyle/>
          <a:p>
            <a:fld id="{E24A7545-38DB-4FD0-A9D4-7BE617E512F4}" type="datetimeFigureOut">
              <a:rPr lang="en-IN" smtClean="0"/>
              <a:t>28-10-2026</a:t>
            </a:fld>
            <a:endParaRPr lang="en-IN"/>
          </a:p>
        </p:txBody>
      </p:sp>
      <p:sp>
        <p:nvSpPr>
          <p:cNvPr id="5" name="Footer Placeholder 4">
            <a:extLst>
              <a:ext uri="{FF2B5EF4-FFF2-40B4-BE49-F238E27FC236}">
                <a16:creationId xmlns:a16="http://schemas.microsoft.com/office/drawing/2014/main" id="{79B9C83F-FE69-57DE-9BE5-12C911A5D118}"/>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CA40F2F0-46E5-9DB8-1151-9925747FC294}"/>
              </a:ext>
            </a:extLst>
          </p:cNvPr>
          <p:cNvSpPr>
            <a:spLocks noGrp="1"/>
          </p:cNvSpPr>
          <p:nvPr>
            <p:ph type="sldNum" sz="quarter" idx="12"/>
          </p:nvPr>
        </p:nvSpPr>
        <p:spPr/>
        <p:txBody>
          <a:bodyPr/>
          <a:lstStyle/>
          <a:p>
            <a:fld id="{FD82A304-8303-4883-9E07-095150110304}" type="slidenum">
              <a:rPr lang="en-IN" smtClean="0"/>
              <a:t>‹#›</a:t>
            </a:fld>
            <a:endParaRPr lang="en-IN"/>
          </a:p>
        </p:txBody>
      </p:sp>
    </p:spTree>
    <p:extLst>
      <p:ext uri="{BB962C8B-B14F-4D97-AF65-F5344CB8AC3E}">
        <p14:creationId xmlns:p14="http://schemas.microsoft.com/office/powerpoint/2010/main" val="618775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Basixx">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Freeform 1">
            <a:extLst>
              <a:ext uri="{FF2B5EF4-FFF2-40B4-BE49-F238E27FC236}">
                <a16:creationId xmlns:a16="http://schemas.microsoft.com/office/drawing/2014/main" id="{8924C322-7472-12E1-90FE-F130F4F53CC0}"/>
              </a:ext>
            </a:extLst>
          </p:cNvPr>
          <p:cNvSpPr/>
          <p:nvPr userDrawn="1"/>
        </p:nvSpPr>
        <p:spPr>
          <a:xfrm flipH="1">
            <a:off x="-15263" y="155359"/>
            <a:ext cx="462326" cy="906274"/>
          </a:xfrm>
          <a:custGeom>
            <a:avLst/>
            <a:gdLst>
              <a:gd name="connsiteX0" fmla="*/ 420959 w 420958"/>
              <a:gd name="connsiteY0" fmla="*/ 825184 h 825183"/>
              <a:gd name="connsiteX1" fmla="*/ 420959 w 420958"/>
              <a:gd name="connsiteY1" fmla="*/ 632490 h 825183"/>
              <a:gd name="connsiteX2" fmla="*/ 241868 w 420958"/>
              <a:gd name="connsiteY2" fmla="*/ 412489 h 825183"/>
              <a:gd name="connsiteX3" fmla="*/ 420959 w 420958"/>
              <a:gd name="connsiteY3" fmla="*/ 192488 h 825183"/>
              <a:gd name="connsiteX4" fmla="*/ 420959 w 420958"/>
              <a:gd name="connsiteY4" fmla="*/ 0 h 825183"/>
              <a:gd name="connsiteX5" fmla="*/ 0 w 420958"/>
              <a:gd name="connsiteY5" fmla="*/ 412489 h 825183"/>
              <a:gd name="connsiteX6" fmla="*/ 420959 w 420958"/>
              <a:gd name="connsiteY6" fmla="*/ 825184 h 82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958" h="825183">
                <a:moveTo>
                  <a:pt x="420959" y="825184"/>
                </a:moveTo>
                <a:lnTo>
                  <a:pt x="420959" y="632490"/>
                </a:lnTo>
                <a:cubicBezTo>
                  <a:pt x="317220" y="619298"/>
                  <a:pt x="241868" y="539172"/>
                  <a:pt x="241868" y="412489"/>
                </a:cubicBezTo>
                <a:cubicBezTo>
                  <a:pt x="241868" y="285806"/>
                  <a:pt x="317169" y="205680"/>
                  <a:pt x="420959" y="192488"/>
                </a:cubicBezTo>
                <a:lnTo>
                  <a:pt x="420959" y="0"/>
                </a:lnTo>
                <a:cubicBezTo>
                  <a:pt x="176319" y="13910"/>
                  <a:pt x="0" y="180836"/>
                  <a:pt x="0" y="412489"/>
                </a:cubicBezTo>
                <a:cubicBezTo>
                  <a:pt x="0" y="644142"/>
                  <a:pt x="175241" y="812248"/>
                  <a:pt x="420959" y="825184"/>
                </a:cubicBezTo>
                <a:close/>
              </a:path>
            </a:pathLst>
          </a:custGeom>
          <a:solidFill>
            <a:srgbClr val="EBEBEB">
              <a:alpha val="70000"/>
            </a:srgbClr>
          </a:solidFill>
          <a:ln w="5096" cap="flat">
            <a:noFill/>
            <a:prstDash val="solid"/>
            <a:miter/>
          </a:ln>
        </p:spPr>
        <p:txBody>
          <a:bodyPr rtlCol="0" anchor="ctr"/>
          <a:lstStyle/>
          <a:p>
            <a:endParaRPr lang="en-US" sz="2397">
              <a:latin typeface="Tahoma" panose="020B0604030504040204" pitchFamily="34" charset="0"/>
            </a:endParaRPr>
          </a:p>
        </p:txBody>
      </p:sp>
      <p:pic>
        <p:nvPicPr>
          <p:cNvPr id="6" name="Picture 5">
            <a:extLst>
              <a:ext uri="{FF2B5EF4-FFF2-40B4-BE49-F238E27FC236}">
                <a16:creationId xmlns:a16="http://schemas.microsoft.com/office/drawing/2014/main" id="{0A5B069E-200E-B4C8-B362-B0C0CF1E32C1}"/>
              </a:ext>
            </a:extLst>
          </p:cNvPr>
          <p:cNvPicPr>
            <a:picLocks noChangeAspect="1"/>
          </p:cNvPicPr>
          <p:nvPr userDrawn="1"/>
        </p:nvPicPr>
        <p:blipFill>
          <a:blip r:embed="rId3">
            <a:extLst>
              <a:ext uri="{28A0092B-C50C-407E-A947-70E740481C1C}">
                <a14:useLocalDpi xmlns:a14="http://schemas.microsoft.com/office/drawing/2010/main" val="0"/>
              </a:ext>
            </a:extLst>
          </a:blip>
          <a:srcRect l="6125" t="31334" r="6125" b="32666"/>
          <a:stretch>
            <a:fillRect/>
          </a:stretch>
        </p:blipFill>
        <p:spPr>
          <a:xfrm>
            <a:off x="624422" y="293235"/>
            <a:ext cx="2205128" cy="508877"/>
          </a:xfrm>
          <a:prstGeom prst="rect">
            <a:avLst/>
          </a:prstGeom>
        </p:spPr>
      </p:pic>
    </p:spTree>
    <p:extLst>
      <p:ext uri="{BB962C8B-B14F-4D97-AF65-F5344CB8AC3E}">
        <p14:creationId xmlns:p14="http://schemas.microsoft.com/office/powerpoint/2010/main" val="965071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AD73B41-BF6A-34B0-2D8F-1DDC816796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Tahom (Body)"/>
              </a:defRPr>
            </a:lvl1pPr>
          </a:lstStyle>
          <a:p>
            <a:fld id="{E24A7545-38DB-4FD0-A9D4-7BE617E512F4}" type="datetimeFigureOut">
              <a:rPr lang="en-IN" smtClean="0"/>
              <a:pPr/>
              <a:t>28-10-2026</a:t>
            </a:fld>
            <a:endParaRPr lang="en-IN">
              <a:latin typeface="Tahom (Body)"/>
            </a:endParaRPr>
          </a:p>
        </p:txBody>
      </p:sp>
      <p:sp>
        <p:nvSpPr>
          <p:cNvPr id="6" name="Slide Number Placeholder 5">
            <a:extLst>
              <a:ext uri="{FF2B5EF4-FFF2-40B4-BE49-F238E27FC236}">
                <a16:creationId xmlns:a16="http://schemas.microsoft.com/office/drawing/2014/main" id="{07F42AB0-8645-137E-FCE3-C73453EB64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Tahom (Body)"/>
              </a:defRPr>
            </a:lvl1pPr>
          </a:lstStyle>
          <a:p>
            <a:fld id="{FD82A304-8303-4883-9E07-095150110304}" type="slidenum">
              <a:rPr lang="en-IN" smtClean="0"/>
              <a:pPr/>
              <a:t>‹#›</a:t>
            </a:fld>
            <a:endParaRPr lang="en-IN">
              <a:latin typeface="Tahom (Body)"/>
            </a:endParaRPr>
          </a:p>
        </p:txBody>
      </p:sp>
    </p:spTree>
    <p:extLst>
      <p:ext uri="{BB962C8B-B14F-4D97-AF65-F5344CB8AC3E}">
        <p14:creationId xmlns:p14="http://schemas.microsoft.com/office/powerpoint/2010/main" val="1182047622"/>
      </p:ext>
    </p:extLst>
  </p:cSld>
  <p:clrMap bg1="lt1" tx1="dk1" bg2="lt2" tx2="dk2" accent1="accent1" accent2="accent2" accent3="accent3" accent4="accent4" accent5="accent5" accent6="accent6" hlink="hlink" folHlink="folHlink"/>
  <p:sldLayoutIdLst>
    <p:sldLayoutId id="2147483649" r:id="rId1"/>
    <p:sldLayoutId id="2147483653" r:id="rId2"/>
    <p:sldLayoutId id="2147483651" r:id="rId3"/>
    <p:sldLayoutId id="2147483652" r:id="rId4"/>
    <p:sldLayoutId id="2147483650" r:id="rId5"/>
    <p:sldLayoutId id="2147483662"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svg"/><Relationship Id="rId3" Type="http://schemas.openxmlformats.org/officeDocument/2006/relationships/image" Target="../media/image14.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E10ACCF-3896-E935-17E5-AC26E296ABC4}"/>
              </a:ext>
            </a:extLst>
          </p:cNvPr>
          <p:cNvSpPr>
            <a:spLocks noGrp="1"/>
          </p:cNvSpPr>
          <p:nvPr>
            <p:ph type="title"/>
          </p:nvPr>
        </p:nvSpPr>
        <p:spPr>
          <a:xfrm>
            <a:off x="391160" y="1723662"/>
            <a:ext cx="10515600" cy="1325563"/>
          </a:xfrm>
        </p:spPr>
        <p:txBody>
          <a:bodyPr/>
          <a:lstStyle/>
          <a:p>
            <a:r>
              <a:rPr lang="en-US"/>
              <a:t>Lumen Bank Card Dispute Intake</a:t>
            </a:r>
            <a:endParaRPr lang="en-IN"/>
          </a:p>
        </p:txBody>
      </p:sp>
      <p:sp>
        <p:nvSpPr>
          <p:cNvPr id="2" name="Text: Gavin">
            <a:extLst>
              <a:ext uri="{FF2B5EF4-FFF2-40B4-BE49-F238E27FC236}">
                <a16:creationId xmlns:a16="http://schemas.microsoft.com/office/drawing/2014/main" id="{F15E526A-0098-D933-F45F-AC58281832AD}"/>
              </a:ext>
            </a:extLst>
          </p:cNvPr>
          <p:cNvSpPr txBox="1"/>
          <p:nvPr/>
        </p:nvSpPr>
        <p:spPr>
          <a:xfrm>
            <a:off x="496091" y="3090446"/>
            <a:ext cx="9128760" cy="338554"/>
          </a:xfrm>
          <a:prstGeom prst="rect">
            <a:avLst/>
          </a:prstGeom>
          <a:noFill/>
        </p:spPr>
        <p:txBody>
          <a:bodyPr wrap="square" lIns="13716" tIns="0" rIns="13716"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sz="2200" b="1">
                <a:solidFill>
                  <a:srgbClr val="FFFFFF"/>
                </a:solidFill>
                <a:latin typeface="Tahoma"/>
              </a:rPr>
              <a:t>Kanit Mann, Zachary Bonagura, Manikandan Sundaram</a:t>
            </a:r>
            <a:endParaRPr sz="2200" b="1">
              <a:solidFill>
                <a:srgbClr val="FFFFFF"/>
              </a:solidFill>
              <a:latin typeface="Tahoma"/>
            </a:endParaRPr>
          </a:p>
        </p:txBody>
      </p:sp>
    </p:spTree>
    <p:extLst>
      <p:ext uri="{BB962C8B-B14F-4D97-AF65-F5344CB8AC3E}">
        <p14:creationId xmlns:p14="http://schemas.microsoft.com/office/powerpoint/2010/main" val="1025463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14781-5475-1CC0-A742-47AFA333AC6B}"/>
            </a:ext>
          </a:extLst>
        </p:cNvPr>
        <p:cNvGrpSpPr/>
        <p:nvPr/>
      </p:nvGrpSpPr>
      <p:grpSpPr>
        <a:xfrm>
          <a:off x="0" y="0"/>
          <a:ext cx="0" cy="0"/>
          <a:chOff x="0" y="0"/>
          <a:chExt cx="0" cy="0"/>
        </a:xfrm>
      </p:grpSpPr>
      <p:sp>
        <p:nvSpPr>
          <p:cNvPr id="2" name="Rectangle 1"/>
          <p:cNvSpPr/>
          <p:nvPr/>
        </p:nvSpPr>
        <p:spPr>
          <a:xfrm>
            <a:off x="694944" y="1719072"/>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94944" y="2157984"/>
            <a:ext cx="5230368" cy="1005840"/>
          </a:xfrm>
          <a:prstGeom prst="roundRect">
            <a:avLst>
              <a:gd name="adj" fmla="val 7272"/>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69264" y="2286000"/>
            <a:ext cx="4114800" cy="749808"/>
          </a:xfrm>
          <a:prstGeom prst="rect">
            <a:avLst/>
          </a:prstGeom>
          <a:noFill/>
        </p:spPr>
        <p:txBody>
          <a:bodyPr wrap="square" lIns="0" rIns="0" tIns="0" bIns="0" anchor="ctr">
            <a:spAutoFit/>
          </a:bodyPr>
          <a:lstStyle/>
          <a:p>
            <a:pPr algn="l">
              <a:lnSpc>
                <a:spcPct val="98000"/>
              </a:lnSpc>
            </a:pPr>
            <a:r>
              <a:rPr sz="2000" b="1">
                <a:solidFill>
                  <a:srgbClr val="FBAE40"/>
                </a:solidFill>
                <a:latin typeface="Tahoma"/>
              </a:rPr>
              <a:t>1   </a:t>
            </a:r>
            <a:r>
              <a:rPr sz="1700" b="1">
                <a:solidFill>
                  <a:srgbClr val="FFFFFF"/>
                </a:solidFill>
                <a:latin typeface="Tahoma"/>
              </a:rPr>
              <a:t>The problem</a:t>
            </a:r>
          </a:p>
        </p:txBody>
      </p:sp>
      <p:sp>
        <p:nvSpPr>
          <p:cNvPr id="5" name="TextBox 4"/>
          <p:cNvSpPr txBox="1"/>
          <p:nvPr/>
        </p:nvSpPr>
        <p:spPr>
          <a:xfrm>
            <a:off x="5065775" y="2286000"/>
            <a:ext cx="658368" cy="749808"/>
          </a:xfrm>
          <a:prstGeom prst="rect">
            <a:avLst/>
          </a:prstGeom>
          <a:noFill/>
        </p:spPr>
        <p:txBody>
          <a:bodyPr wrap="square" lIns="0" rIns="0" tIns="0" bIns="0" anchor="ctr">
            <a:spAutoFit/>
          </a:bodyPr>
          <a:lstStyle/>
          <a:p>
            <a:pPr algn="r">
              <a:lnSpc>
                <a:spcPct val="100000"/>
              </a:lnSpc>
            </a:pPr>
            <a:r>
              <a:rPr sz="1200" b="1" i="0">
                <a:solidFill>
                  <a:srgbClr val="DCE6F0"/>
                </a:solidFill>
                <a:latin typeface="Tahoma"/>
              </a:rPr>
              <a:t>3-4</a:t>
            </a:r>
          </a:p>
        </p:txBody>
      </p:sp>
      <p:sp>
        <p:nvSpPr>
          <p:cNvPr id="6" name="Rounded Rectangle 5"/>
          <p:cNvSpPr/>
          <p:nvPr/>
        </p:nvSpPr>
        <p:spPr>
          <a:xfrm>
            <a:off x="694944" y="3456432"/>
            <a:ext cx="5230368" cy="1005840"/>
          </a:xfrm>
          <a:prstGeom prst="roundRect">
            <a:avLst>
              <a:gd name="adj" fmla="val 7272"/>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69264" y="3584448"/>
            <a:ext cx="4114800" cy="749808"/>
          </a:xfrm>
          <a:prstGeom prst="rect">
            <a:avLst/>
          </a:prstGeom>
          <a:noFill/>
        </p:spPr>
        <p:txBody>
          <a:bodyPr wrap="square" lIns="0" rIns="0" tIns="0" bIns="0" anchor="ctr">
            <a:spAutoFit/>
          </a:bodyPr>
          <a:lstStyle/>
          <a:p>
            <a:pPr algn="l">
              <a:lnSpc>
                <a:spcPct val="98000"/>
              </a:lnSpc>
            </a:pPr>
            <a:r>
              <a:rPr sz="2000" b="1">
                <a:solidFill>
                  <a:srgbClr val="FBAE40"/>
                </a:solidFill>
                <a:latin typeface="Tahoma"/>
              </a:rPr>
              <a:t>2   </a:t>
            </a:r>
            <a:r>
              <a:rPr sz="1700" b="1">
                <a:solidFill>
                  <a:srgbClr val="FFFFFF"/>
                </a:solidFill>
                <a:latin typeface="Tahoma"/>
              </a:rPr>
              <a:t>The pipeline</a:t>
            </a:r>
          </a:p>
        </p:txBody>
      </p:sp>
      <p:sp>
        <p:nvSpPr>
          <p:cNvPr id="8" name="TextBox 7"/>
          <p:cNvSpPr txBox="1"/>
          <p:nvPr/>
        </p:nvSpPr>
        <p:spPr>
          <a:xfrm>
            <a:off x="5065775" y="3584448"/>
            <a:ext cx="658368" cy="749808"/>
          </a:xfrm>
          <a:prstGeom prst="rect">
            <a:avLst/>
          </a:prstGeom>
          <a:noFill/>
        </p:spPr>
        <p:txBody>
          <a:bodyPr wrap="square" lIns="0" rIns="0" tIns="0" bIns="0" anchor="ctr">
            <a:spAutoFit/>
          </a:bodyPr>
          <a:lstStyle/>
          <a:p>
            <a:pPr algn="r">
              <a:lnSpc>
                <a:spcPct val="100000"/>
              </a:lnSpc>
            </a:pPr>
            <a:r>
              <a:rPr sz="1200" b="1" i="0">
                <a:solidFill>
                  <a:srgbClr val="DCE6F0"/>
                </a:solidFill>
                <a:latin typeface="Tahoma"/>
              </a:rPr>
              <a:t>5-6</a:t>
            </a:r>
          </a:p>
        </p:txBody>
      </p:sp>
      <p:sp>
        <p:nvSpPr>
          <p:cNvPr id="9" name="Rounded Rectangle 8"/>
          <p:cNvSpPr/>
          <p:nvPr/>
        </p:nvSpPr>
        <p:spPr>
          <a:xfrm>
            <a:off x="694944" y="4754879"/>
            <a:ext cx="5230368" cy="1005840"/>
          </a:xfrm>
          <a:prstGeom prst="roundRect">
            <a:avLst>
              <a:gd name="adj" fmla="val 7272"/>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9264" y="4882895"/>
            <a:ext cx="4114800" cy="749808"/>
          </a:xfrm>
          <a:prstGeom prst="rect">
            <a:avLst/>
          </a:prstGeom>
          <a:noFill/>
        </p:spPr>
        <p:txBody>
          <a:bodyPr wrap="square" lIns="0" rIns="0" tIns="0" bIns="0" anchor="ctr">
            <a:spAutoFit/>
          </a:bodyPr>
          <a:lstStyle/>
          <a:p>
            <a:pPr algn="l">
              <a:lnSpc>
                <a:spcPct val="98000"/>
              </a:lnSpc>
            </a:pPr>
            <a:r>
              <a:rPr sz="2000" b="1">
                <a:solidFill>
                  <a:srgbClr val="FBAE40"/>
                </a:solidFill>
                <a:latin typeface="Tahoma"/>
              </a:rPr>
              <a:t>3   </a:t>
            </a:r>
            <a:r>
              <a:rPr sz="1700" b="1">
                <a:solidFill>
                  <a:srgbClr val="FFFFFF"/>
                </a:solidFill>
                <a:latin typeface="Tahoma"/>
              </a:rPr>
              <a:t>Inputs and rules</a:t>
            </a:r>
          </a:p>
        </p:txBody>
      </p:sp>
      <p:sp>
        <p:nvSpPr>
          <p:cNvPr id="11" name="TextBox 10"/>
          <p:cNvSpPr txBox="1"/>
          <p:nvPr/>
        </p:nvSpPr>
        <p:spPr>
          <a:xfrm>
            <a:off x="5065775" y="4882895"/>
            <a:ext cx="658368" cy="749808"/>
          </a:xfrm>
          <a:prstGeom prst="rect">
            <a:avLst/>
          </a:prstGeom>
          <a:noFill/>
        </p:spPr>
        <p:txBody>
          <a:bodyPr wrap="square" lIns="0" rIns="0" tIns="0" bIns="0" anchor="ctr">
            <a:spAutoFit/>
          </a:bodyPr>
          <a:lstStyle/>
          <a:p>
            <a:pPr algn="r">
              <a:lnSpc>
                <a:spcPct val="100000"/>
              </a:lnSpc>
            </a:pPr>
            <a:r>
              <a:rPr sz="1200" b="1" i="0">
                <a:solidFill>
                  <a:srgbClr val="DCE6F0"/>
                </a:solidFill>
                <a:latin typeface="Tahoma"/>
              </a:rPr>
              <a:t>7-9</a:t>
            </a:r>
          </a:p>
        </p:txBody>
      </p:sp>
      <p:sp>
        <p:nvSpPr>
          <p:cNvPr id="12" name="Rounded Rectangle 11"/>
          <p:cNvSpPr/>
          <p:nvPr/>
        </p:nvSpPr>
        <p:spPr>
          <a:xfrm>
            <a:off x="6263640" y="2157984"/>
            <a:ext cx="5230368" cy="1005840"/>
          </a:xfrm>
          <a:prstGeom prst="roundRect">
            <a:avLst>
              <a:gd name="adj" fmla="val 7272"/>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37959" y="2286000"/>
            <a:ext cx="4114800" cy="749808"/>
          </a:xfrm>
          <a:prstGeom prst="rect">
            <a:avLst/>
          </a:prstGeom>
          <a:noFill/>
        </p:spPr>
        <p:txBody>
          <a:bodyPr wrap="square" lIns="0" rIns="0" tIns="0" bIns="0" anchor="ctr">
            <a:spAutoFit/>
          </a:bodyPr>
          <a:lstStyle/>
          <a:p>
            <a:pPr algn="l">
              <a:lnSpc>
                <a:spcPct val="98000"/>
              </a:lnSpc>
            </a:pPr>
            <a:r>
              <a:rPr sz="2000" b="1">
                <a:solidFill>
                  <a:srgbClr val="FBAE40"/>
                </a:solidFill>
                <a:latin typeface="Tahoma"/>
              </a:rPr>
              <a:t>4   </a:t>
            </a:r>
            <a:r>
              <a:rPr sz="1700" b="1">
                <a:solidFill>
                  <a:srgbClr val="FFFFFF"/>
                </a:solidFill>
                <a:latin typeface="Tahoma"/>
              </a:rPr>
              <a:t>Code decides, the model drafts</a:t>
            </a:r>
          </a:p>
        </p:txBody>
      </p:sp>
      <p:sp>
        <p:nvSpPr>
          <p:cNvPr id="14" name="TextBox 13"/>
          <p:cNvSpPr txBox="1"/>
          <p:nvPr/>
        </p:nvSpPr>
        <p:spPr>
          <a:xfrm>
            <a:off x="10634472" y="2286000"/>
            <a:ext cx="658368" cy="749808"/>
          </a:xfrm>
          <a:prstGeom prst="rect">
            <a:avLst/>
          </a:prstGeom>
          <a:noFill/>
        </p:spPr>
        <p:txBody>
          <a:bodyPr wrap="square" lIns="0" rIns="0" tIns="0" bIns="0" anchor="ctr">
            <a:spAutoFit/>
          </a:bodyPr>
          <a:lstStyle/>
          <a:p>
            <a:pPr algn="r">
              <a:lnSpc>
                <a:spcPct val="100000"/>
              </a:lnSpc>
            </a:pPr>
            <a:r>
              <a:rPr sz="1200" b="1" i="0">
                <a:solidFill>
                  <a:srgbClr val="DCE6F0"/>
                </a:solidFill>
                <a:latin typeface="Tahoma"/>
              </a:rPr>
              <a:t>10-12</a:t>
            </a:r>
          </a:p>
        </p:txBody>
      </p:sp>
      <p:sp>
        <p:nvSpPr>
          <p:cNvPr id="15" name="Rounded Rectangle 14"/>
          <p:cNvSpPr/>
          <p:nvPr/>
        </p:nvSpPr>
        <p:spPr>
          <a:xfrm>
            <a:off x="6263640" y="3456432"/>
            <a:ext cx="5230368" cy="1005840"/>
          </a:xfrm>
          <a:prstGeom prst="roundRect">
            <a:avLst>
              <a:gd name="adj" fmla="val 7272"/>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37959" y="3584448"/>
            <a:ext cx="4114800" cy="749808"/>
          </a:xfrm>
          <a:prstGeom prst="rect">
            <a:avLst/>
          </a:prstGeom>
          <a:noFill/>
        </p:spPr>
        <p:txBody>
          <a:bodyPr wrap="square" lIns="0" rIns="0" tIns="0" bIns="0" anchor="ctr">
            <a:spAutoFit/>
          </a:bodyPr>
          <a:lstStyle/>
          <a:p>
            <a:pPr algn="l">
              <a:lnSpc>
                <a:spcPct val="98000"/>
              </a:lnSpc>
            </a:pPr>
            <a:r>
              <a:rPr sz="2000" b="1">
                <a:solidFill>
                  <a:srgbClr val="FBAE40"/>
                </a:solidFill>
                <a:latin typeface="Tahoma"/>
              </a:rPr>
              <a:t>5   </a:t>
            </a:r>
            <a:r>
              <a:rPr sz="1700" b="1">
                <a:solidFill>
                  <a:srgbClr val="FFFFFF"/>
                </a:solidFill>
                <a:latin typeface="Tahoma"/>
              </a:rPr>
              <a:t>Cloud and the evidence</a:t>
            </a:r>
          </a:p>
        </p:txBody>
      </p:sp>
      <p:sp>
        <p:nvSpPr>
          <p:cNvPr id="17" name="TextBox 16"/>
          <p:cNvSpPr txBox="1"/>
          <p:nvPr/>
        </p:nvSpPr>
        <p:spPr>
          <a:xfrm>
            <a:off x="10634472" y="3584448"/>
            <a:ext cx="658368" cy="749808"/>
          </a:xfrm>
          <a:prstGeom prst="rect">
            <a:avLst/>
          </a:prstGeom>
          <a:noFill/>
        </p:spPr>
        <p:txBody>
          <a:bodyPr wrap="square" lIns="0" rIns="0" tIns="0" bIns="0" anchor="ctr">
            <a:spAutoFit/>
          </a:bodyPr>
          <a:lstStyle/>
          <a:p>
            <a:pPr algn="r">
              <a:lnSpc>
                <a:spcPct val="100000"/>
              </a:lnSpc>
            </a:pPr>
            <a:r>
              <a:rPr sz="1200" b="1" i="0">
                <a:solidFill>
                  <a:srgbClr val="DCE6F0"/>
                </a:solidFill>
                <a:latin typeface="Tahoma"/>
              </a:rPr>
              <a:t>13-15</a:t>
            </a:r>
          </a:p>
        </p:txBody>
      </p:sp>
      <p:sp>
        <p:nvSpPr>
          <p:cNvPr id="18" name="Rounded Rectangle 17"/>
          <p:cNvSpPr/>
          <p:nvPr/>
        </p:nvSpPr>
        <p:spPr>
          <a:xfrm>
            <a:off x="6263640" y="4754879"/>
            <a:ext cx="5230368" cy="1005840"/>
          </a:xfrm>
          <a:prstGeom prst="roundRect">
            <a:avLst>
              <a:gd name="adj" fmla="val 7272"/>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537959" y="4882895"/>
            <a:ext cx="4114800" cy="749808"/>
          </a:xfrm>
          <a:prstGeom prst="rect">
            <a:avLst/>
          </a:prstGeom>
          <a:noFill/>
        </p:spPr>
        <p:txBody>
          <a:bodyPr wrap="square" lIns="0" rIns="0" tIns="0" bIns="0" anchor="ctr">
            <a:spAutoFit/>
          </a:bodyPr>
          <a:lstStyle/>
          <a:p>
            <a:pPr algn="l">
              <a:lnSpc>
                <a:spcPct val="98000"/>
              </a:lnSpc>
            </a:pPr>
            <a:r>
              <a:rPr sz="2000" b="1">
                <a:solidFill>
                  <a:srgbClr val="FBAE40"/>
                </a:solidFill>
                <a:latin typeface="Tahoma"/>
              </a:rPr>
              <a:t>6   </a:t>
            </a:r>
            <a:r>
              <a:rPr sz="1700" b="1">
                <a:solidFill>
                  <a:srgbClr val="FFFFFF"/>
                </a:solidFill>
                <a:latin typeface="Tahoma"/>
              </a:rPr>
              <a:t>What comes next</a:t>
            </a:r>
          </a:p>
        </p:txBody>
      </p:sp>
      <p:sp>
        <p:nvSpPr>
          <p:cNvPr id="20" name="TextBox 19"/>
          <p:cNvSpPr txBox="1"/>
          <p:nvPr/>
        </p:nvSpPr>
        <p:spPr>
          <a:xfrm>
            <a:off x="10634472" y="4882895"/>
            <a:ext cx="658368" cy="749808"/>
          </a:xfrm>
          <a:prstGeom prst="rect">
            <a:avLst/>
          </a:prstGeom>
          <a:noFill/>
        </p:spPr>
        <p:txBody>
          <a:bodyPr wrap="square" lIns="0" rIns="0" tIns="0" bIns="0" anchor="ctr">
            <a:spAutoFit/>
          </a:bodyPr>
          <a:lstStyle/>
          <a:p>
            <a:pPr algn="r">
              <a:lnSpc>
                <a:spcPct val="100000"/>
              </a:lnSpc>
            </a:pPr>
            <a:r>
              <a:rPr sz="1200" b="1" i="0">
                <a:solidFill>
                  <a:srgbClr val="DCE6F0"/>
                </a:solidFill>
                <a:latin typeface="Tahoma"/>
              </a:rPr>
              <a:t>16</a:t>
            </a:r>
          </a:p>
        </p:txBody>
      </p:sp>
      <p:sp>
        <p:nvSpPr>
          <p:cNvPr id="5" name="Text: The setting, the squad and the ambition">
            <a:extLst>
              <a:ext uri="{FF2B5EF4-FFF2-40B4-BE49-F238E27FC236}">
                <a16:creationId xmlns:a16="http://schemas.microsoft.com/office/drawing/2014/main" id="{26394B30-C65F-919B-E4BA-1441CAFB253E}"/>
              </a:ext>
            </a:extLst>
          </p:cNvPr>
          <p:cNvSpPr txBox="1"/>
          <p:nvPr/>
        </p:nvSpPr>
        <p:spPr>
          <a:xfrm>
            <a:off x="694944" y="1014984"/>
            <a:ext cx="10799064" cy="475488"/>
          </a:xfrm>
          <a:prstGeom prst="rect">
            <a:avLst/>
          </a:prstGeom>
          <a:noFill/>
        </p:spPr>
        <p:txBody>
          <a:bodyPr wrap="square" lIns="13716" tIns="0" rIns="13716"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06000"/>
              </a:lnSpc>
              <a:spcBef>
                <a:spcPts val="0"/>
              </a:spcBef>
              <a:spcAft>
                <a:spcPts val="0"/>
              </a:spcAft>
            </a:pPr>
            <a:r>
              <a:rPr lang="en-US" sz="3200" b="1">
                <a:solidFill>
                  <a:srgbClr val="FFFFFF"/>
                </a:solidFill>
                <a:latin typeface="Tahoma"/>
              </a:rPr>
              <a:t>Agenda</a:t>
            </a:r>
            <a:endParaRPr sz="3200" b="1">
              <a:solidFill>
                <a:srgbClr val="FFFFFF"/>
              </a:solidFill>
              <a:latin typeface="Tahoma"/>
            </a:endParaRPr>
          </a:p>
        </p:txBody>
      </p:sp>
    </p:spTree>
    <p:extLst>
      <p:ext uri="{BB962C8B-B14F-4D97-AF65-F5344CB8AC3E}">
        <p14:creationId xmlns:p14="http://schemas.microsoft.com/office/powerpoint/2010/main" val="113098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D50E014E-54BA-53A4-C390-E5A888411EEE}"/>
              </a:ext>
            </a:extLst>
          </p:cNvPr>
          <p:cNvSpPr txBox="1"/>
          <p:nvPr/>
        </p:nvSpPr>
        <p:spPr>
          <a:xfrm>
            <a:off x="694944" y="813816"/>
            <a:ext cx="10799064" cy="502920"/>
          </a:xfrm>
          <a:prstGeom prst="rect">
            <a:avLst/>
          </a:prstGeom>
          <a:noFill/>
        </p:spPr>
        <p:txBody>
          <a:bodyPr wrap="square" lIns="18288" tIns="0" rIns="18288"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1200"/>
              </a:spcAft>
            </a:pPr>
            <a:r>
              <a:rPr lang="en-US" sz="3200" b="1">
                <a:solidFill>
                  <a:srgbClr val="102E4C"/>
                </a:solidFill>
                <a:latin typeface="Tahoma"/>
              </a:rPr>
              <a:t>Problem Statement</a:t>
            </a:r>
            <a:endParaRPr sz="3200" b="1">
              <a:solidFill>
                <a:srgbClr val="102E4C"/>
              </a:solidFill>
              <a:latin typeface="Tahoma"/>
            </a:endParaRPr>
          </a:p>
        </p:txBody>
      </p:sp>
      <p:sp>
        <p:nvSpPr>
          <p:cNvPr id="6" name="Rectangle 5"/>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37360"/>
            <a:ext cx="10799064" cy="411480"/>
          </a:xfrm>
          <a:prstGeom prst="rect">
            <a:avLst/>
          </a:prstGeom>
          <a:noFill/>
        </p:spPr>
        <p:txBody>
          <a:bodyPr wrap="square" lIns="0" rIns="0" tIns="0" bIns="0" anchor="t">
            <a:spAutoFit/>
          </a:bodyPr>
          <a:lstStyle/>
          <a:p>
            <a:pPr algn="l">
              <a:lnSpc>
                <a:spcPct val="100000"/>
              </a:lnSpc>
            </a:pPr>
            <a:r>
              <a:rPr sz="2000" b="0" i="0">
                <a:solidFill>
                  <a:srgbClr val="102E4C"/>
                </a:solidFill>
                <a:latin typeface="Tahoma"/>
              </a:rPr>
              <a:t>A credit card complaint arrives. How should a reviewer handle it?</a:t>
            </a:r>
          </a:p>
        </p:txBody>
      </p:sp>
      <p:sp>
        <p:nvSpPr>
          <p:cNvPr id="8" name="TextBox 7"/>
          <p:cNvSpPr txBox="1"/>
          <p:nvPr/>
        </p:nvSpPr>
        <p:spPr>
          <a:xfrm>
            <a:off x="694944" y="2249424"/>
            <a:ext cx="10799064" cy="201168"/>
          </a:xfrm>
          <a:prstGeom prst="rect">
            <a:avLst/>
          </a:prstGeom>
          <a:noFill/>
        </p:spPr>
        <p:txBody>
          <a:bodyPr wrap="square" lIns="0" rIns="0" tIns="0" bIns="0" anchor="t">
            <a:spAutoFit/>
          </a:bodyPr>
          <a:lstStyle/>
          <a:p>
            <a:pPr algn="l">
              <a:lnSpc>
                <a:spcPct val="100000"/>
              </a:lnSpc>
            </a:pPr>
            <a:r>
              <a:rPr sz="1050" b="1" i="0">
                <a:solidFill>
                  <a:srgbClr val="5A6B7D"/>
                </a:solidFill>
                <a:latin typeface="Tahoma"/>
              </a:rPr>
              <a:t>THE REVIEWER NEEDS</a:t>
            </a:r>
          </a:p>
        </p:txBody>
      </p:sp>
      <p:sp>
        <p:nvSpPr>
          <p:cNvPr id="9" name="Rounded Rectangle 8"/>
          <p:cNvSpPr/>
          <p:nvPr/>
        </p:nvSpPr>
        <p:spPr>
          <a:xfrm>
            <a:off x="694944" y="2596896"/>
            <a:ext cx="10799064" cy="640080"/>
          </a:xfrm>
          <a:prstGeom prst="roundRect">
            <a:avLst>
              <a:gd name="adj" fmla="val 11428"/>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2596896"/>
            <a:ext cx="384048" cy="640080"/>
          </a:xfrm>
          <a:prstGeom prst="rect">
            <a:avLst/>
          </a:prstGeom>
          <a:noFill/>
        </p:spPr>
        <p:txBody>
          <a:bodyPr wrap="square" lIns="0" rIns="0" tIns="0" bIns="0" anchor="ctr">
            <a:spAutoFit/>
          </a:bodyPr>
          <a:lstStyle/>
          <a:p>
            <a:pPr algn="l">
              <a:lnSpc>
                <a:spcPct val="100000"/>
              </a:lnSpc>
            </a:pPr>
            <a:r>
              <a:rPr sz="2000" b="1" i="0">
                <a:solidFill>
                  <a:srgbClr val="FBAE40"/>
                </a:solidFill>
                <a:latin typeface="Tahoma"/>
              </a:rPr>
              <a:t>1</a:t>
            </a:r>
          </a:p>
        </p:txBody>
      </p:sp>
      <p:sp>
        <p:nvSpPr>
          <p:cNvPr id="11" name="TextBox 10"/>
          <p:cNvSpPr txBox="1"/>
          <p:nvPr/>
        </p:nvSpPr>
        <p:spPr>
          <a:xfrm>
            <a:off x="1481328" y="2596896"/>
            <a:ext cx="9793224" cy="640080"/>
          </a:xfrm>
          <a:prstGeom prst="rect">
            <a:avLst/>
          </a:prstGeom>
          <a:noFill/>
        </p:spPr>
        <p:txBody>
          <a:bodyPr wrap="square" lIns="0" rIns="0" tIns="0" bIns="0" anchor="ctr">
            <a:spAutoFit/>
          </a:bodyPr>
          <a:lstStyle/>
          <a:p>
            <a:pPr algn="l">
              <a:lnSpc>
                <a:spcPct val="100000"/>
              </a:lnSpc>
            </a:pPr>
            <a:r>
              <a:rPr sz="1800" b="0" i="0">
                <a:solidFill>
                  <a:srgbClr val="102E4C"/>
                </a:solidFill>
                <a:latin typeface="Tahoma"/>
              </a:rPr>
              <a:t>The facts, and where they came from</a:t>
            </a:r>
          </a:p>
        </p:txBody>
      </p:sp>
      <p:sp>
        <p:nvSpPr>
          <p:cNvPr id="12" name="Rounded Rectangle 11"/>
          <p:cNvSpPr/>
          <p:nvPr/>
        </p:nvSpPr>
        <p:spPr>
          <a:xfrm>
            <a:off x="694944" y="3291839"/>
            <a:ext cx="10799064" cy="640080"/>
          </a:xfrm>
          <a:prstGeom prst="roundRect">
            <a:avLst>
              <a:gd name="adj" fmla="val 11428"/>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32688" y="3291839"/>
            <a:ext cx="384048" cy="640080"/>
          </a:xfrm>
          <a:prstGeom prst="rect">
            <a:avLst/>
          </a:prstGeom>
          <a:noFill/>
        </p:spPr>
        <p:txBody>
          <a:bodyPr wrap="square" lIns="0" rIns="0" tIns="0" bIns="0" anchor="ctr">
            <a:spAutoFit/>
          </a:bodyPr>
          <a:lstStyle/>
          <a:p>
            <a:pPr algn="l">
              <a:lnSpc>
                <a:spcPct val="100000"/>
              </a:lnSpc>
            </a:pPr>
            <a:r>
              <a:rPr sz="2000" b="1" i="0">
                <a:solidFill>
                  <a:srgbClr val="FBAE40"/>
                </a:solidFill>
                <a:latin typeface="Tahoma"/>
              </a:rPr>
              <a:t>2</a:t>
            </a:r>
          </a:p>
        </p:txBody>
      </p:sp>
      <p:sp>
        <p:nvSpPr>
          <p:cNvPr id="14" name="TextBox 13"/>
          <p:cNvSpPr txBox="1"/>
          <p:nvPr/>
        </p:nvSpPr>
        <p:spPr>
          <a:xfrm>
            <a:off x="1481328" y="3291839"/>
            <a:ext cx="9793224" cy="640080"/>
          </a:xfrm>
          <a:prstGeom prst="rect">
            <a:avLst/>
          </a:prstGeom>
          <a:noFill/>
        </p:spPr>
        <p:txBody>
          <a:bodyPr wrap="square" lIns="0" rIns="0" tIns="0" bIns="0" anchor="ctr">
            <a:spAutoFit/>
          </a:bodyPr>
          <a:lstStyle/>
          <a:p>
            <a:pPr algn="l">
              <a:lnSpc>
                <a:spcPct val="100000"/>
              </a:lnSpc>
            </a:pPr>
            <a:r>
              <a:rPr sz="1800" b="0" i="0">
                <a:solidFill>
                  <a:srgbClr val="102E4C"/>
                </a:solidFill>
                <a:latin typeface="Tahoma"/>
              </a:rPr>
              <a:t>What is missing or contradicts</a:t>
            </a:r>
          </a:p>
        </p:txBody>
      </p:sp>
      <p:sp>
        <p:nvSpPr>
          <p:cNvPr id="15" name="Rounded Rectangle 14"/>
          <p:cNvSpPr/>
          <p:nvPr/>
        </p:nvSpPr>
        <p:spPr>
          <a:xfrm>
            <a:off x="694944" y="3986783"/>
            <a:ext cx="10799064" cy="640080"/>
          </a:xfrm>
          <a:prstGeom prst="roundRect">
            <a:avLst>
              <a:gd name="adj" fmla="val 11428"/>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32688" y="3986783"/>
            <a:ext cx="384048" cy="640080"/>
          </a:xfrm>
          <a:prstGeom prst="rect">
            <a:avLst/>
          </a:prstGeom>
          <a:noFill/>
        </p:spPr>
        <p:txBody>
          <a:bodyPr wrap="square" lIns="0" rIns="0" tIns="0" bIns="0" anchor="ctr">
            <a:spAutoFit/>
          </a:bodyPr>
          <a:lstStyle/>
          <a:p>
            <a:pPr algn="l">
              <a:lnSpc>
                <a:spcPct val="100000"/>
              </a:lnSpc>
            </a:pPr>
            <a:r>
              <a:rPr sz="2000" b="1" i="0">
                <a:solidFill>
                  <a:srgbClr val="FBAE40"/>
                </a:solidFill>
                <a:latin typeface="Tahoma"/>
              </a:rPr>
              <a:t>3</a:t>
            </a:r>
          </a:p>
        </p:txBody>
      </p:sp>
      <p:sp>
        <p:nvSpPr>
          <p:cNvPr id="17" name="TextBox 16"/>
          <p:cNvSpPr txBox="1"/>
          <p:nvPr/>
        </p:nvSpPr>
        <p:spPr>
          <a:xfrm>
            <a:off x="1481328" y="3986783"/>
            <a:ext cx="9793224" cy="640080"/>
          </a:xfrm>
          <a:prstGeom prst="rect">
            <a:avLst/>
          </a:prstGeom>
          <a:noFill/>
        </p:spPr>
        <p:txBody>
          <a:bodyPr wrap="square" lIns="0" rIns="0" tIns="0" bIns="0" anchor="ctr">
            <a:spAutoFit/>
          </a:bodyPr>
          <a:lstStyle/>
          <a:p>
            <a:pPr algn="l">
              <a:lnSpc>
                <a:spcPct val="100000"/>
              </a:lnSpc>
            </a:pPr>
            <a:r>
              <a:rPr sz="1800" b="0" i="0">
                <a:solidFill>
                  <a:srgbClr val="102E4C"/>
                </a:solidFill>
                <a:latin typeface="Tahoma"/>
              </a:rPr>
              <a:t>A cited draft to approve before a case exists</a:t>
            </a:r>
          </a:p>
        </p:txBody>
      </p:sp>
      <p:sp>
        <p:nvSpPr>
          <p:cNvPr id="18" name="Rounded Rectangle 17"/>
          <p:cNvSpPr/>
          <p:nvPr/>
        </p:nvSpPr>
        <p:spPr>
          <a:xfrm>
            <a:off x="694944" y="4956048"/>
            <a:ext cx="10799064" cy="1316736"/>
          </a:xfrm>
          <a:prstGeom prst="roundRect">
            <a:avLst>
              <a:gd name="adj" fmla="val 2083"/>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94944" y="4956048"/>
            <a:ext cx="82296" cy="1316736"/>
          </a:xfrm>
          <a:prstGeom prst="roundRect">
            <a:avLst>
              <a:gd name="adj" fmla="val 0"/>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05840" y="5084064"/>
            <a:ext cx="10149840" cy="201168"/>
          </a:xfrm>
          <a:prstGeom prst="rect">
            <a:avLst/>
          </a:prstGeom>
          <a:noFill/>
        </p:spPr>
        <p:txBody>
          <a:bodyPr wrap="square" lIns="0" rIns="0" tIns="0" bIns="0" anchor="t">
            <a:spAutoFit/>
          </a:bodyPr>
          <a:lstStyle/>
          <a:p>
            <a:pPr algn="l">
              <a:lnSpc>
                <a:spcPct val="100000"/>
              </a:lnSpc>
            </a:pPr>
            <a:r>
              <a:rPr sz="1100" b="1" i="0">
                <a:solidFill>
                  <a:srgbClr val="FBAE40"/>
                </a:solidFill>
                <a:latin typeface="Tahoma"/>
              </a:rPr>
              <a:t>THE AIM</a:t>
            </a:r>
          </a:p>
        </p:txBody>
      </p:sp>
      <p:sp>
        <p:nvSpPr>
          <p:cNvPr id="21" name="TextBox 20"/>
          <p:cNvSpPr txBox="1"/>
          <p:nvPr/>
        </p:nvSpPr>
        <p:spPr>
          <a:xfrm>
            <a:off x="1005840" y="5358384"/>
            <a:ext cx="10149840" cy="822960"/>
          </a:xfrm>
          <a:prstGeom prst="rect">
            <a:avLst/>
          </a:prstGeom>
          <a:noFill/>
        </p:spPr>
        <p:txBody>
          <a:bodyPr wrap="square" lIns="0" rIns="0" tIns="0" bIns="0" anchor="t">
            <a:spAutoFit/>
          </a:bodyPr>
          <a:lstStyle/>
          <a:p>
            <a:pPr algn="l">
              <a:lnSpc>
                <a:spcPct val="102000"/>
              </a:lnSpc>
            </a:pPr>
            <a:r>
              <a:rPr sz="1900" b="1">
                <a:solidFill>
                  <a:srgbClr val="FFFFFF"/>
                </a:solidFill>
                <a:latin typeface="Tahoma"/>
              </a:rPr>
              <a:t>Turn each complaint into one cited draft a reviewer can approve or deny, and never approve a case on the reviewer’s behalf.</a:t>
            </a:r>
          </a:p>
        </p:txBody>
      </p:sp>
    </p:spTree>
    <p:extLst>
      <p:ext uri="{BB962C8B-B14F-4D97-AF65-F5344CB8AC3E}">
        <p14:creationId xmlns:p14="http://schemas.microsoft.com/office/powerpoint/2010/main" val="3064117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64E0-B0EF-36C6-4BC7-2DE08CCF14F3}"/>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E8A92E1F-0C91-70AF-935A-72015B412423}"/>
              </a:ext>
            </a:extLst>
          </p:cNvPr>
          <p:cNvSpPr txBox="1"/>
          <p:nvPr/>
        </p:nvSpPr>
        <p:spPr>
          <a:xfrm>
            <a:off x="701040" y="814220"/>
            <a:ext cx="10789920" cy="492443"/>
          </a:xfrm>
          <a:prstGeom prst="rect">
            <a:avLst/>
          </a:prstGeom>
          <a:noFill/>
        </p:spPr>
        <p:txBody>
          <a:bodyPr wrap="square" lIns="18288" tIns="0" rIns="18288"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1200"/>
              </a:spcAft>
            </a:pPr>
            <a:r>
              <a:rPr lang="en-US" sz="3200" b="1">
                <a:solidFill>
                  <a:srgbClr val="102E4C"/>
                </a:solidFill>
                <a:latin typeface="Tahoma"/>
              </a:rPr>
              <a:t>How It’s Done Today at Lumen Bank</a:t>
            </a:r>
            <a:endParaRPr sz="3200" b="1">
              <a:solidFill>
                <a:srgbClr val="102E4C"/>
              </a:solidFill>
              <a:latin typeface="Tahoma"/>
            </a:endParaRPr>
          </a:p>
        </p:txBody>
      </p:sp>
      <p:sp>
        <p:nvSpPr>
          <p:cNvPr id="6" name="Rectangle 5">
            <a:extLst>
              <a:ext uri="{FF2B5EF4-FFF2-40B4-BE49-F238E27FC236}">
                <a16:creationId xmlns:a16="http://schemas.microsoft.com/office/drawing/2014/main" id="{AD7BBF22-983A-FEAA-42D3-20CC5A7B8950}"/>
              </a:ext>
            </a:extLst>
          </p:cNvPr>
          <p:cNvSpPr/>
          <p:nvPr/>
        </p:nvSpPr>
        <p:spPr>
          <a:xfrm>
            <a:off x="701040" y="1518308"/>
            <a:ext cx="493776" cy="41148"/>
          </a:xfrm>
          <a:prstGeom prst="rect">
            <a:avLst/>
          </a:prstGeom>
          <a:solidFill>
            <a:srgbClr val="FBAE4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7" name="TextBox 3">
            <a:extLst>
              <a:ext uri="{FF2B5EF4-FFF2-40B4-BE49-F238E27FC236}">
                <a16:creationId xmlns:a16="http://schemas.microsoft.com/office/drawing/2014/main" id="{8A9ECD1E-DC03-938C-CE82-81ED39806521}"/>
              </a:ext>
            </a:extLst>
          </p:cNvPr>
          <p:cNvSpPr txBox="1"/>
          <p:nvPr/>
        </p:nvSpPr>
        <p:spPr>
          <a:xfrm>
            <a:off x="698500" y="1752600"/>
            <a:ext cx="10795000" cy="461665"/>
          </a:xfrm>
          <a:prstGeom prst="rect">
            <a:avLst/>
          </a:prstGeom>
          <a:noFill/>
        </p:spPr>
        <p:txBody>
          <a:bodyPr wrap="square" lIns="18288"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solidFill>
                  <a:srgbClr val="102E4C"/>
                </a:solidFill>
                <a:latin typeface="Tahoma"/>
                <a:ea typeface="Tahoma"/>
                <a:cs typeface="Tahoma"/>
              </a:rPr>
              <a:t>A reviewer rebuilds each complaint by hand.</a:t>
            </a:r>
          </a:p>
        </p:txBody>
      </p:sp>
      <p:sp>
        <p:nvSpPr>
          <p:cNvPr id="3" name="Shape 8">
            <a:extLst>
              <a:ext uri="{FF2B5EF4-FFF2-40B4-BE49-F238E27FC236}">
                <a16:creationId xmlns:a16="http://schemas.microsoft.com/office/drawing/2014/main" id="{27A2DF4D-E0CE-9B33-3474-F8217CBDBB19}"/>
              </a:ext>
            </a:extLst>
          </p:cNvPr>
          <p:cNvSpPr/>
          <p:nvPr/>
        </p:nvSpPr>
        <p:spPr>
          <a:xfrm>
            <a:off x="698500" y="2540000"/>
            <a:ext cx="1473200" cy="1473200"/>
          </a:xfrm>
          <a:prstGeom prst="rect">
            <a:avLst/>
          </a:prstGeom>
          <a:solidFill>
            <a:srgbClr val="EAF1F8"/>
          </a:solidFill>
          <a:ln>
            <a:noFill/>
          </a:ln>
        </p:spPr>
        <p:txBody>
          <a:bodyPr/>
          <a:lstStyle/>
          <a:p>
            <a:endParaRPr lang="en-US" sz="1600"/>
          </a:p>
        </p:txBody>
      </p:sp>
      <p:sp>
        <p:nvSpPr>
          <p:cNvPr id="4" name="Text 9">
            <a:extLst>
              <a:ext uri="{FF2B5EF4-FFF2-40B4-BE49-F238E27FC236}">
                <a16:creationId xmlns:a16="http://schemas.microsoft.com/office/drawing/2014/main" id="{8D5399FF-5789-15D7-4026-FF9A2C29A1EF}"/>
              </a:ext>
            </a:extLst>
          </p:cNvPr>
          <p:cNvSpPr/>
          <p:nvPr/>
        </p:nvSpPr>
        <p:spPr>
          <a:xfrm>
            <a:off x="825500" y="2692400"/>
            <a:ext cx="381000" cy="254000"/>
          </a:xfrm>
          <a:prstGeom prst="rect">
            <a:avLst/>
          </a:prstGeom>
          <a:noFill/>
          <a:ln/>
        </p:spPr>
        <p:txBody>
          <a:bodyPr wrap="square" lIns="0" tIns="0" rIns="0" bIns="0" rtlCol="0" anchor="t"/>
          <a:lstStyle/>
          <a:p>
            <a:pPr marL="0" indent="0">
              <a:lnSpc>
                <a:spcPct val="118000"/>
              </a:lnSpc>
              <a:buNone/>
            </a:pPr>
            <a:r>
              <a:rPr lang="en-US" sz="1400" b="1">
                <a:solidFill>
                  <a:srgbClr val="156082"/>
                </a:solidFill>
                <a:latin typeface="Tahoma"/>
                <a:ea typeface="Tahoma"/>
                <a:cs typeface="Tahoma"/>
              </a:rPr>
              <a:t>1</a:t>
            </a:r>
          </a:p>
        </p:txBody>
      </p:sp>
      <p:sp>
        <p:nvSpPr>
          <p:cNvPr id="17" name="Text 10">
            <a:extLst>
              <a:ext uri="{FF2B5EF4-FFF2-40B4-BE49-F238E27FC236}">
                <a16:creationId xmlns:a16="http://schemas.microsoft.com/office/drawing/2014/main" id="{D8F64401-C0A1-9D21-44A5-453D95CB9C27}"/>
              </a:ext>
            </a:extLst>
          </p:cNvPr>
          <p:cNvSpPr/>
          <p:nvPr/>
        </p:nvSpPr>
        <p:spPr>
          <a:xfrm>
            <a:off x="825500" y="3200400"/>
            <a:ext cx="1270000" cy="762000"/>
          </a:xfrm>
          <a:prstGeom prst="rect">
            <a:avLst/>
          </a:prstGeom>
          <a:noFill/>
          <a:ln/>
        </p:spPr>
        <p:txBody>
          <a:bodyPr wrap="square" lIns="0" tIns="0" rIns="0" bIns="0" rtlCol="0" anchor="t"/>
          <a:lstStyle/>
          <a:p>
            <a:pPr marL="0" indent="0">
              <a:lnSpc>
                <a:spcPct val="110000"/>
              </a:lnSpc>
              <a:buNone/>
            </a:pPr>
            <a:r>
              <a:rPr lang="en-US" sz="1600" b="1">
                <a:solidFill>
                  <a:srgbClr val="102E4C"/>
                </a:solidFill>
                <a:latin typeface="Tahoma"/>
                <a:ea typeface="Tahoma"/>
                <a:cs typeface="Tahoma"/>
              </a:rPr>
              <a:t>Open the</a:t>
            </a:r>
          </a:p>
          <a:p>
            <a:pPr marL="0" indent="0">
              <a:lnSpc>
                <a:spcPct val="110000"/>
              </a:lnSpc>
              <a:buNone/>
            </a:pPr>
            <a:r>
              <a:rPr lang="en-US" sz="1600" b="1">
                <a:solidFill>
                  <a:srgbClr val="102E4C"/>
                </a:solidFill>
                <a:latin typeface="Tahoma"/>
                <a:ea typeface="Tahoma"/>
                <a:cs typeface="Tahoma"/>
              </a:rPr>
              <a:t>case</a:t>
            </a:r>
          </a:p>
        </p:txBody>
      </p:sp>
      <p:sp>
        <p:nvSpPr>
          <p:cNvPr id="19" name="Shape 12">
            <a:extLst>
              <a:ext uri="{FF2B5EF4-FFF2-40B4-BE49-F238E27FC236}">
                <a16:creationId xmlns:a16="http://schemas.microsoft.com/office/drawing/2014/main" id="{BBE24F7F-B3E1-179D-814D-0C630F9ED2B2}"/>
              </a:ext>
            </a:extLst>
          </p:cNvPr>
          <p:cNvSpPr/>
          <p:nvPr/>
        </p:nvSpPr>
        <p:spPr>
          <a:xfrm>
            <a:off x="2252133" y="2540000"/>
            <a:ext cx="1473200" cy="1473200"/>
          </a:xfrm>
          <a:prstGeom prst="rect">
            <a:avLst/>
          </a:prstGeom>
          <a:solidFill>
            <a:srgbClr val="EAF1F8"/>
          </a:solidFill>
          <a:ln>
            <a:noFill/>
          </a:ln>
        </p:spPr>
        <p:txBody>
          <a:bodyPr/>
          <a:lstStyle/>
          <a:p>
            <a:endParaRPr lang="en-US" sz="1600"/>
          </a:p>
        </p:txBody>
      </p:sp>
      <p:sp>
        <p:nvSpPr>
          <p:cNvPr id="20" name="Text 13">
            <a:extLst>
              <a:ext uri="{FF2B5EF4-FFF2-40B4-BE49-F238E27FC236}">
                <a16:creationId xmlns:a16="http://schemas.microsoft.com/office/drawing/2014/main" id="{2E4B8A9A-C221-C70F-F9F4-E84AC1523DA1}"/>
              </a:ext>
            </a:extLst>
          </p:cNvPr>
          <p:cNvSpPr/>
          <p:nvPr/>
        </p:nvSpPr>
        <p:spPr>
          <a:xfrm>
            <a:off x="2379133" y="2692400"/>
            <a:ext cx="381000" cy="254000"/>
          </a:xfrm>
          <a:prstGeom prst="rect">
            <a:avLst/>
          </a:prstGeom>
          <a:noFill/>
          <a:ln/>
        </p:spPr>
        <p:txBody>
          <a:bodyPr wrap="square" lIns="0" tIns="0" rIns="0" bIns="0" rtlCol="0" anchor="t"/>
          <a:lstStyle/>
          <a:p>
            <a:pPr marL="0" indent="0">
              <a:lnSpc>
                <a:spcPct val="118000"/>
              </a:lnSpc>
              <a:buNone/>
            </a:pPr>
            <a:r>
              <a:rPr lang="en-US" sz="1400" b="1">
                <a:solidFill>
                  <a:srgbClr val="156082"/>
                </a:solidFill>
                <a:latin typeface="Tahoma"/>
                <a:ea typeface="Tahoma"/>
                <a:cs typeface="Tahoma"/>
              </a:rPr>
              <a:t>2</a:t>
            </a:r>
          </a:p>
        </p:txBody>
      </p:sp>
      <p:sp>
        <p:nvSpPr>
          <p:cNvPr id="21" name="Text 14">
            <a:extLst>
              <a:ext uri="{FF2B5EF4-FFF2-40B4-BE49-F238E27FC236}">
                <a16:creationId xmlns:a16="http://schemas.microsoft.com/office/drawing/2014/main" id="{83284E9E-528E-725A-5224-744734B0A72A}"/>
              </a:ext>
            </a:extLst>
          </p:cNvPr>
          <p:cNvSpPr/>
          <p:nvPr/>
        </p:nvSpPr>
        <p:spPr>
          <a:xfrm>
            <a:off x="2379133" y="3200400"/>
            <a:ext cx="1270000" cy="762000"/>
          </a:xfrm>
          <a:prstGeom prst="rect">
            <a:avLst/>
          </a:prstGeom>
          <a:noFill/>
          <a:ln/>
        </p:spPr>
        <p:txBody>
          <a:bodyPr wrap="square" lIns="0" tIns="0" rIns="0" bIns="0" rtlCol="0" anchor="t"/>
          <a:lstStyle/>
          <a:p>
            <a:pPr marL="0" indent="0">
              <a:lnSpc>
                <a:spcPct val="110000"/>
              </a:lnSpc>
              <a:buNone/>
            </a:pPr>
            <a:r>
              <a:rPr lang="en-US" sz="1600" b="1">
                <a:solidFill>
                  <a:srgbClr val="102E4C"/>
                </a:solidFill>
                <a:latin typeface="Tahoma"/>
                <a:ea typeface="Tahoma"/>
                <a:cs typeface="Tahoma"/>
              </a:rPr>
              <a:t>Read the</a:t>
            </a:r>
          </a:p>
          <a:p>
            <a:pPr marL="0" indent="0">
              <a:lnSpc>
                <a:spcPct val="110000"/>
              </a:lnSpc>
              <a:buNone/>
            </a:pPr>
            <a:r>
              <a:rPr lang="en-US" sz="1600" b="1">
                <a:solidFill>
                  <a:srgbClr val="102E4C"/>
                </a:solidFill>
                <a:latin typeface="Tahoma"/>
                <a:ea typeface="Tahoma"/>
                <a:cs typeface="Tahoma"/>
              </a:rPr>
              <a:t>statement</a:t>
            </a:r>
          </a:p>
        </p:txBody>
      </p:sp>
      <p:sp>
        <p:nvSpPr>
          <p:cNvPr id="23" name="Shape 16">
            <a:extLst>
              <a:ext uri="{FF2B5EF4-FFF2-40B4-BE49-F238E27FC236}">
                <a16:creationId xmlns:a16="http://schemas.microsoft.com/office/drawing/2014/main" id="{EC25A340-9280-FF24-C6D9-8D376B3E2F6F}"/>
              </a:ext>
            </a:extLst>
          </p:cNvPr>
          <p:cNvSpPr/>
          <p:nvPr/>
        </p:nvSpPr>
        <p:spPr>
          <a:xfrm>
            <a:off x="3805767" y="2540000"/>
            <a:ext cx="1473200" cy="1473200"/>
          </a:xfrm>
          <a:prstGeom prst="rect">
            <a:avLst/>
          </a:prstGeom>
          <a:solidFill>
            <a:srgbClr val="EAF1F8"/>
          </a:solidFill>
          <a:ln>
            <a:noFill/>
          </a:ln>
        </p:spPr>
        <p:txBody>
          <a:bodyPr/>
          <a:lstStyle/>
          <a:p>
            <a:endParaRPr lang="en-US" sz="1600"/>
          </a:p>
        </p:txBody>
      </p:sp>
      <p:sp>
        <p:nvSpPr>
          <p:cNvPr id="24" name="Text 17">
            <a:extLst>
              <a:ext uri="{FF2B5EF4-FFF2-40B4-BE49-F238E27FC236}">
                <a16:creationId xmlns:a16="http://schemas.microsoft.com/office/drawing/2014/main" id="{AE0A378D-7CB3-8410-6700-A9D56D55AD2D}"/>
              </a:ext>
            </a:extLst>
          </p:cNvPr>
          <p:cNvSpPr/>
          <p:nvPr/>
        </p:nvSpPr>
        <p:spPr>
          <a:xfrm>
            <a:off x="3932767" y="2692400"/>
            <a:ext cx="381000" cy="254000"/>
          </a:xfrm>
          <a:prstGeom prst="rect">
            <a:avLst/>
          </a:prstGeom>
          <a:noFill/>
          <a:ln/>
        </p:spPr>
        <p:txBody>
          <a:bodyPr wrap="square" lIns="0" tIns="0" rIns="0" bIns="0" rtlCol="0" anchor="t"/>
          <a:lstStyle/>
          <a:p>
            <a:pPr marL="0" indent="0">
              <a:lnSpc>
                <a:spcPct val="118000"/>
              </a:lnSpc>
              <a:buNone/>
            </a:pPr>
            <a:r>
              <a:rPr lang="en-US" sz="1400" b="1">
                <a:solidFill>
                  <a:srgbClr val="156082"/>
                </a:solidFill>
                <a:latin typeface="Tahoma"/>
                <a:ea typeface="Tahoma"/>
                <a:cs typeface="Tahoma"/>
              </a:rPr>
              <a:t>3</a:t>
            </a:r>
          </a:p>
        </p:txBody>
      </p:sp>
      <p:sp>
        <p:nvSpPr>
          <p:cNvPr id="25" name="Text 18">
            <a:extLst>
              <a:ext uri="{FF2B5EF4-FFF2-40B4-BE49-F238E27FC236}">
                <a16:creationId xmlns:a16="http://schemas.microsoft.com/office/drawing/2014/main" id="{0D57316F-557A-3122-C248-122DF6C8B0D7}"/>
              </a:ext>
            </a:extLst>
          </p:cNvPr>
          <p:cNvSpPr/>
          <p:nvPr/>
        </p:nvSpPr>
        <p:spPr>
          <a:xfrm>
            <a:off x="3932767" y="3200400"/>
            <a:ext cx="1270000" cy="762000"/>
          </a:xfrm>
          <a:prstGeom prst="rect">
            <a:avLst/>
          </a:prstGeom>
          <a:noFill/>
          <a:ln/>
        </p:spPr>
        <p:txBody>
          <a:bodyPr wrap="square" lIns="0" tIns="0" rIns="0" bIns="0" rtlCol="0" anchor="t"/>
          <a:lstStyle/>
          <a:p>
            <a:pPr marL="0" indent="0">
              <a:lnSpc>
                <a:spcPct val="110000"/>
              </a:lnSpc>
              <a:buNone/>
            </a:pPr>
            <a:r>
              <a:rPr lang="en-US" sz="1600" b="1">
                <a:solidFill>
                  <a:srgbClr val="102E4C"/>
                </a:solidFill>
                <a:latin typeface="Tahoma"/>
                <a:ea typeface="Tahoma"/>
                <a:cs typeface="Tahoma"/>
              </a:rPr>
              <a:t>Read the</a:t>
            </a:r>
          </a:p>
          <a:p>
            <a:pPr marL="0" indent="0">
              <a:lnSpc>
                <a:spcPct val="110000"/>
              </a:lnSpc>
              <a:buNone/>
            </a:pPr>
            <a:r>
              <a:rPr lang="en-US" sz="1600" b="1">
                <a:solidFill>
                  <a:srgbClr val="102E4C"/>
                </a:solidFill>
                <a:latin typeface="Tahoma"/>
                <a:ea typeface="Tahoma"/>
                <a:cs typeface="Tahoma"/>
              </a:rPr>
              <a:t>transactions</a:t>
            </a:r>
          </a:p>
        </p:txBody>
      </p:sp>
      <p:sp>
        <p:nvSpPr>
          <p:cNvPr id="27" name="Shape 20">
            <a:extLst>
              <a:ext uri="{FF2B5EF4-FFF2-40B4-BE49-F238E27FC236}">
                <a16:creationId xmlns:a16="http://schemas.microsoft.com/office/drawing/2014/main" id="{D60D2F22-742A-15D4-2643-D011D4F86C6F}"/>
              </a:ext>
            </a:extLst>
          </p:cNvPr>
          <p:cNvSpPr/>
          <p:nvPr/>
        </p:nvSpPr>
        <p:spPr>
          <a:xfrm>
            <a:off x="5359400" y="2540000"/>
            <a:ext cx="1473200" cy="1473200"/>
          </a:xfrm>
          <a:prstGeom prst="rect">
            <a:avLst/>
          </a:prstGeom>
          <a:solidFill>
            <a:srgbClr val="EAF1F8"/>
          </a:solidFill>
          <a:ln>
            <a:noFill/>
          </a:ln>
        </p:spPr>
        <p:txBody>
          <a:bodyPr/>
          <a:lstStyle/>
          <a:p>
            <a:endParaRPr lang="en-US" sz="1600"/>
          </a:p>
        </p:txBody>
      </p:sp>
      <p:sp>
        <p:nvSpPr>
          <p:cNvPr id="28" name="Text 21">
            <a:extLst>
              <a:ext uri="{FF2B5EF4-FFF2-40B4-BE49-F238E27FC236}">
                <a16:creationId xmlns:a16="http://schemas.microsoft.com/office/drawing/2014/main" id="{9F9AB047-E9A4-A3C6-12C9-FE4B7A60D7A6}"/>
              </a:ext>
            </a:extLst>
          </p:cNvPr>
          <p:cNvSpPr/>
          <p:nvPr/>
        </p:nvSpPr>
        <p:spPr>
          <a:xfrm>
            <a:off x="5486400" y="2692400"/>
            <a:ext cx="381000" cy="254000"/>
          </a:xfrm>
          <a:prstGeom prst="rect">
            <a:avLst/>
          </a:prstGeom>
          <a:noFill/>
          <a:ln/>
        </p:spPr>
        <p:txBody>
          <a:bodyPr wrap="square" lIns="0" tIns="0" rIns="0" bIns="0" rtlCol="0" anchor="t"/>
          <a:lstStyle/>
          <a:p>
            <a:pPr marL="0" indent="0">
              <a:lnSpc>
                <a:spcPct val="118000"/>
              </a:lnSpc>
              <a:buNone/>
            </a:pPr>
            <a:r>
              <a:rPr lang="en-US" sz="1400" b="1">
                <a:solidFill>
                  <a:srgbClr val="156082"/>
                </a:solidFill>
                <a:latin typeface="Tahoma"/>
                <a:ea typeface="Tahoma"/>
                <a:cs typeface="Tahoma"/>
              </a:rPr>
              <a:t>4</a:t>
            </a:r>
          </a:p>
        </p:txBody>
      </p:sp>
      <p:sp>
        <p:nvSpPr>
          <p:cNvPr id="29" name="Text 22">
            <a:extLst>
              <a:ext uri="{FF2B5EF4-FFF2-40B4-BE49-F238E27FC236}">
                <a16:creationId xmlns:a16="http://schemas.microsoft.com/office/drawing/2014/main" id="{B2CB781A-45B3-A264-0BB7-1F1A941930C2}"/>
              </a:ext>
            </a:extLst>
          </p:cNvPr>
          <p:cNvSpPr/>
          <p:nvPr/>
        </p:nvSpPr>
        <p:spPr>
          <a:xfrm>
            <a:off x="5486400" y="3200400"/>
            <a:ext cx="1270000" cy="762000"/>
          </a:xfrm>
          <a:prstGeom prst="rect">
            <a:avLst/>
          </a:prstGeom>
          <a:noFill/>
          <a:ln/>
        </p:spPr>
        <p:txBody>
          <a:bodyPr wrap="square" lIns="0" tIns="0" rIns="0" bIns="0" rtlCol="0" anchor="t"/>
          <a:lstStyle/>
          <a:p>
            <a:pPr marL="0" indent="0">
              <a:lnSpc>
                <a:spcPct val="110000"/>
              </a:lnSpc>
              <a:buNone/>
            </a:pPr>
            <a:r>
              <a:rPr lang="en-US" sz="1600" b="1">
                <a:solidFill>
                  <a:srgbClr val="102E4C"/>
                </a:solidFill>
                <a:latin typeface="Tahoma"/>
                <a:ea typeface="Tahoma"/>
                <a:cs typeface="Tahoma"/>
              </a:rPr>
              <a:t>Read the</a:t>
            </a:r>
          </a:p>
          <a:p>
            <a:pPr marL="0" indent="0">
              <a:lnSpc>
                <a:spcPct val="110000"/>
              </a:lnSpc>
              <a:buNone/>
            </a:pPr>
            <a:r>
              <a:rPr lang="en-US" sz="1600" b="1">
                <a:solidFill>
                  <a:srgbClr val="102E4C"/>
                </a:solidFill>
                <a:latin typeface="Tahoma"/>
                <a:ea typeface="Tahoma"/>
                <a:cs typeface="Tahoma"/>
              </a:rPr>
              <a:t>merchant</a:t>
            </a:r>
          </a:p>
        </p:txBody>
      </p:sp>
      <p:sp>
        <p:nvSpPr>
          <p:cNvPr id="31" name="Shape 24">
            <a:extLst>
              <a:ext uri="{FF2B5EF4-FFF2-40B4-BE49-F238E27FC236}">
                <a16:creationId xmlns:a16="http://schemas.microsoft.com/office/drawing/2014/main" id="{94E22001-4325-B9AC-3C56-D33F5E688492}"/>
              </a:ext>
            </a:extLst>
          </p:cNvPr>
          <p:cNvSpPr/>
          <p:nvPr/>
        </p:nvSpPr>
        <p:spPr>
          <a:xfrm>
            <a:off x="6913033" y="2540000"/>
            <a:ext cx="1473200" cy="1473200"/>
          </a:xfrm>
          <a:prstGeom prst="rect">
            <a:avLst/>
          </a:prstGeom>
          <a:solidFill>
            <a:srgbClr val="EAF1F8"/>
          </a:solidFill>
          <a:ln>
            <a:noFill/>
          </a:ln>
        </p:spPr>
        <p:txBody>
          <a:bodyPr/>
          <a:lstStyle/>
          <a:p>
            <a:endParaRPr lang="en-US" sz="1600"/>
          </a:p>
        </p:txBody>
      </p:sp>
      <p:sp>
        <p:nvSpPr>
          <p:cNvPr id="32" name="Text 25">
            <a:extLst>
              <a:ext uri="{FF2B5EF4-FFF2-40B4-BE49-F238E27FC236}">
                <a16:creationId xmlns:a16="http://schemas.microsoft.com/office/drawing/2014/main" id="{9F4799CA-48E8-92F3-044E-E78B32C77B16}"/>
              </a:ext>
            </a:extLst>
          </p:cNvPr>
          <p:cNvSpPr/>
          <p:nvPr/>
        </p:nvSpPr>
        <p:spPr>
          <a:xfrm>
            <a:off x="7040033" y="2692400"/>
            <a:ext cx="381000" cy="254000"/>
          </a:xfrm>
          <a:prstGeom prst="rect">
            <a:avLst/>
          </a:prstGeom>
          <a:noFill/>
          <a:ln/>
        </p:spPr>
        <p:txBody>
          <a:bodyPr wrap="square" lIns="0" tIns="0" rIns="0" bIns="0" rtlCol="0" anchor="t"/>
          <a:lstStyle/>
          <a:p>
            <a:pPr marL="0" indent="0">
              <a:lnSpc>
                <a:spcPct val="118000"/>
              </a:lnSpc>
              <a:buNone/>
            </a:pPr>
            <a:r>
              <a:rPr lang="en-US" sz="1400" b="1">
                <a:solidFill>
                  <a:srgbClr val="156082"/>
                </a:solidFill>
                <a:latin typeface="Tahoma"/>
                <a:ea typeface="Tahoma"/>
                <a:cs typeface="Tahoma"/>
              </a:rPr>
              <a:t>5</a:t>
            </a:r>
          </a:p>
        </p:txBody>
      </p:sp>
      <p:sp>
        <p:nvSpPr>
          <p:cNvPr id="33" name="Text 26">
            <a:extLst>
              <a:ext uri="{FF2B5EF4-FFF2-40B4-BE49-F238E27FC236}">
                <a16:creationId xmlns:a16="http://schemas.microsoft.com/office/drawing/2014/main" id="{3C68B825-DCED-5403-F43B-23426E5F934C}"/>
              </a:ext>
            </a:extLst>
          </p:cNvPr>
          <p:cNvSpPr/>
          <p:nvPr/>
        </p:nvSpPr>
        <p:spPr>
          <a:xfrm>
            <a:off x="7040033" y="3200400"/>
            <a:ext cx="1270000" cy="762000"/>
          </a:xfrm>
          <a:prstGeom prst="rect">
            <a:avLst/>
          </a:prstGeom>
          <a:noFill/>
          <a:ln/>
        </p:spPr>
        <p:txBody>
          <a:bodyPr wrap="square" lIns="0" tIns="0" rIns="0" bIns="0" rtlCol="0" anchor="t"/>
          <a:lstStyle/>
          <a:p>
            <a:pPr marL="0" indent="0">
              <a:lnSpc>
                <a:spcPct val="110000"/>
              </a:lnSpc>
              <a:buNone/>
            </a:pPr>
            <a:r>
              <a:rPr lang="en-US" sz="1600" b="1">
                <a:solidFill>
                  <a:srgbClr val="102E4C"/>
                </a:solidFill>
                <a:latin typeface="Tahoma"/>
                <a:ea typeface="Tahoma"/>
                <a:cs typeface="Tahoma"/>
              </a:rPr>
              <a:t>Choose the</a:t>
            </a:r>
          </a:p>
          <a:p>
            <a:pPr marL="0" indent="0">
              <a:lnSpc>
                <a:spcPct val="110000"/>
              </a:lnSpc>
              <a:buNone/>
            </a:pPr>
            <a:r>
              <a:rPr lang="en-US" sz="1600" b="1">
                <a:solidFill>
                  <a:srgbClr val="102E4C"/>
                </a:solidFill>
                <a:latin typeface="Tahoma"/>
                <a:ea typeface="Tahoma"/>
                <a:cs typeface="Tahoma"/>
              </a:rPr>
              <a:t>policy</a:t>
            </a:r>
          </a:p>
        </p:txBody>
      </p:sp>
      <p:sp>
        <p:nvSpPr>
          <p:cNvPr id="35" name="Shape 28">
            <a:extLst>
              <a:ext uri="{FF2B5EF4-FFF2-40B4-BE49-F238E27FC236}">
                <a16:creationId xmlns:a16="http://schemas.microsoft.com/office/drawing/2014/main" id="{BA1A80C7-02FD-D02E-E40F-DC69EF190974}"/>
              </a:ext>
            </a:extLst>
          </p:cNvPr>
          <p:cNvSpPr/>
          <p:nvPr/>
        </p:nvSpPr>
        <p:spPr>
          <a:xfrm>
            <a:off x="8466667" y="2540000"/>
            <a:ext cx="1473200" cy="1473200"/>
          </a:xfrm>
          <a:prstGeom prst="rect">
            <a:avLst/>
          </a:prstGeom>
          <a:solidFill>
            <a:srgbClr val="EAF1F8"/>
          </a:solidFill>
          <a:ln>
            <a:noFill/>
          </a:ln>
        </p:spPr>
        <p:txBody>
          <a:bodyPr/>
          <a:lstStyle/>
          <a:p>
            <a:endParaRPr lang="en-US" sz="2000"/>
          </a:p>
        </p:txBody>
      </p:sp>
      <p:sp>
        <p:nvSpPr>
          <p:cNvPr id="36" name="Text 29">
            <a:extLst>
              <a:ext uri="{FF2B5EF4-FFF2-40B4-BE49-F238E27FC236}">
                <a16:creationId xmlns:a16="http://schemas.microsoft.com/office/drawing/2014/main" id="{64133AB6-3263-6C7F-EA33-1D30A6EA5141}"/>
              </a:ext>
            </a:extLst>
          </p:cNvPr>
          <p:cNvSpPr/>
          <p:nvPr/>
        </p:nvSpPr>
        <p:spPr>
          <a:xfrm>
            <a:off x="8593667" y="2692400"/>
            <a:ext cx="381000" cy="254000"/>
          </a:xfrm>
          <a:prstGeom prst="rect">
            <a:avLst/>
          </a:prstGeom>
          <a:noFill/>
          <a:ln/>
        </p:spPr>
        <p:txBody>
          <a:bodyPr wrap="square" lIns="0" tIns="0" rIns="0" bIns="0" rtlCol="0" anchor="t"/>
          <a:lstStyle/>
          <a:p>
            <a:pPr marL="0" indent="0">
              <a:lnSpc>
                <a:spcPct val="118000"/>
              </a:lnSpc>
              <a:buNone/>
            </a:pPr>
            <a:r>
              <a:rPr lang="en-US" sz="1400" b="1">
                <a:solidFill>
                  <a:srgbClr val="156082"/>
                </a:solidFill>
                <a:latin typeface="Tahoma"/>
                <a:ea typeface="Tahoma"/>
                <a:cs typeface="Tahoma"/>
              </a:rPr>
              <a:t>6</a:t>
            </a:r>
          </a:p>
        </p:txBody>
      </p:sp>
      <p:sp>
        <p:nvSpPr>
          <p:cNvPr id="37" name="Text 30">
            <a:extLst>
              <a:ext uri="{FF2B5EF4-FFF2-40B4-BE49-F238E27FC236}">
                <a16:creationId xmlns:a16="http://schemas.microsoft.com/office/drawing/2014/main" id="{2031CEF7-DD91-F08E-2860-535BE00DDDDA}"/>
              </a:ext>
            </a:extLst>
          </p:cNvPr>
          <p:cNvSpPr/>
          <p:nvPr/>
        </p:nvSpPr>
        <p:spPr>
          <a:xfrm>
            <a:off x="8593667" y="3200400"/>
            <a:ext cx="1270000" cy="762000"/>
          </a:xfrm>
          <a:prstGeom prst="rect">
            <a:avLst/>
          </a:prstGeom>
          <a:noFill/>
          <a:ln/>
        </p:spPr>
        <p:txBody>
          <a:bodyPr wrap="square" lIns="0" tIns="0" rIns="0" bIns="0" rtlCol="0" anchor="t"/>
          <a:lstStyle/>
          <a:p>
            <a:pPr marL="0" indent="0">
              <a:lnSpc>
                <a:spcPct val="110000"/>
              </a:lnSpc>
              <a:buNone/>
            </a:pPr>
            <a:r>
              <a:rPr lang="en-US" sz="1600" b="1">
                <a:solidFill>
                  <a:srgbClr val="102E4C"/>
                </a:solidFill>
                <a:latin typeface="Tahoma"/>
                <a:ea typeface="Tahoma"/>
                <a:cs typeface="Tahoma"/>
              </a:rPr>
              <a:t>Count the</a:t>
            </a:r>
          </a:p>
          <a:p>
            <a:pPr marL="0" indent="0">
              <a:lnSpc>
                <a:spcPct val="110000"/>
              </a:lnSpc>
              <a:buNone/>
            </a:pPr>
            <a:r>
              <a:rPr lang="en-US" sz="1600" b="1">
                <a:solidFill>
                  <a:srgbClr val="102E4C"/>
                </a:solidFill>
                <a:latin typeface="Tahoma"/>
                <a:ea typeface="Tahoma"/>
                <a:cs typeface="Tahoma"/>
              </a:rPr>
              <a:t>deadline</a:t>
            </a:r>
          </a:p>
        </p:txBody>
      </p:sp>
      <p:sp>
        <p:nvSpPr>
          <p:cNvPr id="39" name="Shape 32">
            <a:extLst>
              <a:ext uri="{FF2B5EF4-FFF2-40B4-BE49-F238E27FC236}">
                <a16:creationId xmlns:a16="http://schemas.microsoft.com/office/drawing/2014/main" id="{2C7643F7-3192-93E3-8471-FC654926B9E4}"/>
              </a:ext>
            </a:extLst>
          </p:cNvPr>
          <p:cNvSpPr/>
          <p:nvPr/>
        </p:nvSpPr>
        <p:spPr>
          <a:xfrm>
            <a:off x="10020300" y="2540000"/>
            <a:ext cx="1473200" cy="1473200"/>
          </a:xfrm>
          <a:prstGeom prst="rect">
            <a:avLst/>
          </a:prstGeom>
          <a:solidFill>
            <a:srgbClr val="EAF1F8"/>
          </a:solidFill>
          <a:ln>
            <a:noFill/>
          </a:ln>
        </p:spPr>
        <p:txBody>
          <a:bodyPr/>
          <a:lstStyle/>
          <a:p>
            <a:endParaRPr lang="en-US" sz="1600"/>
          </a:p>
        </p:txBody>
      </p:sp>
      <p:sp>
        <p:nvSpPr>
          <p:cNvPr id="40" name="Text 33">
            <a:extLst>
              <a:ext uri="{FF2B5EF4-FFF2-40B4-BE49-F238E27FC236}">
                <a16:creationId xmlns:a16="http://schemas.microsoft.com/office/drawing/2014/main" id="{A52FDDE0-FAF5-E8FB-5563-7758BBF52B77}"/>
              </a:ext>
            </a:extLst>
          </p:cNvPr>
          <p:cNvSpPr/>
          <p:nvPr/>
        </p:nvSpPr>
        <p:spPr>
          <a:xfrm>
            <a:off x="10147300" y="2692400"/>
            <a:ext cx="381000" cy="254000"/>
          </a:xfrm>
          <a:prstGeom prst="rect">
            <a:avLst/>
          </a:prstGeom>
          <a:noFill/>
          <a:ln/>
        </p:spPr>
        <p:txBody>
          <a:bodyPr wrap="square" lIns="0" tIns="0" rIns="0" bIns="0" rtlCol="0" anchor="t"/>
          <a:lstStyle/>
          <a:p>
            <a:pPr marL="0" indent="0">
              <a:lnSpc>
                <a:spcPct val="118000"/>
              </a:lnSpc>
              <a:buNone/>
            </a:pPr>
            <a:r>
              <a:rPr lang="en-US" sz="1400" b="1">
                <a:solidFill>
                  <a:srgbClr val="156082"/>
                </a:solidFill>
                <a:latin typeface="Tahoma"/>
                <a:ea typeface="Tahoma"/>
                <a:cs typeface="Tahoma"/>
              </a:rPr>
              <a:t>7</a:t>
            </a:r>
          </a:p>
        </p:txBody>
      </p:sp>
      <p:sp>
        <p:nvSpPr>
          <p:cNvPr id="41" name="Text 34">
            <a:extLst>
              <a:ext uri="{FF2B5EF4-FFF2-40B4-BE49-F238E27FC236}">
                <a16:creationId xmlns:a16="http://schemas.microsoft.com/office/drawing/2014/main" id="{D696CE8D-610B-2D59-38E1-57F74C701EE3}"/>
              </a:ext>
            </a:extLst>
          </p:cNvPr>
          <p:cNvSpPr/>
          <p:nvPr/>
        </p:nvSpPr>
        <p:spPr>
          <a:xfrm>
            <a:off x="10147300" y="3200400"/>
            <a:ext cx="1270000" cy="762000"/>
          </a:xfrm>
          <a:prstGeom prst="rect">
            <a:avLst/>
          </a:prstGeom>
          <a:noFill/>
          <a:ln/>
        </p:spPr>
        <p:txBody>
          <a:bodyPr wrap="square" lIns="0" tIns="0" rIns="0" bIns="0" rtlCol="0" anchor="t"/>
          <a:lstStyle/>
          <a:p>
            <a:pPr marL="0" indent="0">
              <a:lnSpc>
                <a:spcPct val="110000"/>
              </a:lnSpc>
              <a:buNone/>
            </a:pPr>
            <a:r>
              <a:rPr lang="en-US" sz="1600" b="1">
                <a:solidFill>
                  <a:srgbClr val="102E4C"/>
                </a:solidFill>
                <a:latin typeface="Tahoma"/>
                <a:ea typeface="Tahoma"/>
                <a:cs typeface="Tahoma"/>
              </a:rPr>
              <a:t>Cite, draft,</a:t>
            </a:r>
          </a:p>
          <a:p>
            <a:pPr marL="0" indent="0">
              <a:lnSpc>
                <a:spcPct val="110000"/>
              </a:lnSpc>
              <a:buNone/>
            </a:pPr>
            <a:r>
              <a:rPr lang="en-US" sz="1600" b="1">
                <a:solidFill>
                  <a:srgbClr val="102E4C"/>
                </a:solidFill>
                <a:latin typeface="Tahoma"/>
                <a:ea typeface="Tahoma"/>
                <a:cs typeface="Tahoma"/>
              </a:rPr>
              <a:t>record</a:t>
            </a:r>
          </a:p>
        </p:txBody>
      </p:sp>
      <p:sp>
        <p:nvSpPr>
          <p:cNvPr id="42" name="Shape 35">
            <a:extLst>
              <a:ext uri="{FF2B5EF4-FFF2-40B4-BE49-F238E27FC236}">
                <a16:creationId xmlns:a16="http://schemas.microsoft.com/office/drawing/2014/main" id="{DB6FE110-9A03-69D2-8DC2-299C137F72E5}"/>
              </a:ext>
            </a:extLst>
          </p:cNvPr>
          <p:cNvSpPr/>
          <p:nvPr/>
        </p:nvSpPr>
        <p:spPr>
          <a:xfrm>
            <a:off x="698500" y="4123944"/>
            <a:ext cx="4580467" cy="609600"/>
          </a:xfrm>
          <a:prstGeom prst="rect">
            <a:avLst/>
          </a:prstGeom>
          <a:solidFill>
            <a:srgbClr val="102E4C"/>
          </a:solidFill>
          <a:ln>
            <a:noFill/>
          </a:ln>
        </p:spPr>
        <p:txBody>
          <a:bodyPr/>
          <a:lstStyle/>
          <a:p>
            <a:endParaRPr lang="en-US"/>
          </a:p>
        </p:txBody>
      </p:sp>
      <p:sp>
        <p:nvSpPr>
          <p:cNvPr id="43" name="Text 36">
            <a:extLst>
              <a:ext uri="{FF2B5EF4-FFF2-40B4-BE49-F238E27FC236}">
                <a16:creationId xmlns:a16="http://schemas.microsoft.com/office/drawing/2014/main" id="{15B51E4B-D741-4070-FAA1-F9344C9F1460}"/>
              </a:ext>
            </a:extLst>
          </p:cNvPr>
          <p:cNvSpPr/>
          <p:nvPr/>
        </p:nvSpPr>
        <p:spPr>
          <a:xfrm>
            <a:off x="698500" y="4123944"/>
            <a:ext cx="4580467" cy="609600"/>
          </a:xfrm>
          <a:prstGeom prst="rect">
            <a:avLst/>
          </a:prstGeom>
          <a:noFill/>
          <a:ln/>
        </p:spPr>
        <p:txBody>
          <a:bodyPr wrap="square" lIns="76200" tIns="0" rIns="76200" bIns="0" rtlCol="0" anchor="ctr"/>
          <a:lstStyle/>
          <a:p>
            <a:pPr marL="0" indent="0" algn="ctr">
              <a:lnSpc>
                <a:spcPct val="118000"/>
              </a:lnSpc>
              <a:buNone/>
            </a:pPr>
            <a:r>
              <a:rPr lang="en-US" sz="1400" b="1" kern="0" spc="120">
                <a:solidFill>
                  <a:srgbClr val="FFFFFF"/>
                </a:solidFill>
                <a:latin typeface="Tahoma"/>
                <a:ea typeface="Tahoma"/>
                <a:cs typeface="Tahoma"/>
              </a:rPr>
              <a:t>BANK API</a:t>
            </a:r>
            <a:endParaRPr lang="en-US" sz="1400" b="1">
              <a:solidFill>
                <a:srgbClr val="FFFFFF"/>
              </a:solidFill>
              <a:latin typeface="Tahoma"/>
              <a:ea typeface="Tahoma"/>
              <a:cs typeface="Tahoma"/>
            </a:endParaRPr>
          </a:p>
        </p:txBody>
      </p:sp>
      <p:sp>
        <p:nvSpPr>
          <p:cNvPr id="44" name="Shape 37">
            <a:extLst>
              <a:ext uri="{FF2B5EF4-FFF2-40B4-BE49-F238E27FC236}">
                <a16:creationId xmlns:a16="http://schemas.microsoft.com/office/drawing/2014/main" id="{D9FFC324-9EA8-A2CD-B046-A5388B47D1E9}"/>
              </a:ext>
            </a:extLst>
          </p:cNvPr>
          <p:cNvSpPr/>
          <p:nvPr/>
        </p:nvSpPr>
        <p:spPr>
          <a:xfrm>
            <a:off x="5359400" y="4123944"/>
            <a:ext cx="1473200" cy="609600"/>
          </a:xfrm>
          <a:prstGeom prst="rect">
            <a:avLst/>
          </a:prstGeom>
          <a:solidFill>
            <a:srgbClr val="102E4C"/>
          </a:solidFill>
          <a:ln>
            <a:noFill/>
          </a:ln>
        </p:spPr>
        <p:txBody>
          <a:bodyPr/>
          <a:lstStyle/>
          <a:p>
            <a:endParaRPr lang="en-US"/>
          </a:p>
        </p:txBody>
      </p:sp>
      <p:sp>
        <p:nvSpPr>
          <p:cNvPr id="45" name="Text 38">
            <a:extLst>
              <a:ext uri="{FF2B5EF4-FFF2-40B4-BE49-F238E27FC236}">
                <a16:creationId xmlns:a16="http://schemas.microsoft.com/office/drawing/2014/main" id="{3CC5682D-98A4-DA53-1FB8-38BFE805D0F3}"/>
              </a:ext>
            </a:extLst>
          </p:cNvPr>
          <p:cNvSpPr/>
          <p:nvPr/>
        </p:nvSpPr>
        <p:spPr>
          <a:xfrm>
            <a:off x="5359400" y="4123944"/>
            <a:ext cx="1473200" cy="609600"/>
          </a:xfrm>
          <a:prstGeom prst="rect">
            <a:avLst/>
          </a:prstGeom>
          <a:noFill/>
          <a:ln/>
        </p:spPr>
        <p:txBody>
          <a:bodyPr wrap="square" lIns="76200" tIns="0" rIns="76200" bIns="0" rtlCol="0" anchor="ctr"/>
          <a:lstStyle/>
          <a:p>
            <a:pPr marL="0" indent="0" algn="ctr">
              <a:lnSpc>
                <a:spcPct val="118000"/>
              </a:lnSpc>
              <a:buNone/>
            </a:pPr>
            <a:r>
              <a:rPr lang="en-US" sz="1400" b="1" kern="0" spc="120">
                <a:solidFill>
                  <a:srgbClr val="FFFFFF"/>
                </a:solidFill>
                <a:latin typeface="Tahoma"/>
                <a:ea typeface="Tahoma"/>
                <a:cs typeface="Tahoma"/>
              </a:rPr>
              <a:t>MERCHANT RECORD</a:t>
            </a:r>
            <a:endParaRPr lang="en-US" sz="1400" b="1">
              <a:solidFill>
                <a:srgbClr val="FFFFFF"/>
              </a:solidFill>
              <a:latin typeface="Tahoma"/>
              <a:ea typeface="Tahoma"/>
              <a:cs typeface="Tahoma"/>
            </a:endParaRPr>
          </a:p>
        </p:txBody>
      </p:sp>
      <p:sp>
        <p:nvSpPr>
          <p:cNvPr id="46" name="Shape 39">
            <a:extLst>
              <a:ext uri="{FF2B5EF4-FFF2-40B4-BE49-F238E27FC236}">
                <a16:creationId xmlns:a16="http://schemas.microsoft.com/office/drawing/2014/main" id="{7D100FEC-DBDD-4511-2EB0-72C87776F687}"/>
              </a:ext>
            </a:extLst>
          </p:cNvPr>
          <p:cNvSpPr/>
          <p:nvPr/>
        </p:nvSpPr>
        <p:spPr>
          <a:xfrm>
            <a:off x="6913033" y="4123944"/>
            <a:ext cx="4580467" cy="609600"/>
          </a:xfrm>
          <a:prstGeom prst="rect">
            <a:avLst/>
          </a:prstGeom>
          <a:solidFill>
            <a:srgbClr val="102E4C"/>
          </a:solidFill>
          <a:ln>
            <a:noFill/>
          </a:ln>
        </p:spPr>
        <p:txBody>
          <a:bodyPr/>
          <a:lstStyle/>
          <a:p>
            <a:endParaRPr lang="en-US"/>
          </a:p>
        </p:txBody>
      </p:sp>
      <p:sp>
        <p:nvSpPr>
          <p:cNvPr id="47" name="Text 40">
            <a:extLst>
              <a:ext uri="{FF2B5EF4-FFF2-40B4-BE49-F238E27FC236}">
                <a16:creationId xmlns:a16="http://schemas.microsoft.com/office/drawing/2014/main" id="{36479E94-1621-E255-5BF8-F5826B7789ED}"/>
              </a:ext>
            </a:extLst>
          </p:cNvPr>
          <p:cNvSpPr/>
          <p:nvPr/>
        </p:nvSpPr>
        <p:spPr>
          <a:xfrm>
            <a:off x="6913033" y="4123944"/>
            <a:ext cx="4580467" cy="609600"/>
          </a:xfrm>
          <a:prstGeom prst="rect">
            <a:avLst/>
          </a:prstGeom>
          <a:noFill/>
          <a:ln/>
        </p:spPr>
        <p:txBody>
          <a:bodyPr wrap="square" lIns="76200" tIns="0" rIns="76200" bIns="0" rtlCol="0" anchor="ctr"/>
          <a:lstStyle/>
          <a:p>
            <a:pPr marL="0" indent="0" algn="ctr">
              <a:lnSpc>
                <a:spcPct val="118000"/>
              </a:lnSpc>
              <a:buNone/>
            </a:pPr>
            <a:r>
              <a:rPr lang="en-US" sz="1400" b="1" kern="0" spc="120">
                <a:solidFill>
                  <a:srgbClr val="FFFFFF"/>
                </a:solidFill>
                <a:latin typeface="Tahoma"/>
                <a:ea typeface="Tahoma"/>
                <a:cs typeface="Tahoma"/>
              </a:rPr>
              <a:t>POLICY AND RECORD</a:t>
            </a:r>
            <a:endParaRPr lang="en-US" sz="1400" b="1">
              <a:solidFill>
                <a:srgbClr val="FFFFFF"/>
              </a:solidFill>
              <a:latin typeface="Tahoma"/>
              <a:ea typeface="Tahoma"/>
              <a:cs typeface="Tahoma"/>
            </a:endParaRPr>
          </a:p>
        </p:txBody>
      </p:sp>
      <p:sp>
        <p:nvSpPr>
          <p:cNvPr id="49" name="Text 42">
            <a:extLst>
              <a:ext uri="{FF2B5EF4-FFF2-40B4-BE49-F238E27FC236}">
                <a16:creationId xmlns:a16="http://schemas.microsoft.com/office/drawing/2014/main" id="{3FA065C8-985D-0284-BC15-7E359939B514}"/>
              </a:ext>
            </a:extLst>
          </p:cNvPr>
          <p:cNvSpPr/>
          <p:nvPr/>
        </p:nvSpPr>
        <p:spPr>
          <a:xfrm>
            <a:off x="6887633" y="5010912"/>
            <a:ext cx="1524000" cy="279400"/>
          </a:xfrm>
          <a:prstGeom prst="rect">
            <a:avLst/>
          </a:prstGeom>
          <a:noFill/>
          <a:ln/>
        </p:spPr>
        <p:txBody>
          <a:bodyPr wrap="square" lIns="0" tIns="0" rIns="0" bIns="0" rtlCol="0" anchor="t"/>
          <a:lstStyle/>
          <a:p>
            <a:pPr marL="0" indent="0" algn="ctr">
              <a:lnSpc>
                <a:spcPct val="118000"/>
              </a:lnSpc>
              <a:buNone/>
            </a:pPr>
            <a:r>
              <a:rPr lang="en-US" sz="1400" b="1" kern="0" spc="60">
                <a:solidFill>
                  <a:srgbClr val="102E4C"/>
                </a:solidFill>
                <a:latin typeface="Tahoma"/>
                <a:ea typeface="Tahoma"/>
                <a:cs typeface="Tahoma"/>
              </a:rPr>
              <a:t>which version</a:t>
            </a:r>
            <a:endParaRPr lang="en-US" sz="1400" b="1">
              <a:solidFill>
                <a:srgbClr val="102E4C"/>
              </a:solidFill>
              <a:latin typeface="Tahoma"/>
              <a:ea typeface="Tahoma"/>
              <a:cs typeface="Tahoma"/>
            </a:endParaRPr>
          </a:p>
        </p:txBody>
      </p:sp>
      <p:sp>
        <p:nvSpPr>
          <p:cNvPr id="51" name="Text 44">
            <a:extLst>
              <a:ext uri="{FF2B5EF4-FFF2-40B4-BE49-F238E27FC236}">
                <a16:creationId xmlns:a16="http://schemas.microsoft.com/office/drawing/2014/main" id="{AC4750ED-00CF-ADC2-9C00-E212F3C0A9F9}"/>
              </a:ext>
            </a:extLst>
          </p:cNvPr>
          <p:cNvSpPr/>
          <p:nvPr/>
        </p:nvSpPr>
        <p:spPr>
          <a:xfrm>
            <a:off x="8441267" y="5010912"/>
            <a:ext cx="1524000" cy="279400"/>
          </a:xfrm>
          <a:prstGeom prst="rect">
            <a:avLst/>
          </a:prstGeom>
          <a:noFill/>
          <a:ln/>
        </p:spPr>
        <p:txBody>
          <a:bodyPr wrap="square" lIns="0" tIns="0" rIns="0" bIns="0" rtlCol="0" anchor="t"/>
          <a:lstStyle/>
          <a:p>
            <a:pPr marL="0" indent="0" algn="ctr">
              <a:lnSpc>
                <a:spcPct val="118000"/>
              </a:lnSpc>
              <a:buNone/>
            </a:pPr>
            <a:r>
              <a:rPr lang="en-US" sz="1400" b="1" kern="0" spc="60">
                <a:solidFill>
                  <a:srgbClr val="102E4C"/>
                </a:solidFill>
                <a:latin typeface="Tahoma"/>
                <a:ea typeface="Tahoma"/>
                <a:cs typeface="Tahoma"/>
              </a:rPr>
              <a:t>which date</a:t>
            </a:r>
            <a:endParaRPr lang="en-US" sz="1400" b="1">
              <a:solidFill>
                <a:srgbClr val="102E4C"/>
              </a:solidFill>
              <a:latin typeface="Tahoma"/>
              <a:ea typeface="Tahoma"/>
              <a:cs typeface="Tahoma"/>
            </a:endParaRPr>
          </a:p>
        </p:txBody>
      </p:sp>
      <p:sp>
        <p:nvSpPr>
          <p:cNvPr id="53" name="Text 46">
            <a:extLst>
              <a:ext uri="{FF2B5EF4-FFF2-40B4-BE49-F238E27FC236}">
                <a16:creationId xmlns:a16="http://schemas.microsoft.com/office/drawing/2014/main" id="{B6B422DD-F16F-FF4B-D2BE-43422FE0F509}"/>
              </a:ext>
            </a:extLst>
          </p:cNvPr>
          <p:cNvSpPr/>
          <p:nvPr/>
        </p:nvSpPr>
        <p:spPr>
          <a:xfrm>
            <a:off x="9994900" y="5010912"/>
            <a:ext cx="1524000" cy="279400"/>
          </a:xfrm>
          <a:prstGeom prst="rect">
            <a:avLst/>
          </a:prstGeom>
          <a:noFill/>
          <a:ln/>
        </p:spPr>
        <p:txBody>
          <a:bodyPr wrap="square" lIns="0" tIns="0" rIns="0" bIns="0" rtlCol="0" anchor="t"/>
          <a:lstStyle/>
          <a:p>
            <a:pPr marL="0" indent="0" algn="ctr">
              <a:lnSpc>
                <a:spcPct val="118000"/>
              </a:lnSpc>
              <a:buNone/>
            </a:pPr>
            <a:r>
              <a:rPr lang="en-US" sz="1400" b="1" kern="0" spc="60">
                <a:solidFill>
                  <a:srgbClr val="102E4C"/>
                </a:solidFill>
                <a:latin typeface="Tahoma"/>
                <a:ea typeface="Tahoma"/>
                <a:cs typeface="Tahoma"/>
              </a:rPr>
              <a:t>which words</a:t>
            </a:r>
            <a:endParaRPr lang="en-US" sz="1400" b="1">
              <a:solidFill>
                <a:srgbClr val="102E4C"/>
              </a:solidFill>
              <a:latin typeface="Tahoma"/>
              <a:ea typeface="Tahoma"/>
              <a:cs typeface="Tahoma"/>
            </a:endParaRPr>
          </a:p>
        </p:txBody>
      </p:sp>
      <p:sp>
        <p:nvSpPr>
          <p:cNvPr id="54" name="Text 47">
            <a:extLst>
              <a:ext uri="{FF2B5EF4-FFF2-40B4-BE49-F238E27FC236}">
                <a16:creationId xmlns:a16="http://schemas.microsoft.com/office/drawing/2014/main" id="{6E9FA1AC-DA26-BB7A-EFD1-80CDF2B9E039}"/>
              </a:ext>
            </a:extLst>
          </p:cNvPr>
          <p:cNvSpPr/>
          <p:nvPr/>
        </p:nvSpPr>
        <p:spPr>
          <a:xfrm>
            <a:off x="694944" y="5760720"/>
            <a:ext cx="10607040" cy="762000"/>
          </a:xfrm>
          <a:prstGeom prst="rect">
            <a:avLst/>
          </a:prstGeom>
          <a:noFill/>
          <a:ln/>
        </p:spPr>
        <p:txBody>
          <a:bodyPr wrap="square" lIns="18288" tIns="0" rIns="0" bIns="0" rtlCol="0" anchor="t"/>
          <a:lstStyle/>
          <a:p>
            <a:pPr marL="0" indent="0" algn="l">
              <a:lnSpc>
                <a:spcPct val="118000"/>
              </a:lnSpc>
              <a:buNone/>
            </a:pPr>
            <a:r>
              <a:rPr lang="en-US" sz="1600" b="1" i="0">
                <a:solidFill>
                  <a:srgbClr val="102E4C"/>
                </a:solidFill>
                <a:latin typeface="Tahoma"/>
                <a:ea typeface="Tahoma"/>
                <a:cs typeface="Tahoma"/>
              </a:rPr>
              <a:t>Three handoffs where two trained people can reach two different answers.</a:t>
            </a:r>
          </a:p>
        </p:txBody>
      </p:sp>
      <p:sp>
        <p:nvSpPr>
          <p:cNvPr id="55" name="Rectangle 54"/>
          <p:cNvSpPr/>
          <p:nvPr/>
        </p:nvSpPr>
        <p:spPr>
          <a:xfrm>
            <a:off x="7653527" y="4791456"/>
            <a:ext cx="27432" cy="182880"/>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208008" y="4791456"/>
            <a:ext cx="27432" cy="182880"/>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10762488" y="4791456"/>
            <a:ext cx="27432" cy="182880"/>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extLst>
      <p:ext uri="{BB962C8B-B14F-4D97-AF65-F5344CB8AC3E}">
        <p14:creationId xmlns:p14="http://schemas.microsoft.com/office/powerpoint/2010/main" val="2255610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7254D-2D3F-928D-C392-4980FB8B298B}"/>
            </a:ext>
          </a:extLst>
        </p:cNvPr>
        <p:cNvGrpSpPr/>
        <p:nvPr/>
      </p:nvGrpSpPr>
      <p:grpSpPr>
        <a:xfrm>
          <a:off x="0" y="0"/>
          <a:ext cx="0" cy="0"/>
          <a:chOff x="0" y="0"/>
          <a:chExt cx="0" cy="0"/>
        </a:xfrm>
      </p:grpSpPr>
      <p:sp>
        <p:nvSpPr>
          <p:cNvPr id="2" name="TextBox 1"/>
          <p:cNvSpPr txBox="1"/>
          <p:nvPr/>
        </p:nvSpPr>
        <p:spPr>
          <a:xfrm>
            <a:off x="694944" y="658368"/>
            <a:ext cx="10799064" cy="868680"/>
          </a:xfrm>
          <a:prstGeom prst="rect">
            <a:avLst/>
          </a:prstGeom>
          <a:noFill/>
        </p:spPr>
        <p:txBody>
          <a:bodyPr wrap="square" lIns="0" rIns="0" tIns="0" bIns="0" anchor="t">
            <a:spAutoFit/>
          </a:bodyPr>
          <a:lstStyle/>
          <a:p>
            <a:pPr algn="l">
              <a:lnSpc>
                <a:spcPct val="100000"/>
              </a:lnSpc>
            </a:pPr>
            <a:r>
              <a:rPr sz="3200" b="1" i="0">
                <a:solidFill>
                  <a:srgbClr val="102E4C"/>
                </a:solidFill>
                <a:latin typeface="Tahoma"/>
              </a:rPr>
              <a:t>Seven Reads, One Run, Then It Stops at a Draft</a:t>
            </a:r>
          </a:p>
        </p:txBody>
      </p:sp>
      <p:sp>
        <p:nvSpPr>
          <p:cNvPr id="3" name="Rectangle 2"/>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719072"/>
            <a:ext cx="10058400" cy="566928"/>
          </a:xfrm>
          <a:prstGeom prst="rect">
            <a:avLst/>
          </a:prstGeom>
          <a:noFill/>
        </p:spPr>
        <p:txBody>
          <a:bodyPr wrap="square" lIns="0" rIns="0" tIns="0" bIns="0" anchor="t">
            <a:spAutoFit/>
          </a:bodyPr>
          <a:lstStyle/>
          <a:p>
            <a:pPr algn="l">
              <a:lnSpc>
                <a:spcPct val="100000"/>
              </a:lnSpc>
            </a:pPr>
            <a:r>
              <a:rPr sz="1600" b="0" i="0">
                <a:solidFill>
                  <a:srgbClr val="5A6B7D"/>
                </a:solidFill>
                <a:latin typeface="Tahoma"/>
              </a:rPr>
              <a:t>A handler used to rebuild this investigation for every complaint. The run does the seven reads. The reviewer still decides.</a:t>
            </a:r>
          </a:p>
        </p:txBody>
      </p:sp>
      <p:sp>
        <p:nvSpPr>
          <p:cNvPr id="5" name="Rounded Rectangle 4"/>
          <p:cNvSpPr/>
          <p:nvPr/>
        </p:nvSpPr>
        <p:spPr>
          <a:xfrm>
            <a:off x="694944" y="2304288"/>
            <a:ext cx="1463040" cy="1737360"/>
          </a:xfrm>
          <a:prstGeom prst="roundRect">
            <a:avLst>
              <a:gd name="adj" fmla="val 5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0" bIns="274320"/>
          <a:lstStyle/>
          <a:p>
            <a:pPr algn="ctr">
              <a:lnSpc>
                <a:spcPct val="100000"/>
              </a:lnSpc>
            </a:pPr>
            <a:r>
              <a:rPr sz="1300" b="1">
                <a:solidFill>
                  <a:srgbClr val="102E4C"/>
                </a:solidFill>
                <a:latin typeface="Tahoma"/>
              </a:rPr>
              <a:t>Open the case</a:t>
            </a:r>
          </a:p>
        </p:txBody>
      </p:sp>
      <p:sp>
        <p:nvSpPr>
          <p:cNvPr id="6" name="TextBox 5"/>
          <p:cNvSpPr txBox="1"/>
          <p:nvPr/>
        </p:nvSpPr>
        <p:spPr>
          <a:xfrm>
            <a:off x="841248" y="2414016"/>
            <a:ext cx="548640" cy="219456"/>
          </a:xfrm>
          <a:prstGeom prst="rect">
            <a:avLst/>
          </a:prstGeom>
          <a:noFill/>
        </p:spPr>
        <p:txBody>
          <a:bodyPr wrap="square" lIns="0" rIns="0" tIns="0" bIns="0" anchor="t">
            <a:spAutoFit/>
          </a:bodyPr>
          <a:lstStyle/>
          <a:p>
            <a:pPr algn="l">
              <a:lnSpc>
                <a:spcPct val="100000"/>
              </a:lnSpc>
            </a:pPr>
            <a:r>
              <a:rPr sz="1100" b="1" i="0">
                <a:solidFill>
                  <a:srgbClr val="FBAE40"/>
                </a:solidFill>
                <a:latin typeface="Consolas"/>
              </a:rPr>
              <a:t>1</a:t>
            </a:r>
          </a:p>
        </p:txBody>
      </p:sp>
      <p:sp>
        <p:nvSpPr>
          <p:cNvPr id="7" name="Rounded Rectangle 6"/>
          <p:cNvSpPr/>
          <p:nvPr/>
        </p:nvSpPr>
        <p:spPr>
          <a:xfrm>
            <a:off x="2249424" y="2304288"/>
            <a:ext cx="1463040" cy="1737360"/>
          </a:xfrm>
          <a:prstGeom prst="roundRect">
            <a:avLst>
              <a:gd name="adj" fmla="val 5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0" bIns="274320"/>
          <a:lstStyle/>
          <a:p>
            <a:pPr algn="ctr">
              <a:lnSpc>
                <a:spcPct val="100000"/>
              </a:lnSpc>
            </a:pPr>
            <a:r>
              <a:rPr sz="1300" b="1">
                <a:solidFill>
                  <a:srgbClr val="102E4C"/>
                </a:solidFill>
                <a:latin typeface="Tahoma"/>
              </a:rPr>
              <a:t>Read the statement</a:t>
            </a:r>
          </a:p>
        </p:txBody>
      </p:sp>
      <p:sp>
        <p:nvSpPr>
          <p:cNvPr id="8" name="TextBox 7"/>
          <p:cNvSpPr txBox="1"/>
          <p:nvPr/>
        </p:nvSpPr>
        <p:spPr>
          <a:xfrm>
            <a:off x="2395728" y="2414016"/>
            <a:ext cx="548640" cy="219456"/>
          </a:xfrm>
          <a:prstGeom prst="rect">
            <a:avLst/>
          </a:prstGeom>
          <a:noFill/>
        </p:spPr>
        <p:txBody>
          <a:bodyPr wrap="square" lIns="0" rIns="0" tIns="0" bIns="0" anchor="t">
            <a:spAutoFit/>
          </a:bodyPr>
          <a:lstStyle/>
          <a:p>
            <a:pPr algn="l">
              <a:lnSpc>
                <a:spcPct val="100000"/>
              </a:lnSpc>
            </a:pPr>
            <a:r>
              <a:rPr sz="1100" b="1" i="0">
                <a:solidFill>
                  <a:srgbClr val="FBAE40"/>
                </a:solidFill>
                <a:latin typeface="Consolas"/>
              </a:rPr>
              <a:t>2</a:t>
            </a:r>
          </a:p>
        </p:txBody>
      </p:sp>
      <p:sp>
        <p:nvSpPr>
          <p:cNvPr id="9" name="Rounded Rectangle 8"/>
          <p:cNvSpPr/>
          <p:nvPr/>
        </p:nvSpPr>
        <p:spPr>
          <a:xfrm>
            <a:off x="3803904" y="2304288"/>
            <a:ext cx="1463040" cy="1737360"/>
          </a:xfrm>
          <a:prstGeom prst="roundRect">
            <a:avLst>
              <a:gd name="adj" fmla="val 5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0" bIns="274320"/>
          <a:lstStyle/>
          <a:p>
            <a:pPr algn="ctr">
              <a:lnSpc>
                <a:spcPct val="100000"/>
              </a:lnSpc>
            </a:pPr>
            <a:r>
              <a:rPr sz="1300" b="1">
                <a:solidFill>
                  <a:srgbClr val="102E4C"/>
                </a:solidFill>
                <a:latin typeface="Tahoma"/>
              </a:rPr>
              <a:t>Read the transactions</a:t>
            </a:r>
          </a:p>
        </p:txBody>
      </p:sp>
      <p:sp>
        <p:nvSpPr>
          <p:cNvPr id="10" name="TextBox 9"/>
          <p:cNvSpPr txBox="1"/>
          <p:nvPr/>
        </p:nvSpPr>
        <p:spPr>
          <a:xfrm>
            <a:off x="3950208" y="2414016"/>
            <a:ext cx="548640" cy="219456"/>
          </a:xfrm>
          <a:prstGeom prst="rect">
            <a:avLst/>
          </a:prstGeom>
          <a:noFill/>
        </p:spPr>
        <p:txBody>
          <a:bodyPr wrap="square" lIns="0" rIns="0" tIns="0" bIns="0" anchor="t">
            <a:spAutoFit/>
          </a:bodyPr>
          <a:lstStyle/>
          <a:p>
            <a:pPr algn="l">
              <a:lnSpc>
                <a:spcPct val="100000"/>
              </a:lnSpc>
            </a:pPr>
            <a:r>
              <a:rPr sz="1100" b="1" i="0">
                <a:solidFill>
                  <a:srgbClr val="FBAE40"/>
                </a:solidFill>
                <a:latin typeface="Consolas"/>
              </a:rPr>
              <a:t>3</a:t>
            </a:r>
          </a:p>
        </p:txBody>
      </p:sp>
      <p:sp>
        <p:nvSpPr>
          <p:cNvPr id="11" name="Rounded Rectangle 10"/>
          <p:cNvSpPr/>
          <p:nvPr/>
        </p:nvSpPr>
        <p:spPr>
          <a:xfrm>
            <a:off x="5358383" y="2304288"/>
            <a:ext cx="1463040" cy="1737360"/>
          </a:xfrm>
          <a:prstGeom prst="roundRect">
            <a:avLst>
              <a:gd name="adj" fmla="val 5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0" bIns="274320"/>
          <a:lstStyle/>
          <a:p>
            <a:pPr algn="ctr">
              <a:lnSpc>
                <a:spcPct val="100000"/>
              </a:lnSpc>
            </a:pPr>
            <a:r>
              <a:rPr sz="1300" b="1">
                <a:solidFill>
                  <a:srgbClr val="102E4C"/>
                </a:solidFill>
                <a:latin typeface="Tahoma"/>
              </a:rPr>
              <a:t>Read the merchant</a:t>
            </a:r>
          </a:p>
        </p:txBody>
      </p:sp>
      <p:sp>
        <p:nvSpPr>
          <p:cNvPr id="12" name="TextBox 11"/>
          <p:cNvSpPr txBox="1"/>
          <p:nvPr/>
        </p:nvSpPr>
        <p:spPr>
          <a:xfrm>
            <a:off x="5504688" y="2414016"/>
            <a:ext cx="548640" cy="219456"/>
          </a:xfrm>
          <a:prstGeom prst="rect">
            <a:avLst/>
          </a:prstGeom>
          <a:noFill/>
        </p:spPr>
        <p:txBody>
          <a:bodyPr wrap="square" lIns="0" rIns="0" tIns="0" bIns="0" anchor="t">
            <a:spAutoFit/>
          </a:bodyPr>
          <a:lstStyle/>
          <a:p>
            <a:pPr algn="l">
              <a:lnSpc>
                <a:spcPct val="100000"/>
              </a:lnSpc>
            </a:pPr>
            <a:r>
              <a:rPr sz="1100" b="1" i="0">
                <a:solidFill>
                  <a:srgbClr val="FBAE40"/>
                </a:solidFill>
                <a:latin typeface="Consolas"/>
              </a:rPr>
              <a:t>4</a:t>
            </a:r>
          </a:p>
        </p:txBody>
      </p:sp>
      <p:sp>
        <p:nvSpPr>
          <p:cNvPr id="13" name="Rounded Rectangle 12"/>
          <p:cNvSpPr/>
          <p:nvPr/>
        </p:nvSpPr>
        <p:spPr>
          <a:xfrm>
            <a:off x="6912864" y="2304288"/>
            <a:ext cx="1463040" cy="1737360"/>
          </a:xfrm>
          <a:prstGeom prst="roundRect">
            <a:avLst>
              <a:gd name="adj" fmla="val 5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0" bIns="274320"/>
          <a:lstStyle/>
          <a:p>
            <a:pPr algn="ctr">
              <a:lnSpc>
                <a:spcPct val="100000"/>
              </a:lnSpc>
            </a:pPr>
            <a:r>
              <a:rPr sz="1300" b="1">
                <a:solidFill>
                  <a:srgbClr val="102E4C"/>
                </a:solidFill>
                <a:latin typeface="Tahoma"/>
              </a:rPr>
              <a:t>Choose the policy</a:t>
            </a:r>
          </a:p>
        </p:txBody>
      </p:sp>
      <p:sp>
        <p:nvSpPr>
          <p:cNvPr id="14" name="TextBox 13"/>
          <p:cNvSpPr txBox="1"/>
          <p:nvPr/>
        </p:nvSpPr>
        <p:spPr>
          <a:xfrm>
            <a:off x="7059168" y="2414016"/>
            <a:ext cx="548640" cy="219456"/>
          </a:xfrm>
          <a:prstGeom prst="rect">
            <a:avLst/>
          </a:prstGeom>
          <a:noFill/>
        </p:spPr>
        <p:txBody>
          <a:bodyPr wrap="square" lIns="0" rIns="0" tIns="0" bIns="0" anchor="t">
            <a:spAutoFit/>
          </a:bodyPr>
          <a:lstStyle/>
          <a:p>
            <a:pPr algn="l">
              <a:lnSpc>
                <a:spcPct val="100000"/>
              </a:lnSpc>
            </a:pPr>
            <a:r>
              <a:rPr sz="1100" b="1" i="0">
                <a:solidFill>
                  <a:srgbClr val="FBAE40"/>
                </a:solidFill>
                <a:latin typeface="Consolas"/>
              </a:rPr>
              <a:t>5</a:t>
            </a:r>
          </a:p>
        </p:txBody>
      </p:sp>
      <p:sp>
        <p:nvSpPr>
          <p:cNvPr id="15" name="Rounded Rectangle 14"/>
          <p:cNvSpPr/>
          <p:nvPr/>
        </p:nvSpPr>
        <p:spPr>
          <a:xfrm>
            <a:off x="8467344" y="2304288"/>
            <a:ext cx="1463040" cy="1737360"/>
          </a:xfrm>
          <a:prstGeom prst="roundRect">
            <a:avLst>
              <a:gd name="adj" fmla="val 5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0" bIns="274320"/>
          <a:lstStyle/>
          <a:p>
            <a:pPr algn="ctr">
              <a:lnSpc>
                <a:spcPct val="100000"/>
              </a:lnSpc>
            </a:pPr>
            <a:r>
              <a:rPr sz="1300" b="1">
                <a:solidFill>
                  <a:srgbClr val="102E4C"/>
                </a:solidFill>
                <a:latin typeface="Tahoma"/>
              </a:rPr>
              <a:t>Count the deadline</a:t>
            </a:r>
          </a:p>
        </p:txBody>
      </p:sp>
      <p:sp>
        <p:nvSpPr>
          <p:cNvPr id="16" name="TextBox 15"/>
          <p:cNvSpPr txBox="1"/>
          <p:nvPr/>
        </p:nvSpPr>
        <p:spPr>
          <a:xfrm>
            <a:off x="8613648" y="2414016"/>
            <a:ext cx="548640" cy="219456"/>
          </a:xfrm>
          <a:prstGeom prst="rect">
            <a:avLst/>
          </a:prstGeom>
          <a:noFill/>
        </p:spPr>
        <p:txBody>
          <a:bodyPr wrap="square" lIns="0" rIns="0" tIns="0" bIns="0" anchor="t">
            <a:spAutoFit/>
          </a:bodyPr>
          <a:lstStyle/>
          <a:p>
            <a:pPr algn="l">
              <a:lnSpc>
                <a:spcPct val="100000"/>
              </a:lnSpc>
            </a:pPr>
            <a:r>
              <a:rPr sz="1100" b="1" i="0">
                <a:solidFill>
                  <a:srgbClr val="FBAE40"/>
                </a:solidFill>
                <a:latin typeface="Consolas"/>
              </a:rPr>
              <a:t>6</a:t>
            </a:r>
          </a:p>
        </p:txBody>
      </p:sp>
      <p:sp>
        <p:nvSpPr>
          <p:cNvPr id="17" name="Rounded Rectangle 16"/>
          <p:cNvSpPr/>
          <p:nvPr/>
        </p:nvSpPr>
        <p:spPr>
          <a:xfrm>
            <a:off x="10021824" y="2304288"/>
            <a:ext cx="1463040" cy="1737360"/>
          </a:xfrm>
          <a:prstGeom prst="roundRect">
            <a:avLst>
              <a:gd name="adj" fmla="val 5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0" bIns="274320"/>
          <a:lstStyle/>
          <a:p>
            <a:pPr algn="ctr">
              <a:lnSpc>
                <a:spcPct val="100000"/>
              </a:lnSpc>
            </a:pPr>
            <a:r>
              <a:rPr sz="1300" b="1">
                <a:solidFill>
                  <a:srgbClr val="102E4C"/>
                </a:solidFill>
                <a:latin typeface="Tahoma"/>
              </a:rPr>
              <a:t>Cite, draft, record</a:t>
            </a:r>
          </a:p>
        </p:txBody>
      </p:sp>
      <p:sp>
        <p:nvSpPr>
          <p:cNvPr id="18" name="TextBox 17"/>
          <p:cNvSpPr txBox="1"/>
          <p:nvPr/>
        </p:nvSpPr>
        <p:spPr>
          <a:xfrm>
            <a:off x="10168128" y="2414016"/>
            <a:ext cx="548640" cy="219456"/>
          </a:xfrm>
          <a:prstGeom prst="rect">
            <a:avLst/>
          </a:prstGeom>
          <a:noFill/>
        </p:spPr>
        <p:txBody>
          <a:bodyPr wrap="square" lIns="0" rIns="0" tIns="0" bIns="0" anchor="t">
            <a:spAutoFit/>
          </a:bodyPr>
          <a:lstStyle/>
          <a:p>
            <a:pPr algn="l">
              <a:lnSpc>
                <a:spcPct val="100000"/>
              </a:lnSpc>
            </a:pPr>
            <a:r>
              <a:rPr sz="1100" b="1" i="0">
                <a:solidFill>
                  <a:srgbClr val="FBAE40"/>
                </a:solidFill>
                <a:latin typeface="Consolas"/>
              </a:rPr>
              <a:t>7</a:t>
            </a:r>
          </a:p>
        </p:txBody>
      </p:sp>
      <p:sp>
        <p:nvSpPr>
          <p:cNvPr id="19" name="Rounded Rectangle 18"/>
          <p:cNvSpPr/>
          <p:nvPr/>
        </p:nvSpPr>
        <p:spPr>
          <a:xfrm>
            <a:off x="694944" y="4224528"/>
            <a:ext cx="10799064" cy="365760"/>
          </a:xfrm>
          <a:prstGeom prst="roundRect">
            <a:avLst>
              <a:gd name="adj" fmla="val 5000"/>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ctr">
              <a:lnSpc>
                <a:spcPct val="100000"/>
              </a:lnSpc>
            </a:pPr>
            <a:r>
              <a:rPr sz="1150" b="1">
                <a:solidFill>
                  <a:srgbClr val="FFFFFF"/>
                </a:solidFill>
                <a:latin typeface="Tahoma"/>
              </a:rPr>
              <a:t>ALL SEVEN READS HAPPEN IN ONE RUN. THEN THE RUN STOPS.</a:t>
            </a:r>
          </a:p>
        </p:txBody>
      </p:sp>
      <p:sp>
        <p:nvSpPr>
          <p:cNvPr id="20" name="Rounded Rectangle 19"/>
          <p:cNvSpPr/>
          <p:nvPr/>
        </p:nvSpPr>
        <p:spPr>
          <a:xfrm>
            <a:off x="694944" y="4791456"/>
            <a:ext cx="10799064" cy="1371600"/>
          </a:xfrm>
          <a:prstGeom prst="roundRect">
            <a:avLst>
              <a:gd name="adj" fmla="val 5333"/>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60704" y="4901184"/>
            <a:ext cx="9966960" cy="658368"/>
          </a:xfrm>
          <a:prstGeom prst="rect">
            <a:avLst/>
          </a:prstGeom>
          <a:noFill/>
        </p:spPr>
        <p:txBody>
          <a:bodyPr wrap="square" lIns="0" rIns="0" tIns="0" bIns="0" anchor="t">
            <a:spAutoFit/>
          </a:bodyPr>
          <a:lstStyle/>
          <a:p>
            <a:pPr algn="l">
              <a:lnSpc>
                <a:spcPct val="100000"/>
              </a:lnSpc>
            </a:pPr>
            <a:r>
              <a:rPr sz="2100" b="1" i="0">
                <a:solidFill>
                  <a:srgbClr val="102E4C"/>
                </a:solidFill>
                <a:latin typeface="Tahoma"/>
              </a:rPr>
              <a:t>The reviewer's part is one decision: approve, or deny that draft.</a:t>
            </a:r>
          </a:p>
        </p:txBody>
      </p:sp>
      <p:sp>
        <p:nvSpPr>
          <p:cNvPr id="22" name="TextBox 21"/>
          <p:cNvSpPr txBox="1"/>
          <p:nvPr/>
        </p:nvSpPr>
        <p:spPr>
          <a:xfrm>
            <a:off x="1060704" y="5632704"/>
            <a:ext cx="9966960" cy="274320"/>
          </a:xfrm>
          <a:prstGeom prst="rect">
            <a:avLst/>
          </a:prstGeom>
          <a:noFill/>
        </p:spPr>
        <p:txBody>
          <a:bodyPr wrap="square" lIns="0" rIns="0" tIns="0" bIns="0" anchor="t">
            <a:spAutoFit/>
          </a:bodyPr>
          <a:lstStyle/>
          <a:p>
            <a:pPr algn="l">
              <a:lnSpc>
                <a:spcPct val="100000"/>
              </a:lnSpc>
            </a:pPr>
            <a:r>
              <a:rPr sz="1300" b="0" i="0">
                <a:solidFill>
                  <a:srgbClr val="102E4C"/>
                </a:solidFill>
                <a:latin typeface="Tahoma"/>
              </a:rPr>
              <a:t>The approval binds that exact draft. The gate refuses a changed draft before it writes anything.</a:t>
            </a:r>
          </a:p>
        </p:txBody>
      </p:sp>
    </p:spTree>
    <p:extLst>
      <p:ext uri="{BB962C8B-B14F-4D97-AF65-F5344CB8AC3E}">
        <p14:creationId xmlns:p14="http://schemas.microsoft.com/office/powerpoint/2010/main" val="3538780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User story: a dispute handler wants a draft to check against its sources.">
            <a:extLst>
              <a:ext uri="{FF2B5EF4-FFF2-40B4-BE49-F238E27FC236}">
                <a16:creationId xmlns:a16="http://schemas.microsoft.com/office/drawing/2014/main" id="{4B598849-312D-52E1-DE80-453AD0F68C89}"/>
              </a:ext>
            </a:extLst>
          </p:cNvPr>
          <p:cNvPicPr>
            <a:picLocks noChangeAspect="1"/>
          </p:cNvPicPr>
          <p:nvPr/>
        </p:nvPicPr>
        <p:blipFill>
          <a:blip r:embed="rId2"/>
          <a:srcRect b="5800"/>
          <a:stretch>
            <a:fillRect/>
          </a:stretch>
        </p:blipFill>
        <p:spPr>
          <a:xfrm>
            <a:off x="0" y="0"/>
            <a:ext cx="12192000" cy="6460236"/>
          </a:xfrm>
          <a:prstGeom prst="rect">
            <a:avLst/>
          </a:prstGeom>
        </p:spPr>
      </p:pic>
    </p:spTree>
    <p:extLst>
      <p:ext uri="{BB962C8B-B14F-4D97-AF65-F5344CB8AC3E}">
        <p14:creationId xmlns:p14="http://schemas.microsoft.com/office/powerpoint/2010/main" val="4234415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4490C-F832-7245-FC93-D6300E99CB73}"/>
            </a:ext>
          </a:extLst>
        </p:cNvPr>
        <p:cNvGrpSpPr/>
        <p:nvPr/>
      </p:nvGrpSpPr>
      <p:grpSpPr>
        <a:xfrm>
          <a:off x="0" y="0"/>
          <a:ext cx="0" cy="0"/>
          <a:chOff x="0" y="0"/>
          <a:chExt cx="0" cy="0"/>
        </a:xfrm>
      </p:grpSpPr>
      <p:sp>
        <p:nvSpPr>
          <p:cNvPr id="2" name="TextBox 1"/>
          <p:cNvSpPr txBox="1"/>
          <p:nvPr/>
        </p:nvSpPr>
        <p:spPr>
          <a:xfrm>
            <a:off x="694944" y="658368"/>
            <a:ext cx="10799064" cy="868680"/>
          </a:xfrm>
          <a:prstGeom prst="rect">
            <a:avLst/>
          </a:prstGeom>
          <a:noFill/>
        </p:spPr>
        <p:txBody>
          <a:bodyPr wrap="square" lIns="0" rIns="0" tIns="0" bIns="0" anchor="t">
            <a:spAutoFit/>
          </a:bodyPr>
          <a:lstStyle/>
          <a:p>
            <a:pPr algn="l">
              <a:lnSpc>
                <a:spcPct val="100000"/>
              </a:lnSpc>
            </a:pPr>
            <a:r>
              <a:rPr sz="3200" b="1" i="0">
                <a:solidFill>
                  <a:srgbClr val="102E4C"/>
                </a:solidFill>
                <a:latin typeface="Tahoma"/>
              </a:rPr>
              <a:t>Policy Versions and the Procedure</a:t>
            </a:r>
          </a:p>
        </p:txBody>
      </p:sp>
      <p:sp>
        <p:nvSpPr>
          <p:cNvPr id="3" name="Rectangle 2"/>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700784"/>
            <a:ext cx="10424160" cy="548640"/>
          </a:xfrm>
          <a:prstGeom prst="rect">
            <a:avLst/>
          </a:prstGeom>
          <a:noFill/>
        </p:spPr>
        <p:txBody>
          <a:bodyPr wrap="square" lIns="0" rIns="0" tIns="0" bIns="0" anchor="t">
            <a:spAutoFit/>
          </a:bodyPr>
          <a:lstStyle/>
          <a:p>
            <a:pPr algn="l">
              <a:lnSpc>
                <a:spcPct val="100000"/>
              </a:lnSpc>
            </a:pPr>
            <a:r>
              <a:rPr sz="1600" b="0" i="0">
                <a:solidFill>
                  <a:srgbClr val="5A6B7D"/>
                </a:solidFill>
                <a:latin typeface="Tahoma"/>
              </a:rPr>
              <a:t>Two versions of the card policy share one procedure. The complaint's reported date picks the version.</a:t>
            </a:r>
          </a:p>
        </p:txBody>
      </p:sp>
      <p:sp>
        <p:nvSpPr>
          <p:cNvPr id="5" name="Rectangle 4"/>
          <p:cNvSpPr/>
          <p:nvPr/>
        </p:nvSpPr>
        <p:spPr>
          <a:xfrm>
            <a:off x="694944" y="2359152"/>
            <a:ext cx="1874519" cy="457200"/>
          </a:xfrm>
          <a:prstGeom prst="rect">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l">
              <a:lnSpc>
                <a:spcPct val="100000"/>
              </a:lnSpc>
            </a:pPr>
            <a:r>
              <a:rPr sz="1050" b="1">
                <a:solidFill>
                  <a:srgbClr val="FFFFFF"/>
                </a:solidFill>
                <a:latin typeface="Tahoma"/>
              </a:rPr>
              <a:t>DISPUTE TYPE</a:t>
            </a:r>
          </a:p>
        </p:txBody>
      </p:sp>
      <p:sp>
        <p:nvSpPr>
          <p:cNvPr id="6" name="Rectangle 5"/>
          <p:cNvSpPr/>
          <p:nvPr/>
        </p:nvSpPr>
        <p:spPr>
          <a:xfrm>
            <a:off x="2569463" y="2359152"/>
            <a:ext cx="2057400" cy="457200"/>
          </a:xfrm>
          <a:prstGeom prst="rect">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050" b="1">
                <a:solidFill>
                  <a:srgbClr val="FFFFFF"/>
                </a:solidFill>
                <a:latin typeface="Tahoma"/>
              </a:rPr>
              <a:t>CARD-POLICY-V1</a:t>
            </a:r>
          </a:p>
        </p:txBody>
      </p:sp>
      <p:sp>
        <p:nvSpPr>
          <p:cNvPr id="7" name="Rectangle 6"/>
          <p:cNvSpPr/>
          <p:nvPr/>
        </p:nvSpPr>
        <p:spPr>
          <a:xfrm>
            <a:off x="4626864" y="2359152"/>
            <a:ext cx="2057400" cy="457200"/>
          </a:xfrm>
          <a:prstGeom prst="rect">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050" b="1">
                <a:solidFill>
                  <a:srgbClr val="FFFFFF"/>
                </a:solidFill>
                <a:latin typeface="Tahoma"/>
              </a:rPr>
              <a:t>CARD-POLICY-V2</a:t>
            </a:r>
          </a:p>
        </p:txBody>
      </p:sp>
      <p:sp>
        <p:nvSpPr>
          <p:cNvPr id="8" name="Rectangle 7"/>
          <p:cNvSpPr/>
          <p:nvPr/>
        </p:nvSpPr>
        <p:spPr>
          <a:xfrm>
            <a:off x="694944" y="2816352"/>
            <a:ext cx="1874519" cy="548640"/>
          </a:xfrm>
          <a:prstGeom prst="rect">
            <a:avLst/>
          </a:prstGeom>
          <a:solidFill>
            <a:srgbClr val="FFFFFF"/>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l">
              <a:lnSpc>
                <a:spcPct val="100000"/>
              </a:lnSpc>
            </a:pPr>
            <a:r>
              <a:rPr sz="1200" b="1">
                <a:solidFill>
                  <a:srgbClr val="102E4C"/>
                </a:solidFill>
                <a:latin typeface="Tahoma"/>
              </a:rPr>
              <a:t>Effective</a:t>
            </a:r>
          </a:p>
        </p:txBody>
      </p:sp>
      <p:sp>
        <p:nvSpPr>
          <p:cNvPr id="9" name="Rectangle 8"/>
          <p:cNvSpPr/>
          <p:nvPr/>
        </p:nvSpPr>
        <p:spPr>
          <a:xfrm>
            <a:off x="2569463" y="2816352"/>
            <a:ext cx="2057400" cy="548640"/>
          </a:xfrm>
          <a:prstGeom prst="rect">
            <a:avLst/>
          </a:prstGeom>
          <a:solidFill>
            <a:srgbClr val="FFFFFF"/>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150" b="0">
                <a:solidFill>
                  <a:srgbClr val="102E4C"/>
                </a:solidFill>
                <a:latin typeface="Tahoma"/>
              </a:rPr>
              <a:t>2026-01-01 to 2026-08-31</a:t>
            </a:r>
          </a:p>
        </p:txBody>
      </p:sp>
      <p:sp>
        <p:nvSpPr>
          <p:cNvPr id="10" name="Rectangle 9"/>
          <p:cNvSpPr/>
          <p:nvPr/>
        </p:nvSpPr>
        <p:spPr>
          <a:xfrm>
            <a:off x="4626864" y="2816352"/>
            <a:ext cx="2057400" cy="548640"/>
          </a:xfrm>
          <a:prstGeom prst="rect">
            <a:avLst/>
          </a:prstGeom>
          <a:solidFill>
            <a:srgbClr val="FFFFFF"/>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150" b="0">
                <a:solidFill>
                  <a:srgbClr val="102E4C"/>
                </a:solidFill>
                <a:latin typeface="Tahoma"/>
              </a:rPr>
              <a:t>2026-09-01 to 2026-12-31</a:t>
            </a:r>
          </a:p>
        </p:txBody>
      </p:sp>
      <p:sp>
        <p:nvSpPr>
          <p:cNvPr id="11" name="Rectangle 10"/>
          <p:cNvSpPr/>
          <p:nvPr/>
        </p:nvSpPr>
        <p:spPr>
          <a:xfrm>
            <a:off x="694944" y="3364992"/>
            <a:ext cx="1874519" cy="548640"/>
          </a:xfrm>
          <a:prstGeom prst="rect">
            <a:avLst/>
          </a:prstGeom>
          <a:solidFill>
            <a:srgbClr val="EAF1F8"/>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l">
              <a:lnSpc>
                <a:spcPct val="100000"/>
              </a:lnSpc>
            </a:pPr>
            <a:r>
              <a:rPr sz="1200" b="1">
                <a:solidFill>
                  <a:srgbClr val="102E4C"/>
                </a:solidFill>
                <a:latin typeface="Tahoma"/>
              </a:rPr>
              <a:t>Unauthorized</a:t>
            </a:r>
          </a:p>
        </p:txBody>
      </p:sp>
      <p:sp>
        <p:nvSpPr>
          <p:cNvPr id="12" name="Rectangle 11"/>
          <p:cNvSpPr/>
          <p:nvPr/>
        </p:nvSpPr>
        <p:spPr>
          <a:xfrm>
            <a:off x="2569463" y="3364992"/>
            <a:ext cx="2057400" cy="548640"/>
          </a:xfrm>
          <a:prstGeom prst="rect">
            <a:avLst/>
          </a:prstGeom>
          <a:solidFill>
            <a:srgbClr val="EAF1F8"/>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150" b="0">
                <a:solidFill>
                  <a:srgbClr val="102E4C"/>
                </a:solidFill>
                <a:latin typeface="Tahoma"/>
              </a:rPr>
              <a:t>20 days</a:t>
            </a:r>
          </a:p>
        </p:txBody>
      </p:sp>
      <p:sp>
        <p:nvSpPr>
          <p:cNvPr id="13" name="Rectangle 12"/>
          <p:cNvSpPr/>
          <p:nvPr/>
        </p:nvSpPr>
        <p:spPr>
          <a:xfrm>
            <a:off x="4626864" y="3364992"/>
            <a:ext cx="2057400" cy="548640"/>
          </a:xfrm>
          <a:prstGeom prst="rect">
            <a:avLst/>
          </a:prstGeom>
          <a:solidFill>
            <a:srgbClr val="EAF1F8"/>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150" b="0">
                <a:solidFill>
                  <a:srgbClr val="102E4C"/>
                </a:solidFill>
                <a:latin typeface="Tahoma"/>
              </a:rPr>
              <a:t>30 days</a:t>
            </a:r>
          </a:p>
        </p:txBody>
      </p:sp>
      <p:sp>
        <p:nvSpPr>
          <p:cNvPr id="14" name="Rectangle 13"/>
          <p:cNvSpPr/>
          <p:nvPr/>
        </p:nvSpPr>
        <p:spPr>
          <a:xfrm>
            <a:off x="694944" y="3913632"/>
            <a:ext cx="1874519" cy="548640"/>
          </a:xfrm>
          <a:prstGeom prst="rect">
            <a:avLst/>
          </a:prstGeom>
          <a:solidFill>
            <a:srgbClr val="FFFFFF"/>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l">
              <a:lnSpc>
                <a:spcPct val="100000"/>
              </a:lnSpc>
            </a:pPr>
            <a:r>
              <a:rPr sz="1200" b="1">
                <a:solidFill>
                  <a:srgbClr val="102E4C"/>
                </a:solidFill>
                <a:latin typeface="Tahoma"/>
              </a:rPr>
              <a:t>Duplicate charge</a:t>
            </a:r>
          </a:p>
        </p:txBody>
      </p:sp>
      <p:sp>
        <p:nvSpPr>
          <p:cNvPr id="15" name="Rectangle 14"/>
          <p:cNvSpPr/>
          <p:nvPr/>
        </p:nvSpPr>
        <p:spPr>
          <a:xfrm>
            <a:off x="2569463" y="3913632"/>
            <a:ext cx="2057400" cy="548640"/>
          </a:xfrm>
          <a:prstGeom prst="rect">
            <a:avLst/>
          </a:prstGeom>
          <a:solidFill>
            <a:srgbClr val="FFFFFF"/>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150" b="0">
                <a:solidFill>
                  <a:srgbClr val="102E4C"/>
                </a:solidFill>
                <a:latin typeface="Tahoma"/>
              </a:rPr>
              <a:t>30 days</a:t>
            </a:r>
          </a:p>
        </p:txBody>
      </p:sp>
      <p:sp>
        <p:nvSpPr>
          <p:cNvPr id="16" name="Rectangle 15"/>
          <p:cNvSpPr/>
          <p:nvPr/>
        </p:nvSpPr>
        <p:spPr>
          <a:xfrm>
            <a:off x="4626864" y="3913632"/>
            <a:ext cx="2057400" cy="548640"/>
          </a:xfrm>
          <a:prstGeom prst="rect">
            <a:avLst/>
          </a:prstGeom>
          <a:solidFill>
            <a:srgbClr val="FFFFFF"/>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150" b="0">
                <a:solidFill>
                  <a:srgbClr val="102E4C"/>
                </a:solidFill>
                <a:latin typeface="Tahoma"/>
              </a:rPr>
              <a:t>45 days</a:t>
            </a:r>
          </a:p>
        </p:txBody>
      </p:sp>
      <p:sp>
        <p:nvSpPr>
          <p:cNvPr id="17" name="Rectangle 16"/>
          <p:cNvSpPr/>
          <p:nvPr/>
        </p:nvSpPr>
        <p:spPr>
          <a:xfrm>
            <a:off x="694944" y="4462272"/>
            <a:ext cx="1874519" cy="548640"/>
          </a:xfrm>
          <a:prstGeom prst="rect">
            <a:avLst/>
          </a:prstGeom>
          <a:solidFill>
            <a:srgbClr val="EAF1F8"/>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l">
              <a:lnSpc>
                <a:spcPct val="100000"/>
              </a:lnSpc>
            </a:pPr>
            <a:r>
              <a:rPr sz="1200" b="1">
                <a:solidFill>
                  <a:srgbClr val="102E4C"/>
                </a:solidFill>
                <a:latin typeface="Tahoma"/>
              </a:rPr>
              <a:t>Service not received</a:t>
            </a:r>
          </a:p>
        </p:txBody>
      </p:sp>
      <p:sp>
        <p:nvSpPr>
          <p:cNvPr id="18" name="Rectangle 17"/>
          <p:cNvSpPr/>
          <p:nvPr/>
        </p:nvSpPr>
        <p:spPr>
          <a:xfrm>
            <a:off x="2569463" y="4462272"/>
            <a:ext cx="2057400" cy="548640"/>
          </a:xfrm>
          <a:prstGeom prst="rect">
            <a:avLst/>
          </a:prstGeom>
          <a:solidFill>
            <a:srgbClr val="EAF1F8"/>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150" b="0">
                <a:solidFill>
                  <a:srgbClr val="102E4C"/>
                </a:solidFill>
                <a:latin typeface="Tahoma"/>
              </a:rPr>
              <a:t>45 days</a:t>
            </a:r>
          </a:p>
        </p:txBody>
      </p:sp>
      <p:sp>
        <p:nvSpPr>
          <p:cNvPr id="19" name="Rectangle 18"/>
          <p:cNvSpPr/>
          <p:nvPr/>
        </p:nvSpPr>
        <p:spPr>
          <a:xfrm>
            <a:off x="4626864" y="4462272"/>
            <a:ext cx="2057400" cy="548640"/>
          </a:xfrm>
          <a:prstGeom prst="rect">
            <a:avLst/>
          </a:prstGeom>
          <a:solidFill>
            <a:srgbClr val="EAF1F8"/>
          </a:solidFill>
          <a:ln w="6350">
            <a:solidFill>
              <a:srgbClr val="DCE6F0"/>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8288" bIns="18288"/>
          <a:lstStyle/>
          <a:p>
            <a:pPr algn="ctr">
              <a:lnSpc>
                <a:spcPct val="100000"/>
              </a:lnSpc>
            </a:pPr>
            <a:r>
              <a:rPr sz="1150" b="0">
                <a:solidFill>
                  <a:srgbClr val="102E4C"/>
                </a:solidFill>
                <a:latin typeface="Tahoma"/>
              </a:rPr>
              <a:t>60 days</a:t>
            </a:r>
          </a:p>
        </p:txBody>
      </p:sp>
      <p:sp>
        <p:nvSpPr>
          <p:cNvPr id="20" name="Rounded Rectangle 19"/>
          <p:cNvSpPr/>
          <p:nvPr/>
        </p:nvSpPr>
        <p:spPr>
          <a:xfrm>
            <a:off x="6967728" y="2359152"/>
            <a:ext cx="4526280" cy="2651760"/>
          </a:xfrm>
          <a:prstGeom prst="roundRect">
            <a:avLst>
              <a:gd name="adj" fmla="val 2758"/>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967728" y="2359152"/>
            <a:ext cx="73152" cy="2651760"/>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205472" y="2505456"/>
            <a:ext cx="4114800" cy="274320"/>
          </a:xfrm>
          <a:prstGeom prst="rect">
            <a:avLst/>
          </a:prstGeom>
          <a:noFill/>
        </p:spPr>
        <p:txBody>
          <a:bodyPr wrap="square" lIns="0" rIns="0" tIns="0" bIns="0" anchor="t">
            <a:spAutoFit/>
          </a:bodyPr>
          <a:lstStyle/>
          <a:p>
            <a:pPr algn="l">
              <a:lnSpc>
                <a:spcPct val="100000"/>
              </a:lnSpc>
            </a:pPr>
            <a:r>
              <a:rPr sz="1450" b="1" i="0">
                <a:solidFill>
                  <a:srgbClr val="102E4C"/>
                </a:solidFill>
                <a:latin typeface="Tahoma"/>
              </a:rPr>
              <a:t>CARD-PROCEDURE-01</a:t>
            </a:r>
          </a:p>
        </p:txBody>
      </p:sp>
      <p:sp>
        <p:nvSpPr>
          <p:cNvPr id="23" name="TextBox 22"/>
          <p:cNvSpPr txBox="1"/>
          <p:nvPr/>
        </p:nvSpPr>
        <p:spPr>
          <a:xfrm>
            <a:off x="7205472" y="2889504"/>
            <a:ext cx="4160520" cy="2194560"/>
          </a:xfrm>
          <a:prstGeom prst="rect">
            <a:avLst/>
          </a:prstGeom>
          <a:noFill/>
        </p:spPr>
        <p:txBody>
          <a:bodyPr wrap="square" lIns="0" rIns="0" tIns="0" bIns="0" anchor="t">
            <a:spAutoFit/>
          </a:bodyPr>
          <a:lstStyle/>
          <a:p>
            <a:pPr algn="l">
              <a:lnSpc>
                <a:spcPct val="100000"/>
              </a:lnSpc>
              <a:spcAft>
                <a:spcPts val="700"/>
              </a:spcAft>
            </a:pPr>
            <a:r>
              <a:rPr sz="1200" b="0" i="0">
                <a:solidFill>
                  <a:srgbClr val="102E4C"/>
                </a:solidFill>
                <a:latin typeface="Tahoma"/>
              </a:rPr>
              <a:t>•  Recognizes each type of complaint.</a:t>
            </a:r>
          </a:p>
          <a:p>
            <a:pPr algn="l">
              <a:lnSpc>
                <a:spcPct val="100000"/>
              </a:lnSpc>
              <a:spcAft>
                <a:spcPts val="700"/>
              </a:spcAft>
            </a:pPr>
            <a:r>
              <a:rPr sz="1200" b="0" i="0">
                <a:solidFill>
                  <a:srgbClr val="102E4C"/>
                </a:solidFill>
                <a:latin typeface="Tahoma"/>
              </a:rPr>
              <a:t>•  Lists the evidence that type needs.</a:t>
            </a:r>
          </a:p>
          <a:p>
            <a:pPr algn="l">
              <a:lnSpc>
                <a:spcPct val="100000"/>
              </a:lnSpc>
              <a:spcAft>
                <a:spcPts val="700"/>
              </a:spcAft>
            </a:pPr>
            <a:r>
              <a:rPr sz="1200" b="0" i="0">
                <a:solidFill>
                  <a:srgbClr val="102E4C"/>
                </a:solidFill>
                <a:latin typeface="Tahoma"/>
              </a:rPr>
              <a:t>•  Explains the routing logic.</a:t>
            </a:r>
          </a:p>
          <a:p>
            <a:pPr algn="l">
              <a:lnSpc>
                <a:spcPct val="100000"/>
              </a:lnSpc>
              <a:spcAft>
                <a:spcPts val="700"/>
              </a:spcAft>
            </a:pPr>
            <a:r>
              <a:rPr sz="1200" b="0" i="0">
                <a:solidFill>
                  <a:srgbClr val="102E4C"/>
                </a:solidFill>
                <a:latin typeface="Tahoma"/>
              </a:rPr>
              <a:t>•  Constrains the lookups and the failures.</a:t>
            </a:r>
          </a:p>
          <a:p>
            <a:pPr algn="l">
              <a:lnSpc>
                <a:spcPct val="100000"/>
              </a:lnSpc>
              <a:spcAft>
                <a:spcPts val="700"/>
              </a:spcAft>
            </a:pPr>
            <a:r>
              <a:rPr sz="1200" b="0" i="0">
                <a:solidFill>
                  <a:srgbClr val="102E4C"/>
                </a:solidFill>
                <a:latin typeface="Tahoma"/>
              </a:rPr>
              <a:t>•  Stops the system from approving any case.</a:t>
            </a:r>
          </a:p>
        </p:txBody>
      </p:sp>
      <p:sp>
        <p:nvSpPr>
          <p:cNvPr id="24" name="TextBox 23"/>
          <p:cNvSpPr txBox="1"/>
          <p:nvPr/>
        </p:nvSpPr>
        <p:spPr>
          <a:xfrm>
            <a:off x="694944" y="5989320"/>
            <a:ext cx="10607040" cy="237744"/>
          </a:xfrm>
          <a:prstGeom prst="rect">
            <a:avLst/>
          </a:prstGeom>
          <a:noFill/>
        </p:spPr>
        <p:txBody>
          <a:bodyPr wrap="square" lIns="0" rIns="0" tIns="0" bIns="0" anchor="t">
            <a:spAutoFit/>
          </a:bodyPr>
          <a:lstStyle/>
          <a:p>
            <a:pPr algn="l">
              <a:lnSpc>
                <a:spcPct val="100000"/>
              </a:lnSpc>
            </a:pPr>
            <a:r>
              <a:rPr sz="1000" b="0" i="0">
                <a:solidFill>
                  <a:srgbClr val="5A6B7D"/>
                </a:solidFill>
                <a:latin typeface="Tahoma"/>
              </a:rPr>
              <a:t>The reported date picks the version, not today's date. D11 reads V1. The other eleven read V2.</a:t>
            </a:r>
          </a:p>
        </p:txBody>
      </p:sp>
    </p:spTree>
    <p:extLst>
      <p:ext uri="{BB962C8B-B14F-4D97-AF65-F5344CB8AC3E}">
        <p14:creationId xmlns:p14="http://schemas.microsoft.com/office/powerpoint/2010/main" val="3682772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F5259-A6DB-7EDB-89AB-581441C443F1}"/>
            </a:ext>
          </a:extLst>
        </p:cNvPr>
        <p:cNvGrpSpPr/>
        <p:nvPr/>
      </p:nvGrpSpPr>
      <p:grpSpPr>
        <a:xfrm>
          <a:off x="0" y="0"/>
          <a:ext cx="0" cy="0"/>
          <a:chOff x="0" y="0"/>
          <a:chExt cx="0" cy="0"/>
        </a:xfrm>
      </p:grpSpPr>
      <p:sp>
        <p:nvSpPr>
          <p:cNvPr id="2" name="TextBox 1"/>
          <p:cNvSpPr txBox="1"/>
          <p:nvPr/>
        </p:nvSpPr>
        <p:spPr>
          <a:xfrm>
            <a:off x="694944" y="658368"/>
            <a:ext cx="10799064" cy="868680"/>
          </a:xfrm>
          <a:prstGeom prst="rect">
            <a:avLst/>
          </a:prstGeom>
          <a:noFill/>
        </p:spPr>
        <p:txBody>
          <a:bodyPr wrap="square" lIns="0" rIns="0" tIns="0" bIns="0" anchor="t">
            <a:spAutoFit/>
          </a:bodyPr>
          <a:lstStyle/>
          <a:p>
            <a:pPr algn="l">
              <a:lnSpc>
                <a:spcPct val="100000"/>
              </a:lnSpc>
            </a:pPr>
            <a:r>
              <a:rPr sz="3200" b="1" i="0">
                <a:solidFill>
                  <a:srgbClr val="102E4C"/>
                </a:solidFill>
                <a:latin typeface="Tahoma"/>
              </a:rPr>
              <a:t>Intake and the Attachment</a:t>
            </a:r>
          </a:p>
        </p:txBody>
      </p:sp>
      <p:sp>
        <p:nvSpPr>
          <p:cNvPr id="3" name="Rectangle 2"/>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700784"/>
            <a:ext cx="10424160" cy="310896"/>
          </a:xfrm>
          <a:prstGeom prst="rect">
            <a:avLst/>
          </a:prstGeom>
          <a:noFill/>
        </p:spPr>
        <p:txBody>
          <a:bodyPr wrap="square" lIns="0" rIns="0" tIns="0" bIns="0" anchor="t">
            <a:spAutoFit/>
          </a:bodyPr>
          <a:lstStyle/>
          <a:p>
            <a:pPr algn="l">
              <a:lnSpc>
                <a:spcPct val="100000"/>
              </a:lnSpc>
            </a:pPr>
            <a:r>
              <a:rPr sz="1600" b="0" i="0">
                <a:solidFill>
                  <a:srgbClr val="5A6B7D"/>
                </a:solidFill>
                <a:latin typeface="Tahoma"/>
              </a:rPr>
              <a:t>One complaint arrives in two pieces. Both are text.</a:t>
            </a:r>
          </a:p>
        </p:txBody>
      </p:sp>
      <p:sp>
        <p:nvSpPr>
          <p:cNvPr id="5" name="Rounded Rectangle 4"/>
          <p:cNvSpPr/>
          <p:nvPr/>
        </p:nvSpPr>
        <p:spPr>
          <a:xfrm>
            <a:off x="694944" y="2139696"/>
            <a:ext cx="5394960" cy="3054096"/>
          </a:xfrm>
          <a:prstGeom prst="roundRect">
            <a:avLst>
              <a:gd name="adj" fmla="val 2395"/>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94944" y="2139696"/>
            <a:ext cx="73152" cy="3054096"/>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32688" y="2286000"/>
            <a:ext cx="4937760" cy="219456"/>
          </a:xfrm>
          <a:prstGeom prst="rect">
            <a:avLst/>
          </a:prstGeom>
          <a:noFill/>
        </p:spPr>
        <p:txBody>
          <a:bodyPr wrap="square" lIns="0" rIns="0" tIns="0" bIns="0" anchor="t">
            <a:spAutoFit/>
          </a:bodyPr>
          <a:lstStyle/>
          <a:p>
            <a:pPr algn="l">
              <a:lnSpc>
                <a:spcPct val="100000"/>
              </a:lnSpc>
            </a:pPr>
            <a:r>
              <a:rPr sz="1000" b="1" i="0">
                <a:solidFill>
                  <a:srgbClr val="5A6B7D"/>
                </a:solidFill>
                <a:latin typeface="Tahoma"/>
              </a:rPr>
              <a:t>CARD-D01-INTAKE</a:t>
            </a:r>
          </a:p>
        </p:txBody>
      </p:sp>
      <p:sp>
        <p:nvSpPr>
          <p:cNvPr id="8" name="TextBox 7"/>
          <p:cNvSpPr txBox="1"/>
          <p:nvPr/>
        </p:nvSpPr>
        <p:spPr>
          <a:xfrm>
            <a:off x="932688" y="2596896"/>
            <a:ext cx="4892040" cy="566928"/>
          </a:xfrm>
          <a:prstGeom prst="rect">
            <a:avLst/>
          </a:prstGeom>
          <a:noFill/>
        </p:spPr>
        <p:txBody>
          <a:bodyPr wrap="square" lIns="0" rIns="0" tIns="0" bIns="0">
            <a:spAutoFit/>
          </a:bodyPr>
          <a:lstStyle/>
          <a:p>
            <a:pPr algn="l">
              <a:lnSpc>
                <a:spcPct val="95000"/>
              </a:lnSpc>
            </a:pPr>
            <a:r>
              <a:rPr sz="1200" b="1">
                <a:solidFill>
                  <a:srgbClr val="102E4C"/>
                </a:solidFill>
                <a:latin typeface="Tahoma"/>
              </a:rPr>
              <a:t>Statement: </a:t>
            </a:r>
            <a:r>
              <a:rPr sz="1200" b="0">
                <a:solidFill>
                  <a:srgbClr val="1B2B3A"/>
                </a:solidFill>
                <a:latin typeface="Tahoma"/>
              </a:rPr>
              <a:t>"I found a card purchase at Morrow Supplies for 117 crowns. I do not recognize it."</a:t>
            </a:r>
          </a:p>
        </p:txBody>
      </p:sp>
      <p:sp>
        <p:nvSpPr>
          <p:cNvPr id="9" name="TextBox 8"/>
          <p:cNvSpPr txBox="1"/>
          <p:nvPr/>
        </p:nvSpPr>
        <p:spPr>
          <a:xfrm>
            <a:off x="932688" y="3200400"/>
            <a:ext cx="4892040" cy="274320"/>
          </a:xfrm>
          <a:prstGeom prst="rect">
            <a:avLst/>
          </a:prstGeom>
          <a:noFill/>
        </p:spPr>
        <p:txBody>
          <a:bodyPr wrap="square" lIns="0" rIns="0" tIns="0" bIns="0">
            <a:spAutoFit/>
          </a:bodyPr>
          <a:lstStyle/>
          <a:p>
            <a:pPr algn="l">
              <a:lnSpc>
                <a:spcPct val="95000"/>
              </a:lnSpc>
            </a:pPr>
            <a:r>
              <a:rPr sz="1200" b="1">
                <a:solidFill>
                  <a:srgbClr val="102E4C"/>
                </a:solidFill>
                <a:latin typeface="Tahoma"/>
              </a:rPr>
              <a:t>Reported date: </a:t>
            </a:r>
            <a:r>
              <a:rPr sz="1200" b="0">
                <a:solidFill>
                  <a:srgbClr val="1B2B3A"/>
                </a:solidFill>
                <a:latin typeface="Tahoma"/>
              </a:rPr>
              <a:t>2026-10-01</a:t>
            </a:r>
          </a:p>
        </p:txBody>
      </p:sp>
      <p:sp>
        <p:nvSpPr>
          <p:cNvPr id="10" name="TextBox 9"/>
          <p:cNvSpPr txBox="1"/>
          <p:nvPr/>
        </p:nvSpPr>
        <p:spPr>
          <a:xfrm>
            <a:off x="932688" y="3488436"/>
            <a:ext cx="4892040" cy="274320"/>
          </a:xfrm>
          <a:prstGeom prst="rect">
            <a:avLst/>
          </a:prstGeom>
          <a:noFill/>
        </p:spPr>
        <p:txBody>
          <a:bodyPr wrap="square" lIns="0" rIns="0" tIns="0" bIns="0">
            <a:spAutoFit/>
          </a:bodyPr>
          <a:lstStyle/>
          <a:p>
            <a:pPr algn="l">
              <a:lnSpc>
                <a:spcPct val="95000"/>
              </a:lnSpc>
            </a:pPr>
            <a:r>
              <a:rPr sz="1200" b="1">
                <a:solidFill>
                  <a:srgbClr val="102E4C"/>
                </a:solidFill>
                <a:latin typeface="Tahoma"/>
              </a:rPr>
              <a:t>Transaction ID: </a:t>
            </a:r>
            <a:r>
              <a:rPr sz="1200" b="0">
                <a:solidFill>
                  <a:srgbClr val="1B2B3A"/>
                </a:solidFill>
                <a:latin typeface="Tahoma"/>
              </a:rPr>
              <a:t>TX-D01</a:t>
            </a:r>
          </a:p>
        </p:txBody>
      </p:sp>
      <p:sp>
        <p:nvSpPr>
          <p:cNvPr id="11" name="TextBox 10"/>
          <p:cNvSpPr txBox="1"/>
          <p:nvPr/>
        </p:nvSpPr>
        <p:spPr>
          <a:xfrm>
            <a:off x="932688" y="3776472"/>
            <a:ext cx="4892040" cy="274320"/>
          </a:xfrm>
          <a:prstGeom prst="rect">
            <a:avLst/>
          </a:prstGeom>
          <a:noFill/>
        </p:spPr>
        <p:txBody>
          <a:bodyPr wrap="square" lIns="0" rIns="0" tIns="0" bIns="0">
            <a:spAutoFit/>
          </a:bodyPr>
          <a:lstStyle/>
          <a:p>
            <a:pPr algn="l">
              <a:lnSpc>
                <a:spcPct val="95000"/>
              </a:lnSpc>
            </a:pPr>
            <a:r>
              <a:rPr sz="1200" b="1">
                <a:solidFill>
                  <a:srgbClr val="102E4C"/>
                </a:solidFill>
                <a:latin typeface="Tahoma"/>
              </a:rPr>
              <a:t>Customer reference: </a:t>
            </a:r>
            <a:r>
              <a:rPr sz="1200" b="0">
                <a:solidFill>
                  <a:srgbClr val="1B2B3A"/>
                </a:solidFill>
                <a:latin typeface="Tahoma"/>
              </a:rPr>
              <a:t>CUST-D01</a:t>
            </a:r>
          </a:p>
        </p:txBody>
      </p:sp>
      <p:sp>
        <p:nvSpPr>
          <p:cNvPr id="12" name="TextBox 11"/>
          <p:cNvSpPr txBox="1"/>
          <p:nvPr/>
        </p:nvSpPr>
        <p:spPr>
          <a:xfrm>
            <a:off x="932688" y="4064508"/>
            <a:ext cx="4892040" cy="274320"/>
          </a:xfrm>
          <a:prstGeom prst="rect">
            <a:avLst/>
          </a:prstGeom>
          <a:noFill/>
        </p:spPr>
        <p:txBody>
          <a:bodyPr wrap="square" lIns="0" rIns="0" tIns="0" bIns="0">
            <a:spAutoFit/>
          </a:bodyPr>
          <a:lstStyle/>
          <a:p>
            <a:pPr algn="l">
              <a:lnSpc>
                <a:spcPct val="95000"/>
              </a:lnSpc>
            </a:pPr>
            <a:r>
              <a:rPr sz="1200" b="1">
                <a:solidFill>
                  <a:srgbClr val="102E4C"/>
                </a:solidFill>
                <a:latin typeface="Tahoma"/>
              </a:rPr>
              <a:t>Authorization: </a:t>
            </a:r>
            <a:r>
              <a:rPr sz="1200" b="0">
                <a:solidFill>
                  <a:srgbClr val="1B2B3A"/>
                </a:solidFill>
                <a:latin typeface="Tahoma"/>
              </a:rPr>
              <a:t>denied</a:t>
            </a:r>
          </a:p>
        </p:txBody>
      </p:sp>
      <p:sp>
        <p:nvSpPr>
          <p:cNvPr id="13" name="TextBox 12"/>
          <p:cNvSpPr txBox="1"/>
          <p:nvPr/>
        </p:nvSpPr>
        <p:spPr>
          <a:xfrm>
            <a:off x="932688" y="4352544"/>
            <a:ext cx="4892040" cy="274320"/>
          </a:xfrm>
          <a:prstGeom prst="rect">
            <a:avLst/>
          </a:prstGeom>
          <a:noFill/>
        </p:spPr>
        <p:txBody>
          <a:bodyPr wrap="square" lIns="0" rIns="0" tIns="0" bIns="0">
            <a:spAutoFit/>
          </a:bodyPr>
          <a:lstStyle/>
          <a:p>
            <a:pPr algn="l">
              <a:lnSpc>
                <a:spcPct val="95000"/>
              </a:lnSpc>
            </a:pPr>
            <a:r>
              <a:rPr sz="1200" b="1">
                <a:solidFill>
                  <a:srgbClr val="102E4C"/>
                </a:solidFill>
                <a:latin typeface="Tahoma"/>
              </a:rPr>
              <a:t>Promised service date: </a:t>
            </a:r>
            <a:r>
              <a:rPr sz="1200" b="0">
                <a:solidFill>
                  <a:srgbClr val="1B2B3A"/>
                </a:solidFill>
                <a:latin typeface="Tahoma"/>
              </a:rPr>
              <a:t>2026-08-20</a:t>
            </a:r>
          </a:p>
        </p:txBody>
      </p:sp>
      <p:sp>
        <p:nvSpPr>
          <p:cNvPr id="14" name="TextBox 13"/>
          <p:cNvSpPr txBox="1"/>
          <p:nvPr/>
        </p:nvSpPr>
        <p:spPr>
          <a:xfrm>
            <a:off x="932688" y="4640580"/>
            <a:ext cx="4892040" cy="274320"/>
          </a:xfrm>
          <a:prstGeom prst="rect">
            <a:avLst/>
          </a:prstGeom>
          <a:noFill/>
        </p:spPr>
        <p:txBody>
          <a:bodyPr wrap="square" lIns="0" rIns="0" tIns="0" bIns="0">
            <a:spAutoFit/>
          </a:bodyPr>
          <a:lstStyle/>
          <a:p>
            <a:pPr algn="l">
              <a:lnSpc>
                <a:spcPct val="95000"/>
              </a:lnSpc>
            </a:pPr>
            <a:r>
              <a:rPr sz="1200" b="1">
                <a:solidFill>
                  <a:srgbClr val="102E4C"/>
                </a:solidFill>
                <a:latin typeface="Tahoma"/>
              </a:rPr>
              <a:t>Purchase receipt: </a:t>
            </a:r>
            <a:r>
              <a:rPr sz="1200" b="0">
                <a:solidFill>
                  <a:srgbClr val="1B2B3A"/>
                </a:solidFill>
                <a:latin typeface="Tahoma"/>
              </a:rPr>
              <a:t>attached</a:t>
            </a:r>
          </a:p>
        </p:txBody>
      </p:sp>
      <p:sp>
        <p:nvSpPr>
          <p:cNvPr id="15" name="TextBox 14"/>
          <p:cNvSpPr txBox="1"/>
          <p:nvPr/>
        </p:nvSpPr>
        <p:spPr>
          <a:xfrm>
            <a:off x="932688" y="4928616"/>
            <a:ext cx="4892040" cy="274320"/>
          </a:xfrm>
          <a:prstGeom prst="rect">
            <a:avLst/>
          </a:prstGeom>
          <a:noFill/>
        </p:spPr>
        <p:txBody>
          <a:bodyPr wrap="square" lIns="0" rIns="0" tIns="0" bIns="0">
            <a:spAutoFit/>
          </a:bodyPr>
          <a:lstStyle/>
          <a:p>
            <a:pPr algn="l">
              <a:lnSpc>
                <a:spcPct val="95000"/>
              </a:lnSpc>
            </a:pPr>
            <a:r>
              <a:rPr sz="1200" b="1">
                <a:solidFill>
                  <a:srgbClr val="102E4C"/>
                </a:solidFill>
                <a:latin typeface="Tahoma"/>
              </a:rPr>
              <a:t>Submission reference: </a:t>
            </a:r>
            <a:r>
              <a:rPr sz="1200" b="0">
                <a:solidFill>
                  <a:srgbClr val="1B2B3A"/>
                </a:solidFill>
                <a:latin typeface="Tahoma"/>
              </a:rPr>
              <a:t>dispute-d01</a:t>
            </a:r>
          </a:p>
        </p:txBody>
      </p:sp>
      <p:sp>
        <p:nvSpPr>
          <p:cNvPr id="16" name="Rounded Rectangle 15"/>
          <p:cNvSpPr/>
          <p:nvPr/>
        </p:nvSpPr>
        <p:spPr>
          <a:xfrm>
            <a:off x="6089904" y="2139696"/>
            <a:ext cx="5404104" cy="3054096"/>
          </a:xfrm>
          <a:prstGeom prst="roundRect">
            <a:avLst>
              <a:gd name="adj" fmla="val 2395"/>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089904" y="2139696"/>
            <a:ext cx="73152" cy="3054096"/>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327648" y="2286000"/>
            <a:ext cx="4937760" cy="219456"/>
          </a:xfrm>
          <a:prstGeom prst="rect">
            <a:avLst/>
          </a:prstGeom>
          <a:noFill/>
        </p:spPr>
        <p:txBody>
          <a:bodyPr wrap="square" lIns="0" rIns="0" tIns="0" bIns="0" anchor="t">
            <a:spAutoFit/>
          </a:bodyPr>
          <a:lstStyle/>
          <a:p>
            <a:pPr algn="l">
              <a:lnSpc>
                <a:spcPct val="100000"/>
              </a:lnSpc>
            </a:pPr>
            <a:r>
              <a:rPr sz="1000" b="1" i="0">
                <a:solidFill>
                  <a:srgbClr val="5A6B7D"/>
                </a:solidFill>
                <a:latin typeface="Tahoma"/>
              </a:rPr>
              <a:t>CARD-D01-ATTACHMENT</a:t>
            </a:r>
          </a:p>
        </p:txBody>
      </p:sp>
      <p:sp>
        <p:nvSpPr>
          <p:cNvPr id="19" name="TextBox 18"/>
          <p:cNvSpPr txBox="1"/>
          <p:nvPr/>
        </p:nvSpPr>
        <p:spPr>
          <a:xfrm>
            <a:off x="6327648" y="2596896"/>
            <a:ext cx="4892040" cy="292608"/>
          </a:xfrm>
          <a:prstGeom prst="rect">
            <a:avLst/>
          </a:prstGeom>
          <a:noFill/>
        </p:spPr>
        <p:txBody>
          <a:bodyPr wrap="square" lIns="0" rIns="0" tIns="0" bIns="0">
            <a:spAutoFit/>
          </a:bodyPr>
          <a:lstStyle/>
          <a:p>
            <a:pPr algn="l">
              <a:lnSpc>
                <a:spcPct val="95000"/>
              </a:lnSpc>
            </a:pPr>
            <a:r>
              <a:rPr sz="1200" b="1">
                <a:solidFill>
                  <a:srgbClr val="102E4C"/>
                </a:solidFill>
                <a:latin typeface="Tahoma"/>
              </a:rPr>
              <a:t>Merchant: </a:t>
            </a:r>
            <a:r>
              <a:rPr sz="1200" b="0">
                <a:solidFill>
                  <a:srgbClr val="1B2B3A"/>
                </a:solidFill>
                <a:latin typeface="Tahoma"/>
              </a:rPr>
              <a:t>Morrow Supplies</a:t>
            </a:r>
          </a:p>
        </p:txBody>
      </p:sp>
      <p:sp>
        <p:nvSpPr>
          <p:cNvPr id="20" name="TextBox 19"/>
          <p:cNvSpPr txBox="1"/>
          <p:nvPr/>
        </p:nvSpPr>
        <p:spPr>
          <a:xfrm>
            <a:off x="6327648" y="2903220"/>
            <a:ext cx="4892040" cy="292608"/>
          </a:xfrm>
          <a:prstGeom prst="rect">
            <a:avLst/>
          </a:prstGeom>
          <a:noFill/>
        </p:spPr>
        <p:txBody>
          <a:bodyPr wrap="square" lIns="0" rIns="0" tIns="0" bIns="0">
            <a:spAutoFit/>
          </a:bodyPr>
          <a:lstStyle/>
          <a:p>
            <a:pPr algn="l">
              <a:lnSpc>
                <a:spcPct val="95000"/>
              </a:lnSpc>
            </a:pPr>
            <a:r>
              <a:rPr sz="1200" b="1">
                <a:solidFill>
                  <a:srgbClr val="102E4C"/>
                </a:solidFill>
                <a:latin typeface="Tahoma"/>
              </a:rPr>
              <a:t>Purchase reference: </a:t>
            </a:r>
            <a:r>
              <a:rPr sz="1200" b="0">
                <a:solidFill>
                  <a:srgbClr val="1B2B3A"/>
                </a:solidFill>
                <a:latin typeface="Tahoma"/>
              </a:rPr>
              <a:t>ORDER-D01</a:t>
            </a:r>
          </a:p>
        </p:txBody>
      </p:sp>
      <p:sp>
        <p:nvSpPr>
          <p:cNvPr id="21" name="TextBox 20"/>
          <p:cNvSpPr txBox="1"/>
          <p:nvPr/>
        </p:nvSpPr>
        <p:spPr>
          <a:xfrm>
            <a:off x="6327648" y="3209544"/>
            <a:ext cx="4892040" cy="292608"/>
          </a:xfrm>
          <a:prstGeom prst="rect">
            <a:avLst/>
          </a:prstGeom>
          <a:noFill/>
        </p:spPr>
        <p:txBody>
          <a:bodyPr wrap="square" lIns="0" rIns="0" tIns="0" bIns="0">
            <a:spAutoFit/>
          </a:bodyPr>
          <a:lstStyle/>
          <a:p>
            <a:pPr algn="l">
              <a:lnSpc>
                <a:spcPct val="95000"/>
              </a:lnSpc>
            </a:pPr>
            <a:r>
              <a:rPr sz="1200" b="1">
                <a:solidFill>
                  <a:srgbClr val="102E4C"/>
                </a:solidFill>
                <a:latin typeface="Tahoma"/>
              </a:rPr>
              <a:t>Amount: </a:t>
            </a:r>
            <a:r>
              <a:rPr sz="1200" b="0">
                <a:solidFill>
                  <a:srgbClr val="1B2B3A"/>
                </a:solidFill>
                <a:latin typeface="Tahoma"/>
              </a:rPr>
              <a:t>117 XCR</a:t>
            </a:r>
          </a:p>
        </p:txBody>
      </p:sp>
      <p:sp>
        <p:nvSpPr>
          <p:cNvPr id="22" name="TextBox 21"/>
          <p:cNvSpPr txBox="1"/>
          <p:nvPr/>
        </p:nvSpPr>
        <p:spPr>
          <a:xfrm>
            <a:off x="6327648" y="3515868"/>
            <a:ext cx="4892040" cy="292608"/>
          </a:xfrm>
          <a:prstGeom prst="rect">
            <a:avLst/>
          </a:prstGeom>
          <a:noFill/>
        </p:spPr>
        <p:txBody>
          <a:bodyPr wrap="square" lIns="0" rIns="0" tIns="0" bIns="0">
            <a:spAutoFit/>
          </a:bodyPr>
          <a:lstStyle/>
          <a:p>
            <a:pPr algn="l">
              <a:lnSpc>
                <a:spcPct val="95000"/>
              </a:lnSpc>
            </a:pPr>
            <a:r>
              <a:rPr sz="1200" b="1">
                <a:solidFill>
                  <a:srgbClr val="102E4C"/>
                </a:solidFill>
                <a:latin typeface="Tahoma"/>
              </a:rPr>
              <a:t>Received as: </a:t>
            </a:r>
            <a:r>
              <a:rPr sz="1200" b="0">
                <a:solidFill>
                  <a:srgbClr val="1B2B3A"/>
                </a:solidFill>
                <a:latin typeface="Tahoma"/>
              </a:rPr>
              <a:t>plain text, no markup</a:t>
            </a:r>
          </a:p>
        </p:txBody>
      </p:sp>
      <p:sp>
        <p:nvSpPr>
          <p:cNvPr id="23" name="TextBox 22"/>
          <p:cNvSpPr txBox="1"/>
          <p:nvPr/>
        </p:nvSpPr>
        <p:spPr>
          <a:xfrm>
            <a:off x="6327648" y="3931920"/>
            <a:ext cx="4846320" cy="1097280"/>
          </a:xfrm>
          <a:prstGeom prst="rect">
            <a:avLst/>
          </a:prstGeom>
          <a:noFill/>
        </p:spPr>
        <p:txBody>
          <a:bodyPr wrap="square" lIns="0" rIns="0" tIns="0" bIns="0" anchor="t">
            <a:spAutoFit/>
          </a:bodyPr>
          <a:lstStyle/>
          <a:p>
            <a:pPr algn="l">
              <a:lnSpc>
                <a:spcPct val="95000"/>
              </a:lnSpc>
            </a:pPr>
            <a:r>
              <a:rPr sz="1000" b="0" i="0">
                <a:solidFill>
                  <a:srgbClr val="5A6B7D"/>
                </a:solidFill>
                <a:latin typeface="Tahoma"/>
              </a:rPr>
              <a:t>The words "117 crowns" and the field "117 XCR" are the same currency, one spoken by the customer, one by the bank.</a:t>
            </a:r>
          </a:p>
        </p:txBody>
      </p:sp>
      <p:sp>
        <p:nvSpPr>
          <p:cNvPr id="24" name="Rounded Rectangle 23"/>
          <p:cNvSpPr/>
          <p:nvPr/>
        </p:nvSpPr>
        <p:spPr>
          <a:xfrm>
            <a:off x="694944" y="5449824"/>
            <a:ext cx="10799064" cy="530352"/>
          </a:xfrm>
          <a:prstGeom prst="roundRect">
            <a:avLst>
              <a:gd name="adj" fmla="val 3448"/>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ctr">
              <a:lnSpc>
                <a:spcPct val="100000"/>
              </a:lnSpc>
            </a:pPr>
            <a:r>
              <a:rPr sz="1100" b="1">
                <a:solidFill>
                  <a:srgbClr val="FFFFFF"/>
                </a:solidFill>
                <a:latin typeface="Tahoma"/>
              </a:rPr>
              <a:t>NEITHER PIECE CAN GIVE AN INSTRUCTION. TEXT THAT LOOKS LIKE AN ORDER IS READ AS EVIDENCE.</a:t>
            </a:r>
          </a:p>
        </p:txBody>
      </p:sp>
    </p:spTree>
    <p:extLst>
      <p:ext uri="{BB962C8B-B14F-4D97-AF65-F5344CB8AC3E}">
        <p14:creationId xmlns:p14="http://schemas.microsoft.com/office/powerpoint/2010/main" val="1351847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92E18-22E0-BA2C-8D6E-CEB6E6304205}"/>
            </a:ext>
          </a:extLst>
        </p:cNvPr>
        <p:cNvGrpSpPr/>
        <p:nvPr/>
      </p:nvGrpSpPr>
      <p:grpSpPr>
        <a:xfrm>
          <a:off x="0" y="0"/>
          <a:ext cx="0" cy="0"/>
          <a:chOff x="0" y="0"/>
          <a:chExt cx="0" cy="0"/>
        </a:xfrm>
      </p:grpSpPr>
      <p:sp>
        <p:nvSpPr>
          <p:cNvPr id="2" name="TextBox 1"/>
          <p:cNvSpPr txBox="1"/>
          <p:nvPr/>
        </p:nvSpPr>
        <p:spPr>
          <a:xfrm>
            <a:off x="694944" y="658368"/>
            <a:ext cx="10799064" cy="868680"/>
          </a:xfrm>
          <a:prstGeom prst="rect">
            <a:avLst/>
          </a:prstGeom>
          <a:noFill/>
        </p:spPr>
        <p:txBody>
          <a:bodyPr wrap="square" lIns="0" rIns="0" tIns="0" bIns="0" anchor="t">
            <a:spAutoFit/>
          </a:bodyPr>
          <a:lstStyle/>
          <a:p>
            <a:pPr algn="l">
              <a:lnSpc>
                <a:spcPct val="100000"/>
              </a:lnSpc>
            </a:pPr>
            <a:r>
              <a:rPr sz="3200" b="1" i="0">
                <a:solidFill>
                  <a:srgbClr val="102E4C"/>
                </a:solidFill>
                <a:latin typeface="Tahoma"/>
              </a:rPr>
              <a:t>5 Buckets, 3 Routes</a:t>
            </a:r>
          </a:p>
        </p:txBody>
      </p:sp>
      <p:sp>
        <p:nvSpPr>
          <p:cNvPr id="3" name="Rectangle 2"/>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773936"/>
            <a:ext cx="6848856" cy="457200"/>
          </a:xfrm>
          <a:prstGeom prst="rect">
            <a:avLst/>
          </a:prstGeom>
          <a:noFill/>
        </p:spPr>
        <p:txBody>
          <a:bodyPr wrap="square" lIns="0" rIns="0" tIns="0" bIns="0" anchor="t">
            <a:spAutoFit/>
          </a:bodyPr>
          <a:lstStyle/>
          <a:p>
            <a:pPr algn="ctr">
              <a:lnSpc>
                <a:spcPct val="100000"/>
              </a:lnSpc>
            </a:pPr>
            <a:r>
              <a:rPr sz="2400" b="1" i="0">
                <a:solidFill>
                  <a:srgbClr val="082340"/>
                </a:solidFill>
                <a:latin typeface="Tahoma"/>
              </a:rPr>
              <a:t>Buckets</a:t>
            </a:r>
          </a:p>
        </p:txBody>
      </p:sp>
      <p:sp>
        <p:nvSpPr>
          <p:cNvPr id="5" name="TextBox 4"/>
          <p:cNvSpPr txBox="1"/>
          <p:nvPr/>
        </p:nvSpPr>
        <p:spPr>
          <a:xfrm>
            <a:off x="8293608" y="1773936"/>
            <a:ext cx="3200400" cy="457200"/>
          </a:xfrm>
          <a:prstGeom prst="rect">
            <a:avLst/>
          </a:prstGeom>
          <a:noFill/>
        </p:spPr>
        <p:txBody>
          <a:bodyPr wrap="square" lIns="0" rIns="0" tIns="0" bIns="0" anchor="t">
            <a:spAutoFit/>
          </a:bodyPr>
          <a:lstStyle/>
          <a:p>
            <a:pPr algn="ctr">
              <a:lnSpc>
                <a:spcPct val="100000"/>
              </a:lnSpc>
            </a:pPr>
            <a:r>
              <a:rPr sz="2400" b="1" i="0">
                <a:solidFill>
                  <a:srgbClr val="082340"/>
                </a:solidFill>
                <a:latin typeface="Tahoma"/>
              </a:rPr>
              <a:t>Routes</a:t>
            </a:r>
          </a:p>
        </p:txBody>
      </p:sp>
      <p:sp>
        <p:nvSpPr>
          <p:cNvPr id="6" name="Rounded Rectangle 5"/>
          <p:cNvSpPr/>
          <p:nvPr/>
        </p:nvSpPr>
        <p:spPr>
          <a:xfrm>
            <a:off x="7927848" y="1901952"/>
            <a:ext cx="18288" cy="3941063"/>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94944" y="2414016"/>
            <a:ext cx="3328416" cy="969264"/>
          </a:xfrm>
          <a:prstGeom prst="roundRect">
            <a:avLst>
              <a:gd name="adj" fmla="val 7547"/>
            </a:avLst>
          </a:prstGeom>
          <a:solidFill>
            <a:srgbClr val="102E4C"/>
          </a:solidFill>
          <a:ln w="38100">
            <a:solidFill>
              <a:srgbClr val="FFBF5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2000" b="1">
                <a:solidFill>
                  <a:srgbClr val="FFC000"/>
                </a:solidFill>
                <a:latin typeface="Tahoma"/>
              </a:rPr>
              <a:t>Unauthorized</a:t>
            </a:r>
          </a:p>
        </p:txBody>
      </p:sp>
      <p:sp>
        <p:nvSpPr>
          <p:cNvPr id="8" name="Rounded Rectangle 7"/>
          <p:cNvSpPr/>
          <p:nvPr/>
        </p:nvSpPr>
        <p:spPr>
          <a:xfrm>
            <a:off x="694944" y="3557016"/>
            <a:ext cx="3328416" cy="969264"/>
          </a:xfrm>
          <a:prstGeom prst="roundRect">
            <a:avLst>
              <a:gd name="adj" fmla="val 7547"/>
            </a:avLst>
          </a:prstGeom>
          <a:solidFill>
            <a:srgbClr val="102E4C"/>
          </a:solidFill>
          <a:ln w="38100">
            <a:solidFill>
              <a:srgbClr val="FFBF5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2000" b="1">
                <a:solidFill>
                  <a:srgbClr val="FFC000"/>
                </a:solidFill>
                <a:latin typeface="Tahoma"/>
              </a:rPr>
              <a:t>Duplicate Charge</a:t>
            </a:r>
          </a:p>
        </p:txBody>
      </p:sp>
      <p:sp>
        <p:nvSpPr>
          <p:cNvPr id="9" name="Rounded Rectangle 8"/>
          <p:cNvSpPr/>
          <p:nvPr/>
        </p:nvSpPr>
        <p:spPr>
          <a:xfrm>
            <a:off x="694944" y="4700016"/>
            <a:ext cx="3328416" cy="969264"/>
          </a:xfrm>
          <a:prstGeom prst="roundRect">
            <a:avLst>
              <a:gd name="adj" fmla="val 7547"/>
            </a:avLst>
          </a:prstGeom>
          <a:solidFill>
            <a:srgbClr val="102E4C"/>
          </a:solidFill>
          <a:ln w="38100">
            <a:solidFill>
              <a:srgbClr val="FFBF5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2000" b="1">
                <a:solidFill>
                  <a:srgbClr val="FFC000"/>
                </a:solidFill>
                <a:latin typeface="Tahoma"/>
              </a:rPr>
              <a:t>Service Not Received</a:t>
            </a:r>
          </a:p>
        </p:txBody>
      </p:sp>
      <p:sp>
        <p:nvSpPr>
          <p:cNvPr id="10" name="Rounded Rectangle 9"/>
          <p:cNvSpPr/>
          <p:nvPr/>
        </p:nvSpPr>
        <p:spPr>
          <a:xfrm>
            <a:off x="4215384" y="2980944"/>
            <a:ext cx="3328416" cy="969264"/>
          </a:xfrm>
          <a:prstGeom prst="roundRect">
            <a:avLst>
              <a:gd name="adj" fmla="val 7547"/>
            </a:avLst>
          </a:prstGeom>
          <a:solidFill>
            <a:srgbClr val="102E4C"/>
          </a:solidFill>
          <a:ln w="38100">
            <a:solidFill>
              <a:srgbClr val="FFBF5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2000" b="1">
                <a:solidFill>
                  <a:srgbClr val="FFC000"/>
                </a:solidFill>
                <a:latin typeface="Tahoma"/>
              </a:rPr>
              <a:t>Ambiguous</a:t>
            </a:r>
          </a:p>
        </p:txBody>
      </p:sp>
      <p:sp>
        <p:nvSpPr>
          <p:cNvPr id="11" name="Rounded Rectangle 10"/>
          <p:cNvSpPr/>
          <p:nvPr/>
        </p:nvSpPr>
        <p:spPr>
          <a:xfrm>
            <a:off x="4215384" y="4123944"/>
            <a:ext cx="3328416" cy="969264"/>
          </a:xfrm>
          <a:prstGeom prst="roundRect">
            <a:avLst>
              <a:gd name="adj" fmla="val 7547"/>
            </a:avLst>
          </a:prstGeom>
          <a:solidFill>
            <a:srgbClr val="102E4C"/>
          </a:solidFill>
          <a:ln w="38100">
            <a:solidFill>
              <a:srgbClr val="FFBF55"/>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2000" b="1">
                <a:solidFill>
                  <a:srgbClr val="FFC000"/>
                </a:solidFill>
                <a:latin typeface="Tahoma"/>
              </a:rPr>
              <a:t>Unsupported</a:t>
            </a:r>
          </a:p>
        </p:txBody>
      </p:sp>
      <p:sp>
        <p:nvSpPr>
          <p:cNvPr id="12" name="Rounded Rectangle 11"/>
          <p:cNvSpPr/>
          <p:nvPr/>
        </p:nvSpPr>
        <p:spPr>
          <a:xfrm>
            <a:off x="8293608" y="2414016"/>
            <a:ext cx="3200400" cy="969264"/>
          </a:xfrm>
          <a:prstGeom prst="roundRect">
            <a:avLst>
              <a:gd name="adj" fmla="val 7547"/>
            </a:avLst>
          </a:prstGeom>
          <a:solidFill>
            <a:srgbClr val="102E4C"/>
          </a:solidFill>
          <a:ln w="31750">
            <a:solidFill>
              <a:srgbClr val="A02B9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2000" b="1">
                <a:solidFill>
                  <a:srgbClr val="A02B93"/>
                </a:solidFill>
                <a:latin typeface="Tahoma"/>
              </a:rPr>
              <a:t>Ready For Review</a:t>
            </a:r>
          </a:p>
        </p:txBody>
      </p:sp>
      <p:sp>
        <p:nvSpPr>
          <p:cNvPr id="13" name="Rounded Rectangle 12"/>
          <p:cNvSpPr/>
          <p:nvPr/>
        </p:nvSpPr>
        <p:spPr>
          <a:xfrm>
            <a:off x="8293608" y="3557016"/>
            <a:ext cx="3200400" cy="969264"/>
          </a:xfrm>
          <a:prstGeom prst="roundRect">
            <a:avLst>
              <a:gd name="adj" fmla="val 7547"/>
            </a:avLst>
          </a:prstGeom>
          <a:solidFill>
            <a:srgbClr val="102E4C"/>
          </a:solidFill>
          <a:ln w="31750">
            <a:solidFill>
              <a:srgbClr val="A02B9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2000" b="1">
                <a:solidFill>
                  <a:srgbClr val="A02B93"/>
                </a:solidFill>
                <a:latin typeface="Tahoma"/>
              </a:rPr>
              <a:t>Manual Review</a:t>
            </a:r>
          </a:p>
        </p:txBody>
      </p:sp>
      <p:sp>
        <p:nvSpPr>
          <p:cNvPr id="14" name="Rounded Rectangle 13"/>
          <p:cNvSpPr/>
          <p:nvPr/>
        </p:nvSpPr>
        <p:spPr>
          <a:xfrm>
            <a:off x="8293608" y="4700016"/>
            <a:ext cx="3200400" cy="969264"/>
          </a:xfrm>
          <a:prstGeom prst="roundRect">
            <a:avLst>
              <a:gd name="adj" fmla="val 7547"/>
            </a:avLst>
          </a:prstGeom>
          <a:solidFill>
            <a:srgbClr val="102E4C"/>
          </a:solidFill>
          <a:ln w="31750">
            <a:solidFill>
              <a:srgbClr val="A02B9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2000" b="1">
                <a:solidFill>
                  <a:srgbClr val="A02B93"/>
                </a:solidFill>
                <a:latin typeface="Tahoma"/>
              </a:rPr>
              <a:t>Request Information</a:t>
            </a:r>
          </a:p>
        </p:txBody>
      </p:sp>
    </p:spTree>
    <p:extLst>
      <p:ext uri="{BB962C8B-B14F-4D97-AF65-F5344CB8AC3E}">
        <p14:creationId xmlns:p14="http://schemas.microsoft.com/office/powerpoint/2010/main" val="3388436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47269-FEFF-85E2-F825-F00C6DF04715}"/>
            </a:ext>
          </a:extLst>
        </p:cNvPr>
        <p:cNvGrpSpPr/>
        <p:nvPr/>
      </p:nvGrpSpPr>
      <p:grpSpPr>
        <a:xfrm>
          <a:off x="0" y="0"/>
          <a:ext cx="0" cy="0"/>
          <a:chOff x="0" y="0"/>
          <a:chExt cx="0" cy="0"/>
        </a:xfrm>
      </p:grpSpPr>
      <p:sp>
        <p:nvSpPr>
          <p:cNvPr id="2" name="TextBox 1"/>
          <p:cNvSpPr txBox="1"/>
          <p:nvPr/>
        </p:nvSpPr>
        <p:spPr>
          <a:xfrm>
            <a:off x="694944" y="813816"/>
            <a:ext cx="10799064" cy="493776"/>
          </a:xfrm>
          <a:prstGeom prst="rect">
            <a:avLst/>
          </a:prstGeom>
          <a:noFill/>
        </p:spPr>
        <p:txBody>
          <a:bodyPr wrap="square" lIns="0" rIns="0" tIns="0" bIns="0" anchor="t">
            <a:spAutoFit/>
          </a:bodyPr>
          <a:lstStyle/>
          <a:p>
            <a:pPr algn="l">
              <a:lnSpc>
                <a:spcPct val="100000"/>
              </a:lnSpc>
            </a:pPr>
            <a:r>
              <a:rPr sz="3200" b="1" i="0">
                <a:solidFill>
                  <a:srgbClr val="102E4C"/>
                </a:solidFill>
                <a:latin typeface="Tahoma"/>
              </a:rPr>
              <a:t>Code Decides. The Model Answers the Rest.</a:t>
            </a:r>
          </a:p>
        </p:txBody>
      </p:sp>
      <p:sp>
        <p:nvSpPr>
          <p:cNvPr id="3" name="Rectangle 2"/>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94944" y="1737360"/>
            <a:ext cx="182880" cy="182880"/>
          </a:xfrm>
          <a:prstGeom prst="roundRect">
            <a:avLst>
              <a:gd name="adj" fmla="val 20000"/>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969264" y="1664208"/>
            <a:ext cx="1188720" cy="310896"/>
          </a:xfrm>
          <a:prstGeom prst="rect">
            <a:avLst/>
          </a:prstGeom>
          <a:noFill/>
        </p:spPr>
        <p:txBody>
          <a:bodyPr wrap="square" lIns="0" rIns="0" tIns="0" bIns="0" anchor="t">
            <a:spAutoFit/>
          </a:bodyPr>
          <a:lstStyle/>
          <a:p>
            <a:pPr algn="l">
              <a:lnSpc>
                <a:spcPct val="100000"/>
              </a:lnSpc>
            </a:pPr>
            <a:r>
              <a:rPr sz="1400" b="1" i="0">
                <a:solidFill>
                  <a:srgbClr val="156082"/>
                </a:solidFill>
                <a:latin typeface="Tahoma"/>
              </a:rPr>
              <a:t>CODE</a:t>
            </a:r>
          </a:p>
        </p:txBody>
      </p:sp>
      <p:sp>
        <p:nvSpPr>
          <p:cNvPr id="6" name="Rounded Rectangle 5"/>
          <p:cNvSpPr/>
          <p:nvPr/>
        </p:nvSpPr>
        <p:spPr>
          <a:xfrm>
            <a:off x="2139696" y="1737360"/>
            <a:ext cx="182880" cy="182880"/>
          </a:xfrm>
          <a:prstGeom prst="roundRect">
            <a:avLst>
              <a:gd name="adj" fmla="val 20000"/>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2414015" y="1664208"/>
            <a:ext cx="1188720" cy="310896"/>
          </a:xfrm>
          <a:prstGeom prst="rect">
            <a:avLst/>
          </a:prstGeom>
          <a:noFill/>
        </p:spPr>
        <p:txBody>
          <a:bodyPr wrap="square" lIns="0" rIns="0" tIns="0" bIns="0" anchor="t">
            <a:spAutoFit/>
          </a:bodyPr>
          <a:lstStyle/>
          <a:p>
            <a:pPr algn="l">
              <a:lnSpc>
                <a:spcPct val="100000"/>
              </a:lnSpc>
            </a:pPr>
            <a:r>
              <a:rPr sz="1400" b="1" i="0">
                <a:solidFill>
                  <a:srgbClr val="FBAE40"/>
                </a:solidFill>
                <a:latin typeface="Tahoma"/>
              </a:rPr>
              <a:t>MODEL</a:t>
            </a:r>
          </a:p>
        </p:txBody>
      </p:sp>
      <p:sp>
        <p:nvSpPr>
          <p:cNvPr id="8" name="Rounded Rectangle 7"/>
          <p:cNvSpPr/>
          <p:nvPr/>
        </p:nvSpPr>
        <p:spPr>
          <a:xfrm>
            <a:off x="3694176" y="1737360"/>
            <a:ext cx="182880" cy="182880"/>
          </a:xfrm>
          <a:prstGeom prst="roundRect">
            <a:avLst>
              <a:gd name="adj" fmla="val 20000"/>
            </a:avLst>
          </a:prstGeom>
          <a:solidFill>
            <a:srgbClr val="FFFFFF"/>
          </a:solidFill>
          <a:ln w="15875">
            <a:solidFill>
              <a:srgbClr val="102E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968496" y="1664208"/>
            <a:ext cx="1188720" cy="310896"/>
          </a:xfrm>
          <a:prstGeom prst="rect">
            <a:avLst/>
          </a:prstGeom>
          <a:noFill/>
        </p:spPr>
        <p:txBody>
          <a:bodyPr wrap="square" lIns="0" rIns="0" tIns="0" bIns="0" anchor="t">
            <a:spAutoFit/>
          </a:bodyPr>
          <a:lstStyle/>
          <a:p>
            <a:pPr algn="l">
              <a:lnSpc>
                <a:spcPct val="100000"/>
              </a:lnSpc>
            </a:pPr>
            <a:r>
              <a:rPr sz="1400" b="1" i="0">
                <a:solidFill>
                  <a:srgbClr val="102E4C"/>
                </a:solidFill>
                <a:latin typeface="Tahoma"/>
              </a:rPr>
              <a:t>PERSON</a:t>
            </a:r>
          </a:p>
        </p:txBody>
      </p:sp>
      <p:sp>
        <p:nvSpPr>
          <p:cNvPr id="10" name="Rounded Rectangle 9"/>
          <p:cNvSpPr/>
          <p:nvPr/>
        </p:nvSpPr>
        <p:spPr>
          <a:xfrm>
            <a:off x="694944" y="2029968"/>
            <a:ext cx="3246120" cy="384048"/>
          </a:xfrm>
          <a:prstGeom prst="roundRect">
            <a:avLst>
              <a:gd name="adj" fmla="val 4761"/>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l">
              <a:lnSpc>
                <a:spcPct val="100000"/>
              </a:lnSpc>
            </a:pPr>
            <a:r>
              <a:rPr sz="1200" b="1">
                <a:solidFill>
                  <a:srgbClr val="FFFFFF"/>
                </a:solidFill>
                <a:latin typeface="Tahoma"/>
              </a:rPr>
              <a:t>1  CAPTURE</a:t>
            </a:r>
          </a:p>
        </p:txBody>
      </p:sp>
      <p:sp>
        <p:nvSpPr>
          <p:cNvPr id="11" name="Rounded Rectangle 10"/>
          <p:cNvSpPr/>
          <p:nvPr/>
        </p:nvSpPr>
        <p:spPr>
          <a:xfrm>
            <a:off x="4398264" y="2029968"/>
            <a:ext cx="3246120" cy="384048"/>
          </a:xfrm>
          <a:prstGeom prst="roundRect">
            <a:avLst>
              <a:gd name="adj" fmla="val 4761"/>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l">
              <a:lnSpc>
                <a:spcPct val="100000"/>
              </a:lnSpc>
            </a:pPr>
            <a:r>
              <a:rPr sz="1200" b="1">
                <a:solidFill>
                  <a:srgbClr val="FFFFFF"/>
                </a:solidFill>
                <a:latin typeface="Tahoma"/>
              </a:rPr>
              <a:t>2  CHECK IN CODE</a:t>
            </a:r>
          </a:p>
        </p:txBody>
      </p:sp>
      <p:sp>
        <p:nvSpPr>
          <p:cNvPr id="12" name="Rounded Rectangle 11"/>
          <p:cNvSpPr/>
          <p:nvPr/>
        </p:nvSpPr>
        <p:spPr>
          <a:xfrm>
            <a:off x="8183879" y="2029968"/>
            <a:ext cx="3310128" cy="384048"/>
          </a:xfrm>
          <a:prstGeom prst="roundRect">
            <a:avLst>
              <a:gd name="adj" fmla="val 4761"/>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l">
              <a:lnSpc>
                <a:spcPct val="100000"/>
              </a:lnSpc>
            </a:pPr>
            <a:r>
              <a:rPr sz="1200" b="1">
                <a:solidFill>
                  <a:srgbClr val="FFFFFF"/>
                </a:solidFill>
                <a:latin typeface="Tahoma"/>
              </a:rPr>
              <a:t>3  DRAFT, THEN A PERSON</a:t>
            </a:r>
          </a:p>
        </p:txBody>
      </p:sp>
      <p:sp>
        <p:nvSpPr>
          <p:cNvPr id="13" name="Rounded Rectangle 12"/>
          <p:cNvSpPr/>
          <p:nvPr/>
        </p:nvSpPr>
        <p:spPr>
          <a:xfrm>
            <a:off x="694944" y="2514600"/>
            <a:ext cx="3246120" cy="731520"/>
          </a:xfrm>
          <a:prstGeom prst="roundRect">
            <a:avLst>
              <a:gd name="adj" fmla="val 10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514600"/>
            <a:ext cx="2880360" cy="731520"/>
          </a:xfrm>
          <a:prstGeom prst="rect">
            <a:avLst/>
          </a:prstGeom>
          <a:noFill/>
        </p:spPr>
        <p:txBody>
          <a:bodyPr wrap="square" lIns="0" rIns="0" tIns="18288" bIns="18288" anchor="ctr">
            <a:spAutoFit/>
          </a:bodyPr>
          <a:lstStyle/>
          <a:p>
            <a:pPr algn="l">
              <a:lnSpc>
                <a:spcPct val="100000"/>
              </a:lnSpc>
            </a:pPr>
            <a:r>
              <a:rPr sz="1300" b="0">
                <a:solidFill>
                  <a:srgbClr val="102E4C"/>
                </a:solidFill>
                <a:latin typeface="Tahoma"/>
              </a:rPr>
              <a:t>Intake input</a:t>
            </a:r>
          </a:p>
        </p:txBody>
      </p:sp>
      <p:sp>
        <p:nvSpPr>
          <p:cNvPr id="15" name="Rounded Rectangle 14"/>
          <p:cNvSpPr/>
          <p:nvPr/>
        </p:nvSpPr>
        <p:spPr>
          <a:xfrm>
            <a:off x="694944" y="3392424"/>
            <a:ext cx="3246120" cy="731520"/>
          </a:xfrm>
          <a:prstGeom prst="roundRect">
            <a:avLst>
              <a:gd name="adj" fmla="val 10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3392424"/>
            <a:ext cx="2880360" cy="731520"/>
          </a:xfrm>
          <a:prstGeom prst="rect">
            <a:avLst/>
          </a:prstGeom>
          <a:noFill/>
        </p:spPr>
        <p:txBody>
          <a:bodyPr wrap="square" lIns="0" rIns="0" tIns="18288" bIns="18288" anchor="ctr">
            <a:spAutoFit/>
          </a:bodyPr>
          <a:lstStyle/>
          <a:p>
            <a:pPr algn="l">
              <a:lnSpc>
                <a:spcPct val="100000"/>
              </a:lnSpc>
            </a:pPr>
            <a:r>
              <a:rPr sz="1300" b="0">
                <a:solidFill>
                  <a:srgbClr val="102E4C"/>
                </a:solidFill>
                <a:latin typeface="Tahoma"/>
              </a:rPr>
              <a:t>Parse into one record</a:t>
            </a:r>
          </a:p>
        </p:txBody>
      </p:sp>
      <p:sp>
        <p:nvSpPr>
          <p:cNvPr id="17" name="Rounded Rectangle 16"/>
          <p:cNvSpPr/>
          <p:nvPr/>
        </p:nvSpPr>
        <p:spPr>
          <a:xfrm>
            <a:off x="694944" y="4270248"/>
            <a:ext cx="3246120" cy="731520"/>
          </a:xfrm>
          <a:prstGeom prst="roundRect">
            <a:avLst>
              <a:gd name="adj" fmla="val 10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77824" y="4270248"/>
            <a:ext cx="2880360" cy="731520"/>
          </a:xfrm>
          <a:prstGeom prst="rect">
            <a:avLst/>
          </a:prstGeom>
          <a:noFill/>
        </p:spPr>
        <p:txBody>
          <a:bodyPr wrap="square" lIns="0" rIns="0" tIns="18288" bIns="18288" anchor="ctr">
            <a:spAutoFit/>
          </a:bodyPr>
          <a:lstStyle/>
          <a:p>
            <a:pPr algn="l">
              <a:lnSpc>
                <a:spcPct val="100000"/>
              </a:lnSpc>
            </a:pPr>
            <a:r>
              <a:rPr sz="1300" b="0">
                <a:solidFill>
                  <a:srgbClr val="102E4C"/>
                </a:solidFill>
                <a:latin typeface="Tahoma"/>
              </a:rPr>
              <a:t>Pin the policy version by reported date</a:t>
            </a:r>
          </a:p>
        </p:txBody>
      </p:sp>
      <p:sp>
        <p:nvSpPr>
          <p:cNvPr id="19" name="Rounded Rectangle 18"/>
          <p:cNvSpPr/>
          <p:nvPr/>
        </p:nvSpPr>
        <p:spPr>
          <a:xfrm>
            <a:off x="694944" y="5148072"/>
            <a:ext cx="3246120" cy="731520"/>
          </a:xfrm>
          <a:prstGeom prst="roundRect">
            <a:avLst>
              <a:gd name="adj" fmla="val 10000"/>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77824" y="5148072"/>
            <a:ext cx="2880360" cy="731520"/>
          </a:xfrm>
          <a:prstGeom prst="rect">
            <a:avLst/>
          </a:prstGeom>
          <a:noFill/>
        </p:spPr>
        <p:txBody>
          <a:bodyPr wrap="square" lIns="0" rIns="0" tIns="18288" bIns="18288" anchor="ctr">
            <a:spAutoFit/>
          </a:bodyPr>
          <a:lstStyle/>
          <a:p>
            <a:pPr algn="l">
              <a:lnSpc>
                <a:spcPct val="100000"/>
              </a:lnSpc>
            </a:pPr>
            <a:r>
              <a:rPr sz="1300" b="0">
                <a:solidFill>
                  <a:srgbClr val="102E4C"/>
                </a:solidFill>
                <a:latin typeface="Tahoma"/>
              </a:rPr>
              <a:t>Append transaction and merchant evidence</a:t>
            </a:r>
          </a:p>
        </p:txBody>
      </p:sp>
      <p:sp>
        <p:nvSpPr>
          <p:cNvPr id="21" name="Rounded Rectangle 20"/>
          <p:cNvSpPr/>
          <p:nvPr/>
        </p:nvSpPr>
        <p:spPr>
          <a:xfrm>
            <a:off x="4398264" y="2514600"/>
            <a:ext cx="3246120" cy="1188720"/>
          </a:xfrm>
          <a:prstGeom prst="roundRect">
            <a:avLst>
              <a:gd name="adj" fmla="val 6153"/>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81144" y="2606040"/>
            <a:ext cx="2880360" cy="1005840"/>
          </a:xfrm>
          <a:prstGeom prst="rect">
            <a:avLst/>
          </a:prstGeom>
          <a:noFill/>
        </p:spPr>
        <p:txBody>
          <a:bodyPr wrap="square" lIns="0" rIns="0" tIns="18288" bIns="18288" anchor="ctr">
            <a:spAutoFit/>
          </a:bodyPr>
          <a:lstStyle/>
          <a:p>
            <a:pPr algn="l">
              <a:lnSpc>
                <a:spcPct val="100000"/>
              </a:lnSpc>
            </a:pPr>
            <a:r>
              <a:rPr sz="1200" b="1">
                <a:solidFill>
                  <a:srgbClr val="FFFFFF"/>
                </a:solidFill>
                <a:latin typeface="Tahoma"/>
              </a:rPr>
              <a:t>DETERMINISTIC CHECKS</a:t>
            </a:r>
          </a:p>
          <a:p>
            <a:pPr algn="l">
              <a:lnSpc>
                <a:spcPct val="100000"/>
              </a:lnSpc>
              <a:spcBef>
                <a:spcPts val="500"/>
              </a:spcBef>
            </a:pPr>
            <a:r>
              <a:rPr sz="1100" b="0">
                <a:solidFill>
                  <a:srgbClr val="DCE6F0"/>
                </a:solidFill>
                <a:latin typeface="Tahoma"/>
              </a:rPr>
              <a:t>Seven checks before any model call</a:t>
            </a:r>
          </a:p>
        </p:txBody>
      </p:sp>
      <p:cxnSp>
        <p:nvCxnSpPr>
          <p:cNvPr id="23" name="Connector 22"/>
          <p:cNvCxnSpPr/>
          <p:nvPr/>
        </p:nvCxnSpPr>
        <p:spPr>
          <a:xfrm>
            <a:off x="6016752" y="3703320"/>
            <a:ext cx="0" cy="347471"/>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5056632" y="4069080"/>
            <a:ext cx="1920240" cy="914400"/>
          </a:xfrm>
          <a:prstGeom prst="diamond">
            <a:avLst/>
          </a:prstGeom>
          <a:solidFill>
            <a:srgbClr val="DCE6F0"/>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1100" b="1">
                <a:solidFill>
                  <a:srgbClr val="102E4C"/>
                </a:solidFill>
                <a:latin typeface="Tahoma"/>
              </a:rPr>
              <a:t>A rule</a:t>
            </a:r>
          </a:p>
          <a:p>
            <a:pPr algn="ctr">
              <a:lnSpc>
                <a:spcPct val="100000"/>
              </a:lnSpc>
            </a:pPr>
            <a:r>
              <a:rPr sz="1100" b="1">
                <a:solidFill>
                  <a:srgbClr val="102E4C"/>
                </a:solidFill>
                <a:latin typeface="Tahoma"/>
              </a:rPr>
              <a:t>matched?</a:t>
            </a:r>
          </a:p>
        </p:txBody>
      </p:sp>
      <p:cxnSp>
        <p:nvCxnSpPr>
          <p:cNvPr id="25" name="Connector 24"/>
          <p:cNvCxnSpPr/>
          <p:nvPr/>
        </p:nvCxnSpPr>
        <p:spPr>
          <a:xfrm>
            <a:off x="6016752" y="4983480"/>
            <a:ext cx="0" cy="256032"/>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26480" y="4974336"/>
            <a:ext cx="548640" cy="201168"/>
          </a:xfrm>
          <a:prstGeom prst="rect">
            <a:avLst/>
          </a:prstGeom>
          <a:noFill/>
        </p:spPr>
        <p:txBody>
          <a:bodyPr wrap="square" lIns="0" rIns="0" tIns="0" bIns="0" anchor="t">
            <a:spAutoFit/>
          </a:bodyPr>
          <a:lstStyle/>
          <a:p>
            <a:pPr algn="l">
              <a:lnSpc>
                <a:spcPct val="100000"/>
              </a:lnSpc>
            </a:pPr>
            <a:r>
              <a:rPr sz="950" b="0" i="0">
                <a:solidFill>
                  <a:srgbClr val="5A6B7D"/>
                </a:solidFill>
                <a:latin typeface="Tahoma"/>
              </a:rPr>
              <a:t>no</a:t>
            </a:r>
          </a:p>
        </p:txBody>
      </p:sp>
      <p:sp>
        <p:nvSpPr>
          <p:cNvPr id="27" name="Rounded Rectangle 26"/>
          <p:cNvSpPr/>
          <p:nvPr/>
        </p:nvSpPr>
        <p:spPr>
          <a:xfrm>
            <a:off x="4398264" y="5257800"/>
            <a:ext cx="3246120" cy="777240"/>
          </a:xfrm>
          <a:prstGeom prst="roundRect">
            <a:avLst>
              <a:gd name="adj" fmla="val 9411"/>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81144" y="5330952"/>
            <a:ext cx="2880360" cy="630936"/>
          </a:xfrm>
          <a:prstGeom prst="rect">
            <a:avLst/>
          </a:prstGeom>
          <a:noFill/>
        </p:spPr>
        <p:txBody>
          <a:bodyPr wrap="square" lIns="0" rIns="0" tIns="18288" bIns="18288" anchor="ctr">
            <a:spAutoFit/>
          </a:bodyPr>
          <a:lstStyle/>
          <a:p>
            <a:pPr algn="l">
              <a:lnSpc>
                <a:spcPct val="100000"/>
              </a:lnSpc>
            </a:pPr>
            <a:r>
              <a:rPr sz="1200" b="1">
                <a:solidFill>
                  <a:srgbClr val="102E4C"/>
                </a:solidFill>
                <a:latin typeface="Tahoma"/>
              </a:rPr>
              <a:t>MODEL CALL: which of six labels?</a:t>
            </a:r>
          </a:p>
          <a:p>
            <a:pPr algn="l">
              <a:lnSpc>
                <a:spcPct val="100000"/>
              </a:lnSpc>
              <a:spcBef>
                <a:spcPts val="300"/>
              </a:spcBef>
            </a:pPr>
            <a:r>
              <a:rPr sz="950" b="0">
                <a:solidFill>
                  <a:srgbClr val="102E4C"/>
                </a:solidFill>
                <a:latin typeface="Tahoma"/>
              </a:rPr>
              <a:t>Only when no rule matches. Off by default: 0 calls in the published run.</a:t>
            </a:r>
          </a:p>
        </p:txBody>
      </p:sp>
      <p:sp>
        <p:nvSpPr>
          <p:cNvPr id="29" name="Rounded Rectangle 28"/>
          <p:cNvSpPr/>
          <p:nvPr/>
        </p:nvSpPr>
        <p:spPr>
          <a:xfrm>
            <a:off x="8183879" y="2514600"/>
            <a:ext cx="3310128" cy="731520"/>
          </a:xfrm>
          <a:prstGeom prst="roundRect">
            <a:avLst>
              <a:gd name="adj" fmla="val 10000"/>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366760" y="2514600"/>
            <a:ext cx="2944368" cy="731520"/>
          </a:xfrm>
          <a:prstGeom prst="rect">
            <a:avLst/>
          </a:prstGeom>
          <a:noFill/>
        </p:spPr>
        <p:txBody>
          <a:bodyPr wrap="square" lIns="0" rIns="0" tIns="18288" bIns="18288" anchor="ctr">
            <a:spAutoFit/>
          </a:bodyPr>
          <a:lstStyle/>
          <a:p>
            <a:pPr algn="l">
              <a:lnSpc>
                <a:spcPct val="100000"/>
              </a:lnSpc>
            </a:pPr>
            <a:r>
              <a:rPr sz="1400" b="1">
                <a:solidFill>
                  <a:srgbClr val="FFFFFF"/>
                </a:solidFill>
                <a:latin typeface="Tahoma"/>
              </a:rPr>
              <a:t>Build the cited draft</a:t>
            </a:r>
          </a:p>
        </p:txBody>
      </p:sp>
      <p:sp>
        <p:nvSpPr>
          <p:cNvPr id="31" name="Rounded Rectangle 30"/>
          <p:cNvSpPr/>
          <p:nvPr/>
        </p:nvSpPr>
        <p:spPr>
          <a:xfrm>
            <a:off x="8183879" y="3520440"/>
            <a:ext cx="3310128" cy="868680"/>
          </a:xfrm>
          <a:prstGeom prst="roundRect">
            <a:avLst>
              <a:gd name="adj" fmla="val 8421"/>
            </a:avLst>
          </a:prstGeom>
          <a:solidFill>
            <a:srgbClr val="FFFFFF"/>
          </a:solidFill>
          <a:ln w="19050">
            <a:solidFill>
              <a:srgbClr val="102E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366760" y="3611880"/>
            <a:ext cx="2944368" cy="685800"/>
          </a:xfrm>
          <a:prstGeom prst="rect">
            <a:avLst/>
          </a:prstGeom>
          <a:noFill/>
        </p:spPr>
        <p:txBody>
          <a:bodyPr wrap="square" lIns="0" rIns="0" tIns="18288" bIns="18288" anchor="ctr">
            <a:spAutoFit/>
          </a:bodyPr>
          <a:lstStyle/>
          <a:p>
            <a:pPr algn="l">
              <a:lnSpc>
                <a:spcPct val="100000"/>
              </a:lnSpc>
            </a:pPr>
            <a:r>
              <a:rPr sz="1000" b="1">
                <a:solidFill>
                  <a:srgbClr val="102E4C"/>
                </a:solidFill>
                <a:latin typeface="Tahoma"/>
              </a:rPr>
              <a:t>PERSON</a:t>
            </a:r>
          </a:p>
          <a:p>
            <a:pPr algn="l">
              <a:lnSpc>
                <a:spcPct val="100000"/>
              </a:lnSpc>
              <a:spcBef>
                <a:spcPts val="400"/>
              </a:spcBef>
            </a:pPr>
            <a:r>
              <a:rPr sz="1100" b="0">
                <a:solidFill>
                  <a:srgbClr val="102E4C"/>
                </a:solidFill>
                <a:latin typeface="Tahoma"/>
              </a:rPr>
              <a:t>approve or deny that exact draft</a:t>
            </a:r>
          </a:p>
        </p:txBody>
      </p:sp>
      <p:sp>
        <p:nvSpPr>
          <p:cNvPr id="33" name="Rounded Rectangle 32"/>
          <p:cNvSpPr/>
          <p:nvPr/>
        </p:nvSpPr>
        <p:spPr>
          <a:xfrm>
            <a:off x="8183879" y="4663440"/>
            <a:ext cx="3310128" cy="731520"/>
          </a:xfrm>
          <a:prstGeom prst="roundRect">
            <a:avLst>
              <a:gd name="adj" fmla="val 10000"/>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366760" y="4663440"/>
            <a:ext cx="2944368" cy="731520"/>
          </a:xfrm>
          <a:prstGeom prst="rect">
            <a:avLst/>
          </a:prstGeom>
          <a:noFill/>
        </p:spPr>
        <p:txBody>
          <a:bodyPr wrap="square" lIns="0" rIns="0" tIns="18288" bIns="18288" anchor="ctr">
            <a:spAutoFit/>
          </a:bodyPr>
          <a:lstStyle/>
          <a:p>
            <a:pPr algn="l">
              <a:lnSpc>
                <a:spcPct val="100000"/>
              </a:lnSpc>
            </a:pPr>
            <a:r>
              <a:rPr sz="1400" b="1">
                <a:solidFill>
                  <a:srgbClr val="FFFFFF"/>
                </a:solidFill>
                <a:latin typeface="Tahoma"/>
              </a:rPr>
              <a:t>Record the case</a:t>
            </a:r>
          </a:p>
        </p:txBody>
      </p:sp>
      <p:sp>
        <p:nvSpPr>
          <p:cNvPr id="35" name="TextBox 34"/>
          <p:cNvSpPr txBox="1"/>
          <p:nvPr/>
        </p:nvSpPr>
        <p:spPr>
          <a:xfrm>
            <a:off x="8183879" y="5504688"/>
            <a:ext cx="3310128" cy="365760"/>
          </a:xfrm>
          <a:prstGeom prst="rect">
            <a:avLst/>
          </a:prstGeom>
          <a:noFill/>
        </p:spPr>
        <p:txBody>
          <a:bodyPr wrap="square" lIns="0" rIns="0" tIns="0" bIns="0" anchor="t">
            <a:spAutoFit/>
          </a:bodyPr>
          <a:lstStyle/>
          <a:p>
            <a:pPr algn="l">
              <a:lnSpc>
                <a:spcPct val="100000"/>
              </a:lnSpc>
            </a:pPr>
            <a:r>
              <a:rPr sz="1000" b="0" i="0">
                <a:solidFill>
                  <a:srgbClr val="5A6B7D"/>
                </a:solidFill>
                <a:latin typeface="Tahoma"/>
              </a:rPr>
              <a:t>One record per approval. A changed draft is refused.</a:t>
            </a:r>
          </a:p>
        </p:txBody>
      </p:sp>
      <p:cxnSp>
        <p:nvCxnSpPr>
          <p:cNvPr id="36" name="Connector 35"/>
          <p:cNvCxnSpPr/>
          <p:nvPr/>
        </p:nvCxnSpPr>
        <p:spPr>
          <a:xfrm>
            <a:off x="9838944" y="3246120"/>
            <a:ext cx="0" cy="256032"/>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838944" y="4389120"/>
            <a:ext cx="0" cy="256032"/>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976872" y="4526280"/>
            <a:ext cx="841248" cy="0"/>
          </a:xfrm>
          <a:prstGeom prst="line">
            <a:avLst/>
          </a:prstGeom>
          <a:ln w="19050">
            <a:solidFill>
              <a:srgbClr val="156082"/>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644383" y="5650992"/>
            <a:ext cx="173737" cy="0"/>
          </a:xfrm>
          <a:prstGeom prst="line">
            <a:avLst/>
          </a:prstGeom>
          <a:ln w="19050">
            <a:solidFill>
              <a:srgbClr val="156082"/>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818120" y="2880360"/>
            <a:ext cx="0" cy="2770632"/>
          </a:xfrm>
          <a:prstGeom prst="line">
            <a:avLst/>
          </a:prstGeom>
          <a:ln w="19050">
            <a:solidFill>
              <a:srgbClr val="156082"/>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818120" y="2880360"/>
            <a:ext cx="347472" cy="0"/>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7763256" y="4471416"/>
            <a:ext cx="109728" cy="109728"/>
          </a:xfrm>
          <a:prstGeom prst="ellipse">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763256" y="5596128"/>
            <a:ext cx="109728" cy="109728"/>
          </a:xfrm>
          <a:prstGeom prst="ellipse">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040880" y="4224528"/>
            <a:ext cx="548640" cy="201168"/>
          </a:xfrm>
          <a:prstGeom prst="rect">
            <a:avLst/>
          </a:prstGeom>
          <a:noFill/>
        </p:spPr>
        <p:txBody>
          <a:bodyPr wrap="square" lIns="0" rIns="0" tIns="0" bIns="0" anchor="t">
            <a:spAutoFit/>
          </a:bodyPr>
          <a:lstStyle/>
          <a:p>
            <a:pPr algn="l">
              <a:lnSpc>
                <a:spcPct val="100000"/>
              </a:lnSpc>
            </a:pPr>
            <a:r>
              <a:rPr sz="950" b="0" i="0">
                <a:solidFill>
                  <a:srgbClr val="5A6B7D"/>
                </a:solidFill>
                <a:latin typeface="Tahoma"/>
              </a:rPr>
              <a:t>yes</a:t>
            </a:r>
          </a:p>
        </p:txBody>
      </p:sp>
    </p:spTree>
    <p:extLst>
      <p:ext uri="{BB962C8B-B14F-4D97-AF65-F5344CB8AC3E}">
        <p14:creationId xmlns:p14="http://schemas.microsoft.com/office/powerpoint/2010/main" val="142712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8668C-2DE9-25C0-6C17-75974289569C}"/>
            </a:ext>
          </a:extLst>
        </p:cNvPr>
        <p:cNvGrpSpPr/>
        <p:nvPr/>
      </p:nvGrpSpPr>
      <p:grpSpPr>
        <a:xfrm>
          <a:off x="0" y="0"/>
          <a:ext cx="0" cy="0"/>
          <a:chOff x="0" y="0"/>
          <a:chExt cx="0" cy="0"/>
        </a:xfrm>
      </p:grpSpPr>
      <p:pic>
        <p:nvPicPr>
          <p:cNvPr id="4" name="Picture 3" descr="What the rules check first: seven checks in code, zero model calls.">
            <a:extLst>
              <a:ext uri="{FF2B5EF4-FFF2-40B4-BE49-F238E27FC236}">
                <a16:creationId xmlns:a16="http://schemas.microsoft.com/office/drawing/2014/main" id="{FF4AEB8E-BA27-5AB2-74AE-E22A37F7134F}"/>
              </a:ext>
            </a:extLst>
          </p:cNvPr>
          <p:cNvPicPr>
            <a:picLocks noChangeAspect="1"/>
          </p:cNvPicPr>
          <p:nvPr/>
        </p:nvPicPr>
        <p:blipFill>
          <a:blip r:embed="rId2"/>
          <a:stretch>
            <a:fillRect/>
          </a:stretch>
        </p:blipFill>
        <p:spPr>
          <a:xfrm>
            <a:off x="0" y="0"/>
            <a:ext cx="12192000" cy="6182725"/>
          </a:xfrm>
          <a:prstGeom prst="rect">
            <a:avLst/>
          </a:prstGeom>
        </p:spPr>
      </p:pic>
    </p:spTree>
    <p:extLst>
      <p:ext uri="{BB962C8B-B14F-4D97-AF65-F5344CB8AC3E}">
        <p14:creationId xmlns:p14="http://schemas.microsoft.com/office/powerpoint/2010/main" val="512440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F0E03-64FF-A446-7E6B-781B4E9129AD}"/>
            </a:ext>
          </a:extLst>
        </p:cNvPr>
        <p:cNvGrpSpPr/>
        <p:nvPr/>
      </p:nvGrpSpPr>
      <p:grpSpPr>
        <a:xfrm>
          <a:off x="0" y="0"/>
          <a:ext cx="0" cy="0"/>
          <a:chOff x="0" y="0"/>
          <a:chExt cx="0" cy="0"/>
        </a:xfrm>
      </p:grpSpPr>
      <p:pic>
        <p:nvPicPr>
          <p:cNvPr id="3" name="Picture 2" descr="What the model does: one closed question, two models compared.">
            <a:extLst>
              <a:ext uri="{FF2B5EF4-FFF2-40B4-BE49-F238E27FC236}">
                <a16:creationId xmlns:a16="http://schemas.microsoft.com/office/drawing/2014/main" id="{D4FE7380-4A1B-7E75-7DF9-A7E7C1283A91}"/>
              </a:ext>
            </a:extLst>
          </p:cNvPr>
          <p:cNvPicPr>
            <a:picLocks noChangeAspect="1"/>
          </p:cNvPicPr>
          <p:nvPr/>
        </p:nvPicPr>
        <p:blipFill>
          <a:blip r:embed="rId2"/>
          <a:stretch>
            <a:fillRect/>
          </a:stretch>
        </p:blipFill>
        <p:spPr>
          <a:xfrm>
            <a:off x="0" y="0"/>
            <a:ext cx="12192000" cy="6151218"/>
          </a:xfrm>
          <a:prstGeom prst="rect">
            <a:avLst/>
          </a:prstGeom>
        </p:spPr>
      </p:pic>
      <p:pic>
        <p:nvPicPr>
          <p:cNvPr id="4" name="Picture 3" descr="What the model does: one closed question, two models compared.">
            <a:extLst>
              <a:ext uri="{FF2B5EF4-FFF2-40B4-BE49-F238E27FC236}">
                <a16:creationId xmlns:a16="http://schemas.microsoft.com/office/drawing/2014/main" id="{E0176FEB-77AB-6489-8FA6-E80A1408928E}"/>
              </a:ext>
            </a:extLst>
          </p:cNvPr>
          <p:cNvPicPr>
            <a:picLocks noChangeAspect="1"/>
          </p:cNvPicPr>
          <p:nvPr/>
        </p:nvPicPr>
        <p:blipFill>
          <a:blip r:embed="rId3"/>
          <a:srcRect b="5800"/>
          <a:stretch>
            <a:fillRect/>
          </a:stretch>
        </p:blipFill>
        <p:spPr>
          <a:xfrm>
            <a:off x="0" y="0"/>
            <a:ext cx="12192000" cy="6460236"/>
          </a:xfrm>
          <a:prstGeom prst="rect">
            <a:avLst/>
          </a:prstGeom>
        </p:spPr>
      </p:pic>
      <p:pic>
        <p:nvPicPr>
          <p:cNvPr id="7" name="Picture 6" descr="What the model does: one closed question, two models compared.">
            <a:extLst>
              <a:ext uri="{FF2B5EF4-FFF2-40B4-BE49-F238E27FC236}">
                <a16:creationId xmlns:a16="http://schemas.microsoft.com/office/drawing/2014/main" id="{F759CFA3-7C5E-7A8F-9CB5-11A40E3EC394}"/>
              </a:ext>
            </a:extLst>
          </p:cNvPr>
          <p:cNvPicPr>
            <a:picLocks noChangeAspect="1"/>
          </p:cNvPicPr>
          <p:nvPr/>
        </p:nvPicPr>
        <p:blipFill>
          <a:blip r:embed="rId4"/>
          <a:srcRect b="5800"/>
          <a:stretch>
            <a:fillRect/>
          </a:stretch>
        </p:blipFill>
        <p:spPr>
          <a:xfrm>
            <a:off x="0" y="0"/>
            <a:ext cx="12192000" cy="6460236"/>
          </a:xfrm>
          <a:prstGeom prst="rect">
            <a:avLst/>
          </a:prstGeom>
        </p:spPr>
      </p:pic>
      <p:sp>
        <p:nvSpPr>
          <p:cNvPr id="8" name="Rounded Rectangle 7"/>
          <p:cNvSpPr/>
          <p:nvPr/>
        </p:nvSpPr>
        <p:spPr>
          <a:xfrm>
            <a:off x="9454896" y="6217920"/>
            <a:ext cx="2734056" cy="640080"/>
          </a:xfrm>
          <a:prstGeom prst="roundRect">
            <a:avLst>
              <a:gd name="adj" fmla="val 1142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9" name="Picture 8" descr="image.png"/>
          <p:cNvPicPr>
            <a:picLocks noChangeAspect="1"/>
          </p:cNvPicPr>
          <p:nvPr/>
        </p:nvPicPr>
        <p:blipFill>
          <a:blip r:embed="rId5"/>
          <a:stretch>
            <a:fillRect/>
          </a:stretch>
        </p:blipFill>
        <p:spPr>
          <a:xfrm>
            <a:off x="9543152" y="6223335"/>
            <a:ext cx="2205128" cy="508877"/>
          </a:xfrm>
          <a:prstGeom prst="rect">
            <a:avLst/>
          </a:prstGeom>
        </p:spPr>
      </p:pic>
    </p:spTree>
    <p:extLst>
      <p:ext uri="{BB962C8B-B14F-4D97-AF65-F5344CB8AC3E}">
        <p14:creationId xmlns:p14="http://schemas.microsoft.com/office/powerpoint/2010/main" val="4105336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1387-8782-9A09-B090-E34154FDDF17}"/>
            </a:ext>
          </a:extLst>
        </p:cNvPr>
        <p:cNvGrpSpPr/>
        <p:nvPr/>
      </p:nvGrpSpPr>
      <p:grpSpPr>
        <a:xfrm>
          <a:off x="0" y="0"/>
          <a:ext cx="0" cy="0"/>
          <a:chOff x="0" y="0"/>
          <a:chExt cx="0" cy="0"/>
        </a:xfrm>
      </p:grpSpPr>
      <p:sp>
        <p:nvSpPr>
          <p:cNvPr id="2" name="TextBox 1"/>
          <p:cNvSpPr txBox="1"/>
          <p:nvPr/>
        </p:nvSpPr>
        <p:spPr>
          <a:xfrm>
            <a:off x="694944" y="813816"/>
            <a:ext cx="10799064" cy="493776"/>
          </a:xfrm>
          <a:prstGeom prst="rect">
            <a:avLst/>
          </a:prstGeom>
          <a:noFill/>
        </p:spPr>
        <p:txBody>
          <a:bodyPr wrap="square" lIns="0" rIns="0" tIns="0" bIns="0" anchor="t">
            <a:spAutoFit/>
          </a:bodyPr>
          <a:lstStyle/>
          <a:p>
            <a:pPr algn="l">
              <a:lnSpc>
                <a:spcPct val="100000"/>
              </a:lnSpc>
            </a:pPr>
            <a:r>
              <a:rPr sz="3200" b="1" i="0">
                <a:solidFill>
                  <a:srgbClr val="102E4C"/>
                </a:solidFill>
                <a:latin typeface="Tahoma"/>
              </a:rPr>
              <a:t>What the Pilot Deploys</a:t>
            </a:r>
          </a:p>
        </p:txBody>
      </p:sp>
      <p:sp>
        <p:nvSpPr>
          <p:cNvPr id="3" name="Rectangle 2"/>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737360"/>
            <a:ext cx="10799064" cy="310896"/>
          </a:xfrm>
          <a:prstGeom prst="rect">
            <a:avLst/>
          </a:prstGeom>
          <a:noFill/>
        </p:spPr>
        <p:txBody>
          <a:bodyPr wrap="square" lIns="0" rIns="0" tIns="0" bIns="0" anchor="t">
            <a:spAutoFit/>
          </a:bodyPr>
          <a:lstStyle/>
          <a:p>
            <a:pPr algn="l">
              <a:lnSpc>
                <a:spcPct val="100000"/>
              </a:lnSpc>
            </a:pPr>
            <a:r>
              <a:rPr sz="1600" b="0" i="0">
                <a:solidFill>
                  <a:srgbClr val="102E4C"/>
                </a:solidFill>
                <a:latin typeface="Tahoma"/>
              </a:rPr>
              <a:t>One container, one load balancer, one database file. Nothing else exists.</a:t>
            </a:r>
          </a:p>
        </p:txBody>
      </p:sp>
      <p:sp>
        <p:nvSpPr>
          <p:cNvPr id="5" name="Rounded Rectangle 4"/>
          <p:cNvSpPr/>
          <p:nvPr/>
        </p:nvSpPr>
        <p:spPr>
          <a:xfrm>
            <a:off x="694944" y="2240280"/>
            <a:ext cx="1874519" cy="914400"/>
          </a:xfrm>
          <a:prstGeom prst="roundRect">
            <a:avLst>
              <a:gd name="adj" fmla="val 8000"/>
            </a:avLst>
          </a:prstGeom>
          <a:solidFill>
            <a:srgbClr val="FFFFFF"/>
          </a:solidFill>
          <a:ln w="15875">
            <a:solidFill>
              <a:srgbClr val="102E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59536" y="2304288"/>
            <a:ext cx="1600200" cy="786384"/>
          </a:xfrm>
          <a:prstGeom prst="rect">
            <a:avLst/>
          </a:prstGeom>
          <a:noFill/>
        </p:spPr>
        <p:txBody>
          <a:bodyPr wrap="square" lIns="0" rIns="0" tIns="18288" bIns="18288" anchor="ctr">
            <a:spAutoFit/>
          </a:bodyPr>
          <a:lstStyle/>
          <a:p>
            <a:pPr algn="l">
              <a:lnSpc>
                <a:spcPct val="100000"/>
              </a:lnSpc>
            </a:pPr>
            <a:r>
              <a:rPr sz="1100" b="1">
                <a:solidFill>
                  <a:srgbClr val="102E4C"/>
                </a:solidFill>
                <a:latin typeface="Tahoma"/>
              </a:rPr>
              <a:t>REVIEWER</a:t>
            </a:r>
          </a:p>
          <a:p>
            <a:pPr algn="l">
              <a:lnSpc>
                <a:spcPct val="100000"/>
              </a:lnSpc>
              <a:spcBef>
                <a:spcPts val="400"/>
              </a:spcBef>
            </a:pPr>
            <a:r>
              <a:rPr sz="1000" b="0">
                <a:solidFill>
                  <a:srgbClr val="5A6B7D"/>
                </a:solidFill>
                <a:latin typeface="Tahoma"/>
              </a:rPr>
              <a:t>browser or curl, no account</a:t>
            </a:r>
          </a:p>
        </p:txBody>
      </p:sp>
      <p:sp>
        <p:nvSpPr>
          <p:cNvPr id="7" name="Rounded Rectangle 6"/>
          <p:cNvSpPr/>
          <p:nvPr/>
        </p:nvSpPr>
        <p:spPr>
          <a:xfrm>
            <a:off x="694944" y="3931920"/>
            <a:ext cx="1874519" cy="914400"/>
          </a:xfrm>
          <a:prstGeom prst="roundRect">
            <a:avLst>
              <a:gd name="adj" fmla="val 8000"/>
            </a:avLst>
          </a:prstGeom>
          <a:solidFill>
            <a:srgbClr val="FFFFFF"/>
          </a:solidFill>
          <a:ln w="15875">
            <a:solidFill>
              <a:srgbClr val="102E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59536" y="3995928"/>
            <a:ext cx="1554480" cy="786384"/>
          </a:xfrm>
          <a:prstGeom prst="rect">
            <a:avLst/>
          </a:prstGeom>
          <a:noFill/>
        </p:spPr>
        <p:txBody>
          <a:bodyPr wrap="square" lIns="0" rIns="0" tIns="18288" bIns="18288" anchor="ctr">
            <a:spAutoFit/>
          </a:bodyPr>
          <a:lstStyle/>
          <a:p>
            <a:pPr algn="l">
              <a:lnSpc>
                <a:spcPct val="100000"/>
              </a:lnSpc>
            </a:pPr>
            <a:r>
              <a:rPr sz="1100" b="1">
                <a:solidFill>
                  <a:srgbClr val="102E4C"/>
                </a:solidFill>
                <a:latin typeface="Tahoma"/>
              </a:rPr>
              <a:t>OPERATOR</a:t>
            </a:r>
          </a:p>
          <a:p>
            <a:pPr algn="l">
              <a:lnSpc>
                <a:spcPct val="100000"/>
              </a:lnSpc>
              <a:spcBef>
                <a:spcPts val="400"/>
              </a:spcBef>
            </a:pPr>
            <a:r>
              <a:rPr sz="1000" b="0">
                <a:solidFill>
                  <a:srgbClr val="5A6B7D"/>
                </a:solidFill>
                <a:latin typeface="Tahoma"/>
              </a:rPr>
              <a:t>SSM session, audited</a:t>
            </a:r>
          </a:p>
        </p:txBody>
      </p:sp>
      <p:cxnSp>
        <p:nvCxnSpPr>
          <p:cNvPr id="9" name="Connector 8"/>
          <p:cNvCxnSpPr/>
          <p:nvPr/>
        </p:nvCxnSpPr>
        <p:spPr>
          <a:xfrm>
            <a:off x="2569464" y="2697480"/>
            <a:ext cx="246888" cy="0"/>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569464" y="4389120"/>
            <a:ext cx="246888" cy="0"/>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4640" y="2240280"/>
            <a:ext cx="3017520" cy="822960"/>
          </a:xfrm>
          <a:prstGeom prst="roundRect">
            <a:avLst>
              <a:gd name="adj" fmla="val 8888"/>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999232" y="2304288"/>
            <a:ext cx="2688336" cy="694944"/>
          </a:xfrm>
          <a:prstGeom prst="rect">
            <a:avLst/>
          </a:prstGeom>
          <a:noFill/>
        </p:spPr>
        <p:txBody>
          <a:bodyPr wrap="square" lIns="0" rIns="0" tIns="18288" bIns="18288" anchor="ctr">
            <a:spAutoFit/>
          </a:bodyPr>
          <a:lstStyle/>
          <a:p>
            <a:pPr algn="l">
              <a:lnSpc>
                <a:spcPct val="100000"/>
              </a:lnSpc>
            </a:pPr>
            <a:r>
              <a:rPr sz="1100" b="1">
                <a:solidFill>
                  <a:srgbClr val="FFFFFF"/>
                </a:solidFill>
                <a:latin typeface="Tahoma"/>
              </a:rPr>
              <a:t>LOAD BALANCER</a:t>
            </a:r>
          </a:p>
          <a:p>
            <a:pPr algn="l">
              <a:lnSpc>
                <a:spcPct val="100000"/>
              </a:lnSpc>
              <a:spcBef>
                <a:spcPts val="400"/>
              </a:spcBef>
            </a:pPr>
            <a:r>
              <a:rPr sz="1000" b="0">
                <a:solidFill>
                  <a:srgbClr val="DCE6F0"/>
                </a:solidFill>
                <a:latin typeface="Tahoma"/>
              </a:rPr>
              <a:t>public :80, one health route</a:t>
            </a:r>
          </a:p>
        </p:txBody>
      </p:sp>
      <p:cxnSp>
        <p:nvCxnSpPr>
          <p:cNvPr id="13" name="Connector 12"/>
          <p:cNvCxnSpPr/>
          <p:nvPr/>
        </p:nvCxnSpPr>
        <p:spPr>
          <a:xfrm>
            <a:off x="4343400" y="3063240"/>
            <a:ext cx="0" cy="210312"/>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34640" y="3291840"/>
            <a:ext cx="3017520" cy="1920240"/>
          </a:xfrm>
          <a:prstGeom prst="roundRect">
            <a:avLst>
              <a:gd name="adj" fmla="val 3809"/>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999232" y="3346704"/>
            <a:ext cx="2688336" cy="1810512"/>
          </a:xfrm>
          <a:prstGeom prst="rect">
            <a:avLst/>
          </a:prstGeom>
          <a:noFill/>
        </p:spPr>
        <p:txBody>
          <a:bodyPr wrap="square" lIns="0" rIns="0" tIns="18288" bIns="18288" anchor="ctr">
            <a:spAutoFit/>
          </a:bodyPr>
          <a:lstStyle/>
          <a:p>
            <a:pPr algn="l">
              <a:lnSpc>
                <a:spcPct val="100000"/>
              </a:lnSpc>
            </a:pPr>
            <a:r>
              <a:rPr sz="1200" b="1">
                <a:solidFill>
                  <a:srgbClr val="FFFFFF"/>
                </a:solidFill>
                <a:latin typeface="Tahoma"/>
              </a:rPr>
              <a:t>ECS FARGATE, ONE TASK</a:t>
            </a:r>
          </a:p>
          <a:p>
            <a:pPr algn="l">
              <a:lnSpc>
                <a:spcPct val="100000"/>
              </a:lnSpc>
              <a:spcBef>
                <a:spcPts val="400"/>
              </a:spcBef>
            </a:pPr>
            <a:r>
              <a:rPr sz="1050" b="0">
                <a:solidFill>
                  <a:srgbClr val="DCE6F0"/>
                </a:solidFill>
                <a:latin typeface="Tahoma"/>
              </a:rPr>
              <a:t>0.5 vCPU, 1 GB</a:t>
            </a:r>
          </a:p>
          <a:p>
            <a:pPr algn="l">
              <a:lnSpc>
                <a:spcPct val="100000"/>
              </a:lnSpc>
              <a:spcBef>
                <a:spcPts val="1200"/>
              </a:spcBef>
            </a:pPr>
            <a:r>
              <a:rPr sz="1000" b="0">
                <a:solidFill>
                  <a:srgbClr val="DCE6F0"/>
                </a:solidFill>
                <a:latin typeface="Tahoma"/>
              </a:rPr>
              <a:t>GET /health, /v1/cases</a:t>
            </a:r>
          </a:p>
          <a:p>
            <a:pPr algn="l">
              <a:lnSpc>
                <a:spcPct val="100000"/>
              </a:lnSpc>
              <a:spcBef>
                <a:spcPts val="300"/>
              </a:spcBef>
            </a:pPr>
            <a:r>
              <a:rPr sz="1000" b="0">
                <a:solidFill>
                  <a:srgbClr val="DCE6F0"/>
                </a:solidFill>
                <a:latin typeface="Tahoma"/>
              </a:rPr>
              <a:t>POST /v1/reviews, /v1/records</a:t>
            </a:r>
          </a:p>
          <a:p>
            <a:pPr algn="l">
              <a:lnSpc>
                <a:spcPct val="100000"/>
              </a:lnSpc>
              <a:spcBef>
                <a:spcPts val="300"/>
              </a:spcBef>
            </a:pPr>
            <a:r>
              <a:rPr sz="1000" b="0">
                <a:solidFill>
                  <a:srgbClr val="DCE6F0"/>
                </a:solidFill>
                <a:latin typeface="Tahoma"/>
              </a:rPr>
              <a:t>KYC writes refused in code</a:t>
            </a:r>
          </a:p>
        </p:txBody>
      </p:sp>
      <p:sp>
        <p:nvSpPr>
          <p:cNvPr id="16" name="Rounded Rectangle 15"/>
          <p:cNvSpPr/>
          <p:nvPr/>
        </p:nvSpPr>
        <p:spPr>
          <a:xfrm>
            <a:off x="2834640" y="5440680"/>
            <a:ext cx="3017520" cy="502920"/>
          </a:xfrm>
          <a:prstGeom prst="roundRect">
            <a:avLst>
              <a:gd name="adj" fmla="val 14545"/>
            </a:avLst>
          </a:prstGeom>
          <a:noFill/>
          <a:ln w="19050">
            <a:solidFill>
              <a:srgbClr val="FBAE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7" name="Connector 16"/>
          <p:cNvCxnSpPr/>
          <p:nvPr/>
        </p:nvCxnSpPr>
        <p:spPr>
          <a:xfrm>
            <a:off x="4343400" y="5212080"/>
            <a:ext cx="0" cy="210312"/>
          </a:xfrm>
          <a:prstGeom prst="line">
            <a:avLst/>
          </a:prstGeom>
          <a:ln w="19050">
            <a:solidFill>
              <a:srgbClr val="FBAE4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999232" y="5486400"/>
            <a:ext cx="2011680" cy="411480"/>
          </a:xfrm>
          <a:prstGeom prst="rect">
            <a:avLst/>
          </a:prstGeom>
          <a:noFill/>
        </p:spPr>
        <p:txBody>
          <a:bodyPr wrap="square" lIns="0" rIns="0" tIns="9144" bIns="9144" anchor="ctr">
            <a:spAutoFit/>
          </a:bodyPr>
          <a:lstStyle/>
          <a:p>
            <a:pPr algn="l">
              <a:lnSpc>
                <a:spcPct val="100000"/>
              </a:lnSpc>
            </a:pPr>
            <a:r>
              <a:rPr sz="1100" b="1">
                <a:solidFill>
                  <a:srgbClr val="102E4C"/>
                </a:solidFill>
                <a:latin typeface="Tahoma"/>
              </a:rPr>
              <a:t>MODEL ROUTE</a:t>
            </a:r>
          </a:p>
          <a:p>
            <a:pPr algn="l">
              <a:lnSpc>
                <a:spcPct val="100000"/>
              </a:lnSpc>
              <a:spcBef>
                <a:spcPts val="200"/>
              </a:spcBef>
            </a:pPr>
            <a:r>
              <a:rPr sz="1000" b="0">
                <a:solidFill>
                  <a:srgbClr val="102E4C"/>
                </a:solidFill>
                <a:latin typeface="Tahoma"/>
              </a:rPr>
              <a:t>built, off by default, 0 calls</a:t>
            </a:r>
          </a:p>
        </p:txBody>
      </p:sp>
      <p:sp>
        <p:nvSpPr>
          <p:cNvPr id="19" name="Rounded Rectangle 18"/>
          <p:cNvSpPr/>
          <p:nvPr/>
        </p:nvSpPr>
        <p:spPr>
          <a:xfrm>
            <a:off x="5138928" y="5596128"/>
            <a:ext cx="512064" cy="219456"/>
          </a:xfrm>
          <a:prstGeom prst="roundRect">
            <a:avLst>
              <a:gd name="adj" fmla="val 25000"/>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lnSpc>
                <a:spcPct val="100000"/>
              </a:lnSpc>
            </a:pPr>
            <a:r>
              <a:rPr sz="950" b="1">
                <a:solidFill>
                  <a:srgbClr val="FFFFFF"/>
                </a:solidFill>
                <a:latin typeface="Tahoma"/>
              </a:rPr>
              <a:t>OFF</a:t>
            </a:r>
          </a:p>
        </p:txBody>
      </p:sp>
      <p:sp>
        <p:nvSpPr>
          <p:cNvPr id="20" name="Rounded Rectangle 19"/>
          <p:cNvSpPr/>
          <p:nvPr/>
        </p:nvSpPr>
        <p:spPr>
          <a:xfrm>
            <a:off x="6080760" y="3566160"/>
            <a:ext cx="2103120" cy="594360"/>
          </a:xfrm>
          <a:prstGeom prst="roundRect">
            <a:avLst>
              <a:gd name="adj" fmla="val 12307"/>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45352" y="3602736"/>
            <a:ext cx="1773936" cy="521207"/>
          </a:xfrm>
          <a:prstGeom prst="rect">
            <a:avLst/>
          </a:prstGeom>
          <a:noFill/>
        </p:spPr>
        <p:txBody>
          <a:bodyPr wrap="square" lIns="0" rIns="0" tIns="18288" bIns="18288" anchor="ctr">
            <a:spAutoFit/>
          </a:bodyPr>
          <a:lstStyle/>
          <a:p>
            <a:pPr algn="l">
              <a:lnSpc>
                <a:spcPct val="100000"/>
              </a:lnSpc>
            </a:pPr>
            <a:r>
              <a:rPr sz="1050" b="1">
                <a:solidFill>
                  <a:srgbClr val="102E4C"/>
                </a:solidFill>
                <a:latin typeface="Tahoma"/>
              </a:rPr>
              <a:t>STATE: ONE FILE</a:t>
            </a:r>
          </a:p>
          <a:p>
            <a:pPr algn="l">
              <a:lnSpc>
                <a:spcPct val="100000"/>
              </a:lnSpc>
              <a:spcBef>
                <a:spcPts val="200"/>
              </a:spcBef>
            </a:pPr>
            <a:r>
              <a:rPr sz="1000" b="0">
                <a:solidFill>
                  <a:srgbClr val="102E4C"/>
                </a:solidFill>
                <a:latin typeface="Tahoma"/>
              </a:rPr>
              <a:t>single writer, 5 tables</a:t>
            </a:r>
          </a:p>
        </p:txBody>
      </p:sp>
      <p:sp>
        <p:nvSpPr>
          <p:cNvPr id="22" name="Rounded Rectangle 21"/>
          <p:cNvSpPr/>
          <p:nvPr/>
        </p:nvSpPr>
        <p:spPr>
          <a:xfrm>
            <a:off x="6080760" y="4297680"/>
            <a:ext cx="2103120" cy="365760"/>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45352" y="4297680"/>
            <a:ext cx="1773936" cy="365760"/>
          </a:xfrm>
          <a:prstGeom prst="rect">
            <a:avLst/>
          </a:prstGeom>
          <a:noFill/>
        </p:spPr>
        <p:txBody>
          <a:bodyPr wrap="square" lIns="0" rIns="0" tIns="18288" bIns="18288" anchor="ctr">
            <a:spAutoFit/>
          </a:bodyPr>
          <a:lstStyle/>
          <a:p>
            <a:pPr algn="l">
              <a:lnSpc>
                <a:spcPct val="100000"/>
              </a:lnSpc>
            </a:pPr>
            <a:r>
              <a:rPr sz="1050" b="1">
                <a:solidFill>
                  <a:srgbClr val="FFFFFF"/>
                </a:solidFill>
                <a:latin typeface="Tahoma"/>
              </a:rPr>
              <a:t>IMAGE 344 MB</a:t>
            </a:r>
          </a:p>
        </p:txBody>
      </p:sp>
      <p:sp>
        <p:nvSpPr>
          <p:cNvPr id="24" name="Rounded Rectangle 23"/>
          <p:cNvSpPr/>
          <p:nvPr/>
        </p:nvSpPr>
        <p:spPr>
          <a:xfrm>
            <a:off x="6080760" y="4800600"/>
            <a:ext cx="2103120" cy="365760"/>
          </a:xfrm>
          <a:prstGeom prst="roundRect">
            <a:avLst>
              <a:gd name="adj" fmla="val 2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245352" y="4800600"/>
            <a:ext cx="1773936" cy="365760"/>
          </a:xfrm>
          <a:prstGeom prst="rect">
            <a:avLst/>
          </a:prstGeom>
          <a:noFill/>
        </p:spPr>
        <p:txBody>
          <a:bodyPr wrap="square" lIns="0" rIns="0" tIns="18288" bIns="18288" anchor="ctr">
            <a:spAutoFit/>
          </a:bodyPr>
          <a:lstStyle/>
          <a:p>
            <a:pPr algn="l">
              <a:lnSpc>
                <a:spcPct val="100000"/>
              </a:lnSpc>
            </a:pPr>
            <a:r>
              <a:rPr sz="1050" b="1">
                <a:solidFill>
                  <a:srgbClr val="FFFFFF"/>
                </a:solidFill>
                <a:latin typeface="Tahoma"/>
              </a:rPr>
              <a:t>CLOUDWATCH, 7 days</a:t>
            </a:r>
          </a:p>
        </p:txBody>
      </p:sp>
      <p:cxnSp>
        <p:nvCxnSpPr>
          <p:cNvPr id="26" name="Connector 25"/>
          <p:cNvCxnSpPr/>
          <p:nvPr/>
        </p:nvCxnSpPr>
        <p:spPr>
          <a:xfrm>
            <a:off x="5852160" y="3858768"/>
            <a:ext cx="210312" cy="0"/>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5870448" y="4480560"/>
            <a:ext cx="210312" cy="0"/>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852160" y="4983480"/>
            <a:ext cx="210312" cy="0"/>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458200" y="2651760"/>
            <a:ext cx="3035808" cy="1280160"/>
          </a:xfrm>
          <a:prstGeom prst="roundRect">
            <a:avLst>
              <a:gd name="adj" fmla="val 5714"/>
            </a:avLst>
          </a:prstGeom>
          <a:solidFill>
            <a:srgbClr val="FFFFFF"/>
          </a:solidFill>
          <a:ln w="19050">
            <a:solidFill>
              <a:srgbClr val="102E4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641080" y="2724912"/>
            <a:ext cx="2670048" cy="1133856"/>
          </a:xfrm>
          <a:prstGeom prst="rect">
            <a:avLst/>
          </a:prstGeom>
          <a:noFill/>
        </p:spPr>
        <p:txBody>
          <a:bodyPr wrap="square" lIns="0" rIns="0" tIns="18288" bIns="18288" anchor="ctr">
            <a:spAutoFit/>
          </a:bodyPr>
          <a:lstStyle/>
          <a:p>
            <a:pPr algn="l">
              <a:lnSpc>
                <a:spcPct val="100000"/>
              </a:lnSpc>
            </a:pPr>
            <a:r>
              <a:rPr sz="1200" b="1">
                <a:solidFill>
                  <a:srgbClr val="102E4C"/>
                </a:solidFill>
                <a:latin typeface="Tahoma"/>
              </a:rPr>
              <a:t>THE GATE</a:t>
            </a:r>
          </a:p>
          <a:p>
            <a:pPr algn="l">
              <a:lnSpc>
                <a:spcPct val="100000"/>
              </a:lnSpc>
              <a:spcBef>
                <a:spcPts val="600"/>
              </a:spcBef>
            </a:pPr>
            <a:r>
              <a:rPr sz="1100" b="0">
                <a:solidFill>
                  <a:srgbClr val="102E4C"/>
                </a:solidFill>
                <a:latin typeface="Tahoma"/>
              </a:rPr>
              <a:t>a person approves the exact draft</a:t>
            </a:r>
          </a:p>
        </p:txBody>
      </p:sp>
      <p:cxnSp>
        <p:nvCxnSpPr>
          <p:cNvPr id="31" name="Connector 30"/>
          <p:cNvCxnSpPr/>
          <p:nvPr/>
        </p:nvCxnSpPr>
        <p:spPr>
          <a:xfrm>
            <a:off x="5852160" y="3401568"/>
            <a:ext cx="2587752" cy="0"/>
          </a:xfrm>
          <a:prstGeom prst="line">
            <a:avLst/>
          </a:prstGeom>
          <a:ln w="19050">
            <a:solidFill>
              <a:srgbClr val="1560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458200" y="4069080"/>
            <a:ext cx="3035808" cy="502920"/>
          </a:xfrm>
          <a:prstGeom prst="rect">
            <a:avLst/>
          </a:prstGeom>
          <a:noFill/>
        </p:spPr>
        <p:txBody>
          <a:bodyPr wrap="square" lIns="0" rIns="0" tIns="0" bIns="0" anchor="t">
            <a:spAutoFit/>
          </a:bodyPr>
          <a:lstStyle/>
          <a:p>
            <a:pPr algn="l">
              <a:lnSpc>
                <a:spcPct val="100000"/>
              </a:lnSpc>
            </a:pPr>
            <a:r>
              <a:rPr sz="1000" b="0" i="0">
                <a:solidFill>
                  <a:srgbClr val="5A6B7D"/>
                </a:solidFill>
                <a:latin typeface="Tahoma"/>
              </a:rPr>
              <a:t>Approval runs in the same process tree. No HTTP route reaches a model.</a:t>
            </a:r>
          </a:p>
        </p:txBody>
      </p:sp>
      <p:sp>
        <p:nvSpPr>
          <p:cNvPr id="33" name="TextBox 32"/>
          <p:cNvSpPr txBox="1"/>
          <p:nvPr/>
        </p:nvSpPr>
        <p:spPr>
          <a:xfrm>
            <a:off x="694944" y="4983480"/>
            <a:ext cx="1874519" cy="274320"/>
          </a:xfrm>
          <a:prstGeom prst="rect">
            <a:avLst/>
          </a:prstGeom>
          <a:noFill/>
        </p:spPr>
        <p:txBody>
          <a:bodyPr wrap="square" lIns="0" rIns="0" tIns="0" bIns="0" anchor="t">
            <a:spAutoFit/>
          </a:bodyPr>
          <a:lstStyle/>
          <a:p>
            <a:pPr algn="l">
              <a:lnSpc>
                <a:spcPct val="100000"/>
              </a:lnSpc>
            </a:pPr>
            <a:r>
              <a:rPr sz="1100" b="1" i="0">
                <a:solidFill>
                  <a:srgbClr val="156082"/>
                </a:solidFill>
                <a:latin typeface="Tahoma"/>
              </a:rPr>
              <a:t>SECURITY</a:t>
            </a:r>
          </a:p>
        </p:txBody>
      </p:sp>
      <p:sp>
        <p:nvSpPr>
          <p:cNvPr id="34" name="TextBox 33"/>
          <p:cNvSpPr txBox="1"/>
          <p:nvPr/>
        </p:nvSpPr>
        <p:spPr>
          <a:xfrm>
            <a:off x="694944" y="5330952"/>
            <a:ext cx="1874519" cy="274320"/>
          </a:xfrm>
          <a:prstGeom prst="rect">
            <a:avLst/>
          </a:prstGeom>
          <a:noFill/>
        </p:spPr>
        <p:txBody>
          <a:bodyPr wrap="square" lIns="0" rIns="0" tIns="0" bIns="0" anchor="t">
            <a:spAutoFit/>
          </a:bodyPr>
          <a:lstStyle/>
          <a:p>
            <a:pPr algn="l">
              <a:lnSpc>
                <a:spcPct val="100000"/>
              </a:lnSpc>
            </a:pPr>
            <a:r>
              <a:rPr sz="1100" b="1" i="0">
                <a:solidFill>
                  <a:srgbClr val="156082"/>
                </a:solidFill>
                <a:latin typeface="Tahoma"/>
              </a:rPr>
              <a:t>SCALE</a:t>
            </a:r>
          </a:p>
        </p:txBody>
      </p:sp>
      <p:sp>
        <p:nvSpPr>
          <p:cNvPr id="35" name="TextBox 34"/>
          <p:cNvSpPr txBox="1"/>
          <p:nvPr/>
        </p:nvSpPr>
        <p:spPr>
          <a:xfrm>
            <a:off x="694944" y="5678424"/>
            <a:ext cx="1874519" cy="274320"/>
          </a:xfrm>
          <a:prstGeom prst="rect">
            <a:avLst/>
          </a:prstGeom>
          <a:noFill/>
        </p:spPr>
        <p:txBody>
          <a:bodyPr wrap="square" lIns="0" rIns="0" tIns="0" bIns="0" anchor="t">
            <a:spAutoFit/>
          </a:bodyPr>
          <a:lstStyle/>
          <a:p>
            <a:pPr algn="l">
              <a:lnSpc>
                <a:spcPct val="100000"/>
              </a:lnSpc>
            </a:pPr>
            <a:r>
              <a:rPr sz="1100" b="1" i="0">
                <a:solidFill>
                  <a:srgbClr val="156082"/>
                </a:solidFill>
                <a:latin typeface="Tahoma"/>
              </a:rPr>
              <a:t>RECOVERY</a:t>
            </a:r>
          </a:p>
        </p:txBody>
      </p:sp>
      <p:sp>
        <p:nvSpPr>
          <p:cNvPr id="36" name="TextBox 35"/>
          <p:cNvSpPr txBox="1"/>
          <p:nvPr/>
        </p:nvSpPr>
        <p:spPr>
          <a:xfrm>
            <a:off x="694944" y="6025896"/>
            <a:ext cx="1874519" cy="274320"/>
          </a:xfrm>
          <a:prstGeom prst="rect">
            <a:avLst/>
          </a:prstGeom>
          <a:noFill/>
        </p:spPr>
        <p:txBody>
          <a:bodyPr wrap="square" lIns="0" rIns="0" tIns="0" bIns="0" anchor="t">
            <a:spAutoFit/>
          </a:bodyPr>
          <a:lstStyle/>
          <a:p>
            <a:pPr algn="l">
              <a:lnSpc>
                <a:spcPct val="100000"/>
              </a:lnSpc>
            </a:pPr>
            <a:r>
              <a:rPr sz="1100" b="1" i="0">
                <a:solidFill>
                  <a:srgbClr val="156082"/>
                </a:solidFill>
                <a:latin typeface="Tahoma"/>
              </a:rPr>
              <a:t>DATA GOVERNANCE</a:t>
            </a:r>
          </a:p>
        </p:txBody>
      </p:sp>
      <p:sp>
        <p:nvSpPr>
          <p:cNvPr id="37" name="TextBox 36"/>
          <p:cNvSpPr txBox="1"/>
          <p:nvPr/>
        </p:nvSpPr>
        <p:spPr>
          <a:xfrm>
            <a:off x="8458200" y="4590288"/>
            <a:ext cx="3035808" cy="182880"/>
          </a:xfrm>
          <a:prstGeom prst="rect">
            <a:avLst/>
          </a:prstGeom>
          <a:noFill/>
        </p:spPr>
        <p:txBody>
          <a:bodyPr wrap="square" lIns="0" rIns="0" tIns="0" bIns="0" anchor="t">
            <a:spAutoFit/>
          </a:bodyPr>
          <a:lstStyle/>
          <a:p>
            <a:pPr algn="l">
              <a:lnSpc>
                <a:spcPct val="100000"/>
              </a:lnSpc>
            </a:pPr>
            <a:r>
              <a:rPr sz="900" b="1" i="0">
                <a:solidFill>
                  <a:srgbClr val="5A6B7D"/>
                </a:solidFill>
                <a:latin typeface="Tahoma"/>
              </a:rPr>
              <a:t>CERTIFICATIONS AND ATTESTATIONS</a:t>
            </a:r>
          </a:p>
        </p:txBody>
      </p:sp>
      <p:sp>
        <p:nvSpPr>
          <p:cNvPr id="38" name="Rounded Rectangle 37"/>
          <p:cNvSpPr/>
          <p:nvPr/>
        </p:nvSpPr>
        <p:spPr>
          <a:xfrm>
            <a:off x="8458200" y="4828032"/>
            <a:ext cx="1463040" cy="384048"/>
          </a:xfrm>
          <a:prstGeom prst="roundRect">
            <a:avLst>
              <a:gd name="adj" fmla="val 9523"/>
            </a:avLst>
          </a:prstGeom>
          <a:solidFill>
            <a:srgbClr val="FFFFFF"/>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ounded Rectangle 38"/>
          <p:cNvSpPr/>
          <p:nvPr/>
        </p:nvSpPr>
        <p:spPr>
          <a:xfrm>
            <a:off x="8549640" y="4946904"/>
            <a:ext cx="146304" cy="146304"/>
          </a:xfrm>
          <a:prstGeom prst="roundRect">
            <a:avLst>
              <a:gd name="adj" fmla="val 125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750808" y="4846320"/>
            <a:ext cx="1115568" cy="347472"/>
          </a:xfrm>
          <a:prstGeom prst="rect">
            <a:avLst/>
          </a:prstGeom>
          <a:noFill/>
        </p:spPr>
        <p:txBody>
          <a:bodyPr wrap="square" lIns="0" rIns="0" tIns="0" bIns="0" anchor="ctr">
            <a:spAutoFit/>
          </a:bodyPr>
          <a:lstStyle/>
          <a:p>
            <a:pPr algn="l">
              <a:lnSpc>
                <a:spcPct val="100000"/>
              </a:lnSpc>
            </a:pPr>
            <a:r>
              <a:rPr sz="950" b="1" i="0">
                <a:solidFill>
                  <a:srgbClr val="102E4C"/>
                </a:solidFill>
                <a:latin typeface="Tahoma"/>
              </a:rPr>
              <a:t>SOC 2</a:t>
            </a:r>
          </a:p>
        </p:txBody>
      </p:sp>
      <p:sp>
        <p:nvSpPr>
          <p:cNvPr id="41" name="Rounded Rectangle 40"/>
          <p:cNvSpPr/>
          <p:nvPr/>
        </p:nvSpPr>
        <p:spPr>
          <a:xfrm>
            <a:off x="9966960" y="4828032"/>
            <a:ext cx="1463040" cy="384048"/>
          </a:xfrm>
          <a:prstGeom prst="roundRect">
            <a:avLst>
              <a:gd name="adj" fmla="val 9523"/>
            </a:avLst>
          </a:prstGeom>
          <a:solidFill>
            <a:srgbClr val="FFFFFF"/>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ounded Rectangle 41"/>
          <p:cNvSpPr/>
          <p:nvPr/>
        </p:nvSpPr>
        <p:spPr>
          <a:xfrm>
            <a:off x="10058400" y="4946904"/>
            <a:ext cx="146304" cy="146304"/>
          </a:xfrm>
          <a:prstGeom prst="roundRect">
            <a:avLst>
              <a:gd name="adj" fmla="val 125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259568" y="4846320"/>
            <a:ext cx="1115568" cy="347472"/>
          </a:xfrm>
          <a:prstGeom prst="rect">
            <a:avLst/>
          </a:prstGeom>
          <a:noFill/>
        </p:spPr>
        <p:txBody>
          <a:bodyPr wrap="square" lIns="0" rIns="0" tIns="0" bIns="0" anchor="ctr">
            <a:spAutoFit/>
          </a:bodyPr>
          <a:lstStyle/>
          <a:p>
            <a:pPr algn="l">
              <a:lnSpc>
                <a:spcPct val="100000"/>
              </a:lnSpc>
            </a:pPr>
            <a:r>
              <a:rPr sz="950" b="1" i="0">
                <a:solidFill>
                  <a:srgbClr val="102E4C"/>
                </a:solidFill>
                <a:latin typeface="Tahoma"/>
              </a:rPr>
              <a:t>ISO/IEC 27001</a:t>
            </a:r>
          </a:p>
        </p:txBody>
      </p:sp>
      <p:sp>
        <p:nvSpPr>
          <p:cNvPr id="44" name="Rounded Rectangle 43"/>
          <p:cNvSpPr/>
          <p:nvPr/>
        </p:nvSpPr>
        <p:spPr>
          <a:xfrm>
            <a:off x="8458200" y="5276088"/>
            <a:ext cx="1463040" cy="384048"/>
          </a:xfrm>
          <a:prstGeom prst="roundRect">
            <a:avLst>
              <a:gd name="adj" fmla="val 9523"/>
            </a:avLst>
          </a:prstGeom>
          <a:solidFill>
            <a:srgbClr val="FFFFFF"/>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8549640" y="5394960"/>
            <a:ext cx="146304" cy="146304"/>
          </a:xfrm>
          <a:prstGeom prst="roundRect">
            <a:avLst>
              <a:gd name="adj" fmla="val 125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750808" y="5294376"/>
            <a:ext cx="1115568" cy="347472"/>
          </a:xfrm>
          <a:prstGeom prst="rect">
            <a:avLst/>
          </a:prstGeom>
          <a:noFill/>
        </p:spPr>
        <p:txBody>
          <a:bodyPr wrap="square" lIns="0" rIns="0" tIns="0" bIns="0" anchor="ctr">
            <a:spAutoFit/>
          </a:bodyPr>
          <a:lstStyle/>
          <a:p>
            <a:pPr algn="l">
              <a:lnSpc>
                <a:spcPct val="100000"/>
              </a:lnSpc>
            </a:pPr>
            <a:r>
              <a:rPr sz="950" b="1" i="0">
                <a:solidFill>
                  <a:srgbClr val="102E4C"/>
                </a:solidFill>
                <a:latin typeface="Tahoma"/>
              </a:rPr>
              <a:t>ISO/IEC 27017</a:t>
            </a:r>
          </a:p>
        </p:txBody>
      </p:sp>
      <p:sp>
        <p:nvSpPr>
          <p:cNvPr id="47" name="Rounded Rectangle 46"/>
          <p:cNvSpPr/>
          <p:nvPr/>
        </p:nvSpPr>
        <p:spPr>
          <a:xfrm>
            <a:off x="9966960" y="5276088"/>
            <a:ext cx="1463040" cy="384048"/>
          </a:xfrm>
          <a:prstGeom prst="roundRect">
            <a:avLst>
              <a:gd name="adj" fmla="val 9523"/>
            </a:avLst>
          </a:prstGeom>
          <a:solidFill>
            <a:srgbClr val="FFFFFF"/>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ounded Rectangle 47"/>
          <p:cNvSpPr/>
          <p:nvPr/>
        </p:nvSpPr>
        <p:spPr>
          <a:xfrm>
            <a:off x="10058400" y="5394960"/>
            <a:ext cx="146304" cy="146304"/>
          </a:xfrm>
          <a:prstGeom prst="roundRect">
            <a:avLst>
              <a:gd name="adj" fmla="val 125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10259568" y="5294376"/>
            <a:ext cx="1115568" cy="347472"/>
          </a:xfrm>
          <a:prstGeom prst="rect">
            <a:avLst/>
          </a:prstGeom>
          <a:noFill/>
        </p:spPr>
        <p:txBody>
          <a:bodyPr wrap="square" lIns="0" rIns="0" tIns="0" bIns="0" anchor="ctr">
            <a:spAutoFit/>
          </a:bodyPr>
          <a:lstStyle/>
          <a:p>
            <a:pPr algn="l">
              <a:lnSpc>
                <a:spcPct val="100000"/>
              </a:lnSpc>
            </a:pPr>
            <a:r>
              <a:rPr sz="950" b="1" i="0">
                <a:solidFill>
                  <a:srgbClr val="102E4C"/>
                </a:solidFill>
                <a:latin typeface="Tahoma"/>
              </a:rPr>
              <a:t>ISO/IEC 27018</a:t>
            </a:r>
          </a:p>
        </p:txBody>
      </p:sp>
      <p:sp>
        <p:nvSpPr>
          <p:cNvPr id="50" name="Rounded Rectangle 49"/>
          <p:cNvSpPr/>
          <p:nvPr/>
        </p:nvSpPr>
        <p:spPr>
          <a:xfrm>
            <a:off x="8458200" y="5724144"/>
            <a:ext cx="1463040" cy="384048"/>
          </a:xfrm>
          <a:prstGeom prst="roundRect">
            <a:avLst>
              <a:gd name="adj" fmla="val 9523"/>
            </a:avLst>
          </a:prstGeom>
          <a:solidFill>
            <a:srgbClr val="FFFFFF"/>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ounded Rectangle 50"/>
          <p:cNvSpPr/>
          <p:nvPr/>
        </p:nvSpPr>
        <p:spPr>
          <a:xfrm>
            <a:off x="8549640" y="5843016"/>
            <a:ext cx="146304" cy="146304"/>
          </a:xfrm>
          <a:prstGeom prst="roundRect">
            <a:avLst>
              <a:gd name="adj" fmla="val 125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8750808" y="5742431"/>
            <a:ext cx="1115568" cy="347472"/>
          </a:xfrm>
          <a:prstGeom prst="rect">
            <a:avLst/>
          </a:prstGeom>
          <a:noFill/>
        </p:spPr>
        <p:txBody>
          <a:bodyPr wrap="square" lIns="0" rIns="0" tIns="0" bIns="0" anchor="ctr">
            <a:spAutoFit/>
          </a:bodyPr>
          <a:lstStyle/>
          <a:p>
            <a:pPr algn="l">
              <a:lnSpc>
                <a:spcPct val="100000"/>
              </a:lnSpc>
            </a:pPr>
            <a:r>
              <a:rPr sz="950" b="1" i="0">
                <a:solidFill>
                  <a:srgbClr val="102E4C"/>
                </a:solidFill>
                <a:latin typeface="Tahoma"/>
              </a:rPr>
              <a:t>PCI DSS Level 1</a:t>
            </a:r>
          </a:p>
        </p:txBody>
      </p:sp>
      <p:sp>
        <p:nvSpPr>
          <p:cNvPr id="53" name="Rounded Rectangle 52"/>
          <p:cNvSpPr/>
          <p:nvPr/>
        </p:nvSpPr>
        <p:spPr>
          <a:xfrm>
            <a:off x="9966960" y="5724144"/>
            <a:ext cx="1463040" cy="384048"/>
          </a:xfrm>
          <a:prstGeom prst="roundRect">
            <a:avLst>
              <a:gd name="adj" fmla="val 9523"/>
            </a:avLst>
          </a:prstGeom>
          <a:solidFill>
            <a:srgbClr val="FFFFFF"/>
          </a:solidFill>
          <a:ln w="1270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ounded Rectangle 53"/>
          <p:cNvSpPr/>
          <p:nvPr/>
        </p:nvSpPr>
        <p:spPr>
          <a:xfrm>
            <a:off x="10058400" y="5843016"/>
            <a:ext cx="146304" cy="146304"/>
          </a:xfrm>
          <a:prstGeom prst="roundRect">
            <a:avLst>
              <a:gd name="adj" fmla="val 125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10259568" y="5742431"/>
            <a:ext cx="1115568" cy="347472"/>
          </a:xfrm>
          <a:prstGeom prst="rect">
            <a:avLst/>
          </a:prstGeom>
          <a:noFill/>
        </p:spPr>
        <p:txBody>
          <a:bodyPr wrap="square" lIns="0" rIns="0" tIns="0" bIns="0" anchor="ctr">
            <a:spAutoFit/>
          </a:bodyPr>
          <a:lstStyle/>
          <a:p>
            <a:pPr algn="l">
              <a:lnSpc>
                <a:spcPct val="100000"/>
              </a:lnSpc>
            </a:pPr>
            <a:r>
              <a:rPr sz="950" b="1" i="0">
                <a:solidFill>
                  <a:srgbClr val="102E4C"/>
                </a:solidFill>
                <a:latin typeface="Tahoma"/>
              </a:rPr>
              <a:t>CSA STAR</a:t>
            </a:r>
          </a:p>
        </p:txBody>
      </p:sp>
    </p:spTree>
    <p:extLst>
      <p:ext uri="{BB962C8B-B14F-4D97-AF65-F5344CB8AC3E}">
        <p14:creationId xmlns:p14="http://schemas.microsoft.com/office/powerpoint/2010/main" val="3499636682"/>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94944" y="420624"/>
            <a:ext cx="10799064" cy="868680"/>
          </a:xfrm>
        </p:spPr>
        <p:txBody>
          <a:bodyPr wrap="square" lIns="0" rIns="0" tIns="0" bIns="0" anchor="t"/>
          <a:lstStyle/>
          <a:p>
            <a:pPr algn="l"/>
            <a:r>
              <a:rPr sz="3200" b="1">
                <a:solidFill>
                  <a:srgbClr val="102E4C"/>
                </a:solidFill>
                <a:latin typeface="Tahoma"/>
              </a:rPr>
              <a:t>$0.45 a demo day. $41 a month left running</a:t>
            </a:r>
          </a:p>
        </p:txBody>
      </p:sp>
      <p:sp>
        <p:nvSpPr>
          <p:cNvPr id="3" name="Rectangle 2"/>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14-day-by-line.png"/>
          <p:cNvPicPr>
            <a:picLocks noChangeAspect="1"/>
          </p:cNvPicPr>
          <p:nvPr/>
        </p:nvPicPr>
        <p:blipFill>
          <a:blip r:embed="rId2"/>
          <a:stretch>
            <a:fillRect/>
          </a:stretch>
        </p:blipFill>
        <p:spPr>
          <a:xfrm>
            <a:off x="694944" y="1755648"/>
            <a:ext cx="5760720" cy="3291840"/>
          </a:xfrm>
          <a:prstGeom prst="rect">
            <a:avLst/>
          </a:prstGeom>
        </p:spPr>
      </p:pic>
      <p:pic>
        <p:nvPicPr>
          <p:cNvPr id="5" name="Picture 4" descr="s14-ladder.png"/>
          <p:cNvPicPr>
            <a:picLocks noChangeAspect="1"/>
          </p:cNvPicPr>
          <p:nvPr/>
        </p:nvPicPr>
        <p:blipFill>
          <a:blip r:embed="rId3"/>
          <a:stretch>
            <a:fillRect/>
          </a:stretch>
        </p:blipFill>
        <p:spPr>
          <a:xfrm>
            <a:off x="7287768" y="1755648"/>
            <a:ext cx="4206240" cy="3291840"/>
          </a:xfrm>
          <a:prstGeom prst="rect">
            <a:avLst/>
          </a:prstGeom>
        </p:spPr>
      </p:pic>
      <p:sp>
        <p:nvSpPr>
          <p:cNvPr id="6" name="Rounded Rectangle 5"/>
          <p:cNvSpPr/>
          <p:nvPr/>
        </p:nvSpPr>
        <p:spPr>
          <a:xfrm>
            <a:off x="694944" y="5212080"/>
            <a:ext cx="10799064" cy="365760"/>
          </a:xfrm>
          <a:prstGeom prst="roundRect">
            <a:avLst>
              <a:gd name="adj" fmla="val 5000"/>
            </a:avLst>
          </a:prstGeom>
          <a:solidFill>
            <a:srgbClr val="102E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l">
              <a:lnSpc>
                <a:spcPct val="100000"/>
              </a:lnSpc>
            </a:pPr>
            <a:r>
              <a:rPr sz="1100" b="1">
                <a:solidFill>
                  <a:srgbClr val="FFFFFF"/>
                </a:solidFill>
                <a:latin typeface="Tahoma"/>
              </a:rPr>
              <a:t>PRICE LIST READ 28 OCTOBER. THE STACK IS UP AT $0.056 AN HOUR. TEARDOWN IS ONE COMMAND, ABOUT THREE MINUTES.</a:t>
            </a:r>
          </a:p>
        </p:txBody>
      </p:sp>
      <p:sp>
        <p:nvSpPr>
          <p:cNvPr id="7" name="TextBox 6"/>
          <p:cNvSpPr txBox="1"/>
          <p:nvPr/>
        </p:nvSpPr>
        <p:spPr>
          <a:xfrm>
            <a:off x="694944" y="5705856"/>
            <a:ext cx="10799064" cy="310896"/>
          </a:xfrm>
          <a:prstGeom prst="rect">
            <a:avLst/>
          </a:prstGeom>
          <a:noFill/>
        </p:spPr>
        <p:txBody>
          <a:bodyPr wrap="square" lIns="0" rIns="0" tIns="0" bIns="0" anchor="t">
            <a:spAutoFit/>
          </a:bodyPr>
          <a:lstStyle/>
          <a:p>
            <a:pPr algn="l">
              <a:lnSpc>
                <a:spcPct val="100000"/>
              </a:lnSpc>
            </a:pPr>
            <a:r>
              <a:rPr sz="1000" b="0" i="0">
                <a:solidFill>
                  <a:srgbClr val="5A6B7D"/>
                </a:solidFill>
                <a:latin typeface="Tahoma"/>
              </a:rPr>
              <a:t>Not created on purpose: NAT gateway ($32.85 a month), RDS, domain and certificate, WAF, S3. Production target at 10k cases a month: $184 to $213, a different estate.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D3D0E-41B1-0E65-E036-BF12EF00F7E4}"/>
            </a:ext>
          </a:extLst>
        </p:cNvPr>
        <p:cNvGrpSpPr/>
        <p:nvPr/>
      </p:nvGrpSpPr>
      <p:grpSpPr>
        <a:xfrm>
          <a:off x="0" y="0"/>
          <a:ext cx="0" cy="0"/>
          <a:chOff x="0" y="0"/>
          <a:chExt cx="0" cy="0"/>
        </a:xfrm>
      </p:grpSpPr>
      <p:sp>
        <p:nvSpPr>
          <p:cNvPr id="2" name="TextBox 1"/>
          <p:cNvSpPr txBox="1"/>
          <p:nvPr/>
        </p:nvSpPr>
        <p:spPr>
          <a:xfrm>
            <a:off x="694944" y="658368"/>
            <a:ext cx="10799064" cy="868680"/>
          </a:xfrm>
          <a:prstGeom prst="rect">
            <a:avLst/>
          </a:prstGeom>
          <a:noFill/>
        </p:spPr>
        <p:txBody>
          <a:bodyPr wrap="square" lIns="0" rIns="0" tIns="0" bIns="0" anchor="t">
            <a:spAutoFit/>
          </a:bodyPr>
          <a:lstStyle/>
          <a:p>
            <a:pPr algn="l">
              <a:lnSpc>
                <a:spcPct val="100000"/>
              </a:lnSpc>
            </a:pPr>
            <a:r>
              <a:rPr sz="3200" b="1" i="0">
                <a:solidFill>
                  <a:srgbClr val="102E4C"/>
                </a:solidFill>
                <a:latin typeface="Tahoma"/>
              </a:rPr>
              <a:t>Against the Aim, and Against the Numbers</a:t>
            </a:r>
          </a:p>
        </p:txBody>
      </p:sp>
      <p:sp>
        <p:nvSpPr>
          <p:cNvPr id="3" name="Rectangle 2"/>
          <p:cNvSpPr/>
          <p:nvPr/>
        </p:nvSpPr>
        <p:spPr>
          <a:xfrm>
            <a:off x="694944" y="1517904"/>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700784"/>
            <a:ext cx="10799064" cy="274320"/>
          </a:xfrm>
          <a:prstGeom prst="rect">
            <a:avLst/>
          </a:prstGeom>
          <a:noFill/>
        </p:spPr>
        <p:txBody>
          <a:bodyPr wrap="square" lIns="0" rIns="0" tIns="0" bIns="0" anchor="t">
            <a:spAutoFit/>
          </a:bodyPr>
          <a:lstStyle/>
          <a:p>
            <a:pPr algn="l">
              <a:lnSpc>
                <a:spcPct val="100000"/>
              </a:lnSpc>
            </a:pPr>
            <a:r>
              <a:rPr sz="1500" b="0" i="0">
                <a:solidFill>
                  <a:srgbClr val="5A6B7D"/>
                </a:solidFill>
                <a:latin typeface="Tahoma"/>
              </a:rPr>
              <a:t>THE AIM: one cited draft per complaint, a person approves it, no case is created on the machine’s word.</a:t>
            </a:r>
          </a:p>
        </p:txBody>
      </p:sp>
      <p:pic>
        <p:nvPicPr>
          <p:cNvPr id="5" name="Picture 4" descr="s15-pass-rate.png"/>
          <p:cNvPicPr>
            <a:picLocks noChangeAspect="1"/>
          </p:cNvPicPr>
          <p:nvPr/>
        </p:nvPicPr>
        <p:blipFill>
          <a:blip r:embed="rId2"/>
          <a:stretch>
            <a:fillRect/>
          </a:stretch>
        </p:blipFill>
        <p:spPr>
          <a:xfrm>
            <a:off x="694944" y="2066543"/>
            <a:ext cx="4160520" cy="3017520"/>
          </a:xfrm>
          <a:prstGeom prst="rect">
            <a:avLst/>
          </a:prstGeom>
        </p:spPr>
      </p:pic>
      <p:pic>
        <p:nvPicPr>
          <p:cNvPr id="6" name="Picture 5" descr="s15-calls.png"/>
          <p:cNvPicPr>
            <a:picLocks noChangeAspect="1"/>
          </p:cNvPicPr>
          <p:nvPr/>
        </p:nvPicPr>
        <p:blipFill>
          <a:blip r:embed="rId3"/>
          <a:stretch>
            <a:fillRect/>
          </a:stretch>
        </p:blipFill>
        <p:spPr>
          <a:xfrm>
            <a:off x="5088636" y="2066543"/>
            <a:ext cx="3246120" cy="3017520"/>
          </a:xfrm>
          <a:prstGeom prst="rect">
            <a:avLst/>
          </a:prstGeom>
        </p:spPr>
      </p:pic>
      <p:pic>
        <p:nvPicPr>
          <p:cNvPr id="7" name="Picture 6" descr="s15-cost-of-decision.png"/>
          <p:cNvPicPr>
            <a:picLocks noChangeAspect="1"/>
          </p:cNvPicPr>
          <p:nvPr/>
        </p:nvPicPr>
        <p:blipFill>
          <a:blip r:embed="rId4"/>
          <a:stretch>
            <a:fillRect/>
          </a:stretch>
        </p:blipFill>
        <p:spPr>
          <a:xfrm>
            <a:off x="8567928" y="2066543"/>
            <a:ext cx="2926080" cy="3017520"/>
          </a:xfrm>
          <a:prstGeom prst="rect">
            <a:avLst/>
          </a:prstGeom>
        </p:spPr>
      </p:pic>
      <p:sp>
        <p:nvSpPr>
          <p:cNvPr id="8" name="TextBox 7"/>
          <p:cNvSpPr txBox="1"/>
          <p:nvPr/>
        </p:nvSpPr>
        <p:spPr>
          <a:xfrm>
            <a:off x="694944" y="5157216"/>
            <a:ext cx="4160520" cy="530352"/>
          </a:xfrm>
          <a:prstGeom prst="rect">
            <a:avLst/>
          </a:prstGeom>
          <a:noFill/>
        </p:spPr>
        <p:txBody>
          <a:bodyPr wrap="square" lIns="0" rIns="0" tIns="0" bIns="0" anchor="t">
            <a:spAutoFit/>
          </a:bodyPr>
          <a:lstStyle/>
          <a:p>
            <a:pPr algn="l">
              <a:lnSpc>
                <a:spcPct val="98000"/>
              </a:lnSpc>
            </a:pPr>
            <a:r>
              <a:rPr sz="1150" b="0" i="0">
                <a:solidFill>
                  <a:srgbClr val="102E4C"/>
                </a:solidFill>
                <a:latin typeface="Tahoma"/>
              </a:rPr>
              <a:t>The model lifts the unseen sets: stress 7 of 16 to 16 of 16, held out 6 of 8 to 8 of 8.</a:t>
            </a:r>
          </a:p>
        </p:txBody>
      </p:sp>
      <p:sp>
        <p:nvSpPr>
          <p:cNvPr id="9" name="TextBox 8"/>
          <p:cNvSpPr txBox="1"/>
          <p:nvPr/>
        </p:nvSpPr>
        <p:spPr>
          <a:xfrm>
            <a:off x="5088636" y="5157216"/>
            <a:ext cx="3246120" cy="530352"/>
          </a:xfrm>
          <a:prstGeom prst="rect">
            <a:avLst/>
          </a:prstGeom>
          <a:noFill/>
        </p:spPr>
        <p:txBody>
          <a:bodyPr wrap="square" lIns="0" rIns="0" tIns="0" bIns="0" anchor="t">
            <a:spAutoFit/>
          </a:bodyPr>
          <a:lstStyle/>
          <a:p>
            <a:pPr algn="l">
              <a:lnSpc>
                <a:spcPct val="98000"/>
              </a:lnSpc>
            </a:pPr>
            <a:r>
              <a:rPr sz="1150" b="0" i="0">
                <a:solidFill>
                  <a:srgbClr val="102E4C"/>
                </a:solidFill>
                <a:latin typeface="Tahoma"/>
              </a:rPr>
              <a:t>The model runs only where a rule found nothing: 54 calls over 67 cases.</a:t>
            </a:r>
          </a:p>
        </p:txBody>
      </p:sp>
      <p:sp>
        <p:nvSpPr>
          <p:cNvPr id="10" name="TextBox 9"/>
          <p:cNvSpPr txBox="1"/>
          <p:nvPr/>
        </p:nvSpPr>
        <p:spPr>
          <a:xfrm>
            <a:off x="8567928" y="5157216"/>
            <a:ext cx="2926080" cy="530352"/>
          </a:xfrm>
          <a:prstGeom prst="rect">
            <a:avLst/>
          </a:prstGeom>
          <a:noFill/>
        </p:spPr>
        <p:txBody>
          <a:bodyPr wrap="square" lIns="0" rIns="0" tIns="0" bIns="0" anchor="t">
            <a:spAutoFit/>
          </a:bodyPr>
          <a:lstStyle/>
          <a:p>
            <a:pPr algn="l">
              <a:lnSpc>
                <a:spcPct val="98000"/>
              </a:lnSpc>
            </a:pPr>
            <a:r>
              <a:rPr sz="1150" b="0" i="0">
                <a:solidFill>
                  <a:srgbClr val="102E4C"/>
                </a:solidFill>
                <a:latin typeface="Tahoma"/>
              </a:rPr>
              <a:t>One miss left, SYN-S26. Four suites, 54 calls, $0.0023 of model spend.</a:t>
            </a:r>
          </a:p>
        </p:txBody>
      </p:sp>
      <p:sp>
        <p:nvSpPr>
          <p:cNvPr id="11" name="TextBox 10"/>
          <p:cNvSpPr txBox="1"/>
          <p:nvPr/>
        </p:nvSpPr>
        <p:spPr>
          <a:xfrm>
            <a:off x="694944" y="5797296"/>
            <a:ext cx="10799064" cy="310896"/>
          </a:xfrm>
          <a:prstGeom prst="rect">
            <a:avLst/>
          </a:prstGeom>
          <a:noFill/>
        </p:spPr>
        <p:txBody>
          <a:bodyPr wrap="square" lIns="0" rIns="0" tIns="0" bIns="0" anchor="t">
            <a:spAutoFit/>
          </a:bodyPr>
          <a:lstStyle/>
          <a:p>
            <a:pPr algn="l">
              <a:lnSpc>
                <a:spcPct val="98000"/>
              </a:lnSpc>
            </a:pPr>
            <a:r>
              <a:rPr sz="950" b="0" i="0">
                <a:solidFill>
                  <a:srgbClr val="5A6B7D"/>
                </a:solidFill>
                <a:latin typeface="Tahoma"/>
              </a:rPr>
              <a:t>reports/scored-run-hybrid.json at commit e4368df, 29 October 2026 | model azure_openai/gpt-6-luna | 1,014 tests, 100.00% of 3,404 statements.</a:t>
            </a:r>
          </a:p>
        </p:txBody>
      </p:sp>
    </p:spTree>
    <p:extLst>
      <p:ext uri="{BB962C8B-B14F-4D97-AF65-F5344CB8AC3E}">
        <p14:creationId xmlns:p14="http://schemas.microsoft.com/office/powerpoint/2010/main" val="4217255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ED640-6A95-8E2A-1A2E-D3010009073F}"/>
            </a:ext>
          </a:extLst>
        </p:cNvPr>
        <p:cNvGrpSpPr/>
        <p:nvPr/>
      </p:nvGrpSpPr>
      <p:grpSpPr>
        <a:xfrm>
          <a:off x="0" y="0"/>
          <a:ext cx="0" cy="0"/>
          <a:chOff x="0" y="0"/>
          <a:chExt cx="0" cy="0"/>
        </a:xfrm>
      </p:grpSpPr>
      <p:sp>
        <p:nvSpPr>
          <p:cNvPr id="5" name="TextBox 1">
            <a:extLst>
              <a:ext uri="{FF2B5EF4-FFF2-40B4-BE49-F238E27FC236}">
                <a16:creationId xmlns:a16="http://schemas.microsoft.com/office/drawing/2014/main" id="{D9A47139-4E86-2FC2-98BB-9BBD138B3B8F}"/>
              </a:ext>
            </a:extLst>
          </p:cNvPr>
          <p:cNvSpPr txBox="1"/>
          <p:nvPr/>
        </p:nvSpPr>
        <p:spPr>
          <a:xfrm>
            <a:off x="694944" y="1014984"/>
            <a:ext cx="10799064" cy="475488"/>
          </a:xfrm>
          <a:prstGeom prst="rect">
            <a:avLst/>
          </a:prstGeom>
          <a:noFill/>
        </p:spPr>
        <p:txBody>
          <a:bodyPr wrap="square" lIns="18288" tIns="0" rIns="18288" bIns="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500"/>
              </a:spcAft>
            </a:pPr>
            <a:r>
              <a:rPr lang="en-US" sz="3200" b="1">
                <a:solidFill>
                  <a:srgbClr val="FFFFFF"/>
                </a:solidFill>
                <a:latin typeface="Tahoma"/>
              </a:rPr>
              <a:t>Built, Switched Off, and What a Pilot Would Measure</a:t>
            </a:r>
            <a:endParaRPr lang="en-US"/>
          </a:p>
        </p:txBody>
      </p:sp>
      <p:sp>
        <p:nvSpPr>
          <p:cNvPr id="6" name="Rectangle 5"/>
          <p:cNvSpPr/>
          <p:nvPr/>
        </p:nvSpPr>
        <p:spPr>
          <a:xfrm>
            <a:off x="694944" y="1719072"/>
            <a:ext cx="493776" cy="41148"/>
          </a:xfrm>
          <a:prstGeom prst="rect">
            <a:avLst/>
          </a:prstGeom>
          <a:solidFill>
            <a:srgbClr val="FBA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4944" y="2231136"/>
            <a:ext cx="3401568" cy="2999232"/>
          </a:xfrm>
          <a:prstGeom prst="roundRect">
            <a:avLst>
              <a:gd name="adj" fmla="val 2439"/>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32688" y="2468880"/>
            <a:ext cx="2926080" cy="2523744"/>
          </a:xfrm>
          <a:prstGeom prst="rect">
            <a:avLst/>
          </a:prstGeom>
          <a:noFill/>
        </p:spPr>
        <p:txBody>
          <a:bodyPr wrap="square" lIns="0" rIns="0" tIns="0" bIns="0" anchor="t">
            <a:spAutoFit/>
          </a:bodyPr>
          <a:lstStyle/>
          <a:p>
            <a:pPr algn="l">
              <a:lnSpc>
                <a:spcPct val="100000"/>
              </a:lnSpc>
              <a:spcAft>
                <a:spcPts val="1200"/>
              </a:spcAft>
            </a:pPr>
            <a:r>
              <a:rPr sz="1100" b="1">
                <a:solidFill>
                  <a:srgbClr val="FBAE40"/>
                </a:solidFill>
                <a:latin typeface="Tahoma"/>
              </a:rPr>
              <a:t>RUNNING NOW</a:t>
            </a:r>
          </a:p>
          <a:p>
            <a:pPr algn="l">
              <a:lnSpc>
                <a:spcPct val="115000"/>
              </a:lnSpc>
            </a:pPr>
            <a:r>
              <a:rPr sz="1550" b="0">
                <a:solidFill>
                  <a:srgbClr val="FFFFFF"/>
                </a:solidFill>
                <a:latin typeface="Tahoma"/>
              </a:rPr>
              <a:t>Seven checks in code. A gate that refuses a changed draft. A block on a repeated complaint. The retry ladder. One container with SQLite. No account.</a:t>
            </a:r>
          </a:p>
        </p:txBody>
      </p:sp>
      <p:sp>
        <p:nvSpPr>
          <p:cNvPr id="9" name="Rounded Rectangle 8"/>
          <p:cNvSpPr/>
          <p:nvPr/>
        </p:nvSpPr>
        <p:spPr>
          <a:xfrm>
            <a:off x="4261104" y="2231136"/>
            <a:ext cx="3401568" cy="2999232"/>
          </a:xfrm>
          <a:prstGeom prst="roundRect">
            <a:avLst>
              <a:gd name="adj" fmla="val 2439"/>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498848" y="2468880"/>
            <a:ext cx="2926080" cy="2523744"/>
          </a:xfrm>
          <a:prstGeom prst="rect">
            <a:avLst/>
          </a:prstGeom>
          <a:noFill/>
        </p:spPr>
        <p:txBody>
          <a:bodyPr wrap="square" lIns="0" rIns="0" tIns="0" bIns="0" anchor="t">
            <a:spAutoFit/>
          </a:bodyPr>
          <a:lstStyle/>
          <a:p>
            <a:pPr algn="l">
              <a:lnSpc>
                <a:spcPct val="100000"/>
              </a:lnSpc>
              <a:spcAft>
                <a:spcPts val="1200"/>
              </a:spcAft>
            </a:pPr>
            <a:r>
              <a:rPr sz="1100" b="1">
                <a:solidFill>
                  <a:srgbClr val="FBAE40"/>
                </a:solidFill>
                <a:latin typeface="Tahoma"/>
              </a:rPr>
              <a:t>NEXT, IN ORDER</a:t>
            </a:r>
          </a:p>
          <a:p>
            <a:pPr algn="l">
              <a:lnSpc>
                <a:spcPct val="115000"/>
              </a:lnSpc>
            </a:pPr>
            <a:r>
              <a:rPr sz="1550" b="0">
                <a:solidFill>
                  <a:srgbClr val="FFFFFF"/>
                </a:solidFill>
                <a:latin typeface="Tahoma"/>
              </a:rPr>
              <a:t>Reviewer identity first. The gate binds a hash, not a person. Then the model route on by default, after one measured run and a recorded approval. Then the wrapped statement line. Update and close stay blocked by Gate U.</a:t>
            </a:r>
          </a:p>
        </p:txBody>
      </p:sp>
      <p:sp>
        <p:nvSpPr>
          <p:cNvPr id="11" name="Rounded Rectangle 10"/>
          <p:cNvSpPr/>
          <p:nvPr/>
        </p:nvSpPr>
        <p:spPr>
          <a:xfrm>
            <a:off x="7827264" y="2231136"/>
            <a:ext cx="3666744" cy="2999232"/>
          </a:xfrm>
          <a:prstGeom prst="roundRect">
            <a:avLst>
              <a:gd name="adj" fmla="val 2439"/>
            </a:avLst>
          </a:prstGeom>
          <a:solidFill>
            <a:srgbClr val="102E4C"/>
          </a:solid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65008" y="2468880"/>
            <a:ext cx="3191256" cy="2523744"/>
          </a:xfrm>
          <a:prstGeom prst="rect">
            <a:avLst/>
          </a:prstGeom>
          <a:noFill/>
        </p:spPr>
        <p:txBody>
          <a:bodyPr wrap="square" lIns="0" rIns="0" tIns="0" bIns="0" anchor="t">
            <a:spAutoFit/>
          </a:bodyPr>
          <a:lstStyle/>
          <a:p>
            <a:pPr algn="l">
              <a:lnSpc>
                <a:spcPct val="100000"/>
              </a:lnSpc>
              <a:spcAft>
                <a:spcPts val="1200"/>
              </a:spcAft>
            </a:pPr>
            <a:r>
              <a:rPr sz="1100" b="1">
                <a:solidFill>
                  <a:srgbClr val="FBAE40"/>
                </a:solidFill>
                <a:latin typeface="Tahoma"/>
              </a:rPr>
              <a:t>THE PILOT</a:t>
            </a:r>
          </a:p>
          <a:p>
            <a:pPr algn="l">
              <a:lnSpc>
                <a:spcPct val="115000"/>
              </a:lnSpc>
            </a:pPr>
            <a:r>
              <a:rPr sz="1550" b="0">
                <a:solidFill>
                  <a:srgbClr val="FFFFFF"/>
                </a:solidFill>
                <a:latin typeface="Tahoma"/>
              </a:rPr>
              <a:t>Two analysts, 30 days, the bank’s own intake. The first deliverable is a baseline, not a saving. It measures minutes per complaint, deadlines met, duplicate cases and audit effort. Not deployed: one loopback container and a documented Fargate target at about $1.35 a day.</a:t>
            </a:r>
          </a:p>
        </p:txBody>
      </p:sp>
      <p:sp>
        <p:nvSpPr>
          <p:cNvPr id="13" name="Rounded Rectangle 12"/>
          <p:cNvSpPr/>
          <p:nvPr/>
        </p:nvSpPr>
        <p:spPr>
          <a:xfrm>
            <a:off x="694944" y="5358384"/>
            <a:ext cx="10799064" cy="768096"/>
          </a:xfrm>
          <a:prstGeom prst="roundRect">
            <a:avLst>
              <a:gd name="adj" fmla="val 9523"/>
            </a:avLst>
          </a:prstGeom>
          <a:solidFill>
            <a:srgbClr val="102E4C"/>
          </a:solidFill>
          <a:ln w="15875">
            <a:solidFill>
              <a:srgbClr val="FBAE4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2688" y="5413248"/>
            <a:ext cx="10332720" cy="658368"/>
          </a:xfrm>
          <a:prstGeom prst="rect">
            <a:avLst/>
          </a:prstGeom>
          <a:noFill/>
        </p:spPr>
        <p:txBody>
          <a:bodyPr wrap="square" lIns="0" rIns="0" tIns="0" bIns="0" anchor="t">
            <a:spAutoFit/>
          </a:bodyPr>
          <a:lstStyle/>
          <a:p>
            <a:pPr algn="l">
              <a:lnSpc>
                <a:spcPct val="100000"/>
              </a:lnSpc>
              <a:spcAft>
                <a:spcPts val="300"/>
              </a:spcAft>
            </a:pPr>
            <a:r>
              <a:rPr sz="950" b="1">
                <a:solidFill>
                  <a:srgbClr val="FBAE40"/>
                </a:solidFill>
                <a:latin typeface="Tahoma"/>
              </a:rPr>
              <a:t>THE DETERMINISTIC UPGRADE</a:t>
            </a:r>
          </a:p>
          <a:p>
            <a:pPr algn="l">
              <a:lnSpc>
                <a:spcPct val="105000"/>
              </a:lnSpc>
            </a:pPr>
            <a:r>
              <a:rPr sz="1100" b="0">
                <a:solidFill>
                  <a:srgbClr val="FFFFFF"/>
                </a:solidFill>
                <a:latin typeface="Tahoma"/>
              </a:rPr>
              <a:t>Lumen Bank already sorts its own disputes. If they expose that as an endpoint, code asks the bank. Where the bank has no code, the customer is asked. No model is needed.</a:t>
            </a:r>
          </a:p>
        </p:txBody>
      </p:sp>
      <p:sp>
        <p:nvSpPr>
          <p:cNvPr id="15" name="TextBox 14"/>
          <p:cNvSpPr txBox="1"/>
          <p:nvPr/>
        </p:nvSpPr>
        <p:spPr>
          <a:xfrm>
            <a:off x="694944" y="6199632"/>
            <a:ext cx="10799064" cy="201168"/>
          </a:xfrm>
          <a:prstGeom prst="rect">
            <a:avLst/>
          </a:prstGeom>
          <a:noFill/>
        </p:spPr>
        <p:txBody>
          <a:bodyPr wrap="square" lIns="0" rIns="0" tIns="0" bIns="0" anchor="t">
            <a:spAutoFit/>
          </a:bodyPr>
          <a:lstStyle/>
          <a:p>
            <a:pPr algn="l">
              <a:lnSpc>
                <a:spcPct val="100000"/>
              </a:lnSpc>
            </a:pPr>
            <a:r>
              <a:rPr sz="1000" b="1" i="0">
                <a:solidFill>
                  <a:srgbClr val="FBAE40"/>
                </a:solidFill>
                <a:latin typeface="Tahoma"/>
              </a:rPr>
              <a:t>Blocked outside us: branch protection, the GitHub plan returns 403.</a:t>
            </a:r>
          </a:p>
        </p:txBody>
      </p:sp>
    </p:spTree>
    <p:extLst>
      <p:ext uri="{BB962C8B-B14F-4D97-AF65-F5344CB8AC3E}">
        <p14:creationId xmlns:p14="http://schemas.microsoft.com/office/powerpoint/2010/main" val="1924961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D4321-028C-7DFD-4B59-07352D239CC3}"/>
            </a:ext>
          </a:extLst>
        </p:cNvPr>
        <p:cNvGrpSpPr/>
        <p:nvPr/>
      </p:nvGrpSpPr>
      <p:grpSpPr>
        <a:xfrm>
          <a:off x="0" y="0"/>
          <a:ext cx="0" cy="0"/>
          <a:chOff x="0" y="0"/>
          <a:chExt cx="0" cy="0"/>
        </a:xfrm>
      </p:grpSpPr>
      <p:cxnSp>
        <p:nvCxnSpPr>
          <p:cNvPr id="41" name="Straight Connector 40">
            <a:extLst>
              <a:ext uri="{FF2B5EF4-FFF2-40B4-BE49-F238E27FC236}">
                <a16:creationId xmlns:a16="http://schemas.microsoft.com/office/drawing/2014/main" id="{6B613E55-C408-FB17-24F8-A16416FF44DA}"/>
              </a:ext>
            </a:extLst>
          </p:cNvPr>
          <p:cNvCxnSpPr>
            <a:cxnSpLocks/>
          </p:cNvCxnSpPr>
          <p:nvPr/>
        </p:nvCxnSpPr>
        <p:spPr>
          <a:xfrm flipH="1">
            <a:off x="581563" y="2846481"/>
            <a:ext cx="495108" cy="0"/>
          </a:xfrm>
          <a:prstGeom prst="line">
            <a:avLst/>
          </a:prstGeom>
          <a:ln w="50800">
            <a:solidFill>
              <a:srgbClr val="08234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C3E1CD6-D106-3551-C116-AA04DA097766}"/>
              </a:ext>
            </a:extLst>
          </p:cNvPr>
          <p:cNvSpPr txBox="1"/>
          <p:nvPr/>
        </p:nvSpPr>
        <p:spPr>
          <a:xfrm>
            <a:off x="581563" y="1598146"/>
            <a:ext cx="5396338" cy="859210"/>
          </a:xfrm>
          <a:prstGeom prst="rect">
            <a:avLst/>
          </a:prstGeom>
          <a:noFill/>
        </p:spPr>
        <p:txBody>
          <a:bodyPr wrap="square" lIns="0" tIns="0" rIns="0" bIns="0" anchor="t">
            <a:spAutoFit/>
          </a:bodyPr>
          <a:lstStyle>
            <a:defPPr>
              <a:defRPr lang="en-US"/>
            </a:defPPr>
            <a:lvl1pPr marR="0" lvl="0" indent="0" defTabSz="1218475" fontAlgn="auto">
              <a:lnSpc>
                <a:spcPts val="10000"/>
              </a:lnSpc>
              <a:spcBef>
                <a:spcPts val="0"/>
              </a:spcBef>
              <a:spcAft>
                <a:spcPts val="0"/>
              </a:spcAft>
              <a:buClrTx/>
              <a:buSzTx/>
              <a:buFontTx/>
              <a:buNone/>
              <a:tabLst/>
              <a:defRPr kumimoji="0" sz="11500" b="1" i="0" u="none" strike="noStrike" cap="none" spc="-800" normalizeH="0" baseline="0">
                <a:ln w="9525">
                  <a:solidFill>
                    <a:srgbClr val="141414"/>
                  </a:solidFill>
                </a:ln>
                <a:noFill/>
                <a:effectLst/>
                <a:uLnTx/>
                <a:uFillTx/>
                <a:latin typeface="Tahoma" panose="020B0604030504040204" pitchFamily="34" charset="0"/>
                <a:ea typeface="Tahoma" panose="020B0604030504040204" pitchFamily="34" charset="0"/>
                <a:cs typeface="Tahoma" panose="020B0604030504040204" pitchFamily="34" charset="0"/>
              </a:defRPr>
            </a:lvl1pPr>
          </a:lstStyle>
          <a:p>
            <a:pPr defTabSz="913734">
              <a:lnSpc>
                <a:spcPts val="6749"/>
              </a:lnSpc>
              <a:defRPr/>
            </a:pPr>
            <a:r>
              <a:rPr lang="en-US" sz="6000" spc="-150">
                <a:ln w="9525">
                  <a:noFill/>
                </a:ln>
                <a:solidFill>
                  <a:srgbClr val="082340"/>
                </a:solidFill>
              </a:rPr>
              <a:t>Questions?</a:t>
            </a:r>
          </a:p>
        </p:txBody>
      </p:sp>
    </p:spTree>
    <p:extLst>
      <p:ext uri="{BB962C8B-B14F-4D97-AF65-F5344CB8AC3E}">
        <p14:creationId xmlns:p14="http://schemas.microsoft.com/office/powerpoint/2010/main" val="4254696982"/>
      </p:ext>
    </p:extLst>
  </p:cSld>
  <p:clrMapOvr>
    <a:masterClrMapping/>
  </p:clrMapOvr>
</p:sld>
</file>

<file path=ppt/theme/theme1.xml><?xml version="1.0" encoding="utf-8"?>
<a:theme xmlns:a="http://schemas.openxmlformats.org/drawingml/2006/main" name="Dark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ED879C-C796-8544-A192-CA4BE9844447}">
  <we:reference id="f5f369e5-aa35-49d7-ad7b-638152ddb008" version="1.0.0.1" store="EXCatalog" storeType="EXCatalog"/>
  <we:alternateReferences>
    <we:reference id="WA200010001" version="1.0.0.1" store="en-US" storeType="OMEX"/>
  </we:alternateReferences>
  <we:properties>
    <we:property name="claude.fileId" value="&quot;1980c42b-50b0-4296-ad46-602480ee3fc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Dark Theme</vt:lpstr>
      <vt:lpstr>Lumen Bank Card Dispute Intake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Kirti Tiwari</dc:creator>
  <cp:revision>4</cp:revision>
  <dcterms:created xsi:type="dcterms:W3CDTF">2026-08-14T06:18:31Z</dcterms:created>
  <dcterms:modified xsi:type="dcterms:W3CDTF">2026-10-29T02:38:22Z</dcterms:modified>
</cp:coreProperties>
</file>